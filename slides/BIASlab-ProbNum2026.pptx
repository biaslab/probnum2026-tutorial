
<file path=[Content_Types].xml><?xml version="1.0" encoding="utf-8"?>
<Types xmlns="http://schemas.openxmlformats.org/package/2006/content-types">
  <Default Extension="gif" ContentType="image/gif"/>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60"/>
  </p:notesMasterIdLst>
  <p:handoutMasterIdLst>
    <p:handoutMasterId r:id="rId61"/>
  </p:handoutMasterIdLst>
  <p:sldIdLst>
    <p:sldId id="259" r:id="rId2"/>
    <p:sldId id="342" r:id="rId3"/>
    <p:sldId id="260" r:id="rId4"/>
    <p:sldId id="286" r:id="rId5"/>
    <p:sldId id="261" r:id="rId6"/>
    <p:sldId id="262" r:id="rId7"/>
    <p:sldId id="265" r:id="rId8"/>
    <p:sldId id="270" r:id="rId9"/>
    <p:sldId id="275" r:id="rId10"/>
    <p:sldId id="292" r:id="rId11"/>
    <p:sldId id="289" r:id="rId12"/>
    <p:sldId id="277" r:id="rId13"/>
    <p:sldId id="298" r:id="rId14"/>
    <p:sldId id="278" r:id="rId15"/>
    <p:sldId id="287" r:id="rId16"/>
    <p:sldId id="279" r:id="rId17"/>
    <p:sldId id="315" r:id="rId18"/>
    <p:sldId id="288" r:id="rId19"/>
    <p:sldId id="326" r:id="rId20"/>
    <p:sldId id="308" r:id="rId21"/>
    <p:sldId id="317" r:id="rId22"/>
    <p:sldId id="318" r:id="rId23"/>
    <p:sldId id="327" r:id="rId24"/>
    <p:sldId id="328" r:id="rId25"/>
    <p:sldId id="309" r:id="rId26"/>
    <p:sldId id="320" r:id="rId27"/>
    <p:sldId id="321" r:id="rId28"/>
    <p:sldId id="322" r:id="rId29"/>
    <p:sldId id="335" r:id="rId30"/>
    <p:sldId id="331" r:id="rId31"/>
    <p:sldId id="336" r:id="rId32"/>
    <p:sldId id="310" r:id="rId33"/>
    <p:sldId id="323" r:id="rId34"/>
    <p:sldId id="324" r:id="rId35"/>
    <p:sldId id="325" r:id="rId36"/>
    <p:sldId id="329" r:id="rId37"/>
    <p:sldId id="332" r:id="rId38"/>
    <p:sldId id="333" r:id="rId39"/>
    <p:sldId id="290" r:id="rId40"/>
    <p:sldId id="302" r:id="rId41"/>
    <p:sldId id="343" r:id="rId42"/>
    <p:sldId id="345" r:id="rId43"/>
    <p:sldId id="344" r:id="rId44"/>
    <p:sldId id="291" r:id="rId45"/>
    <p:sldId id="299" r:id="rId46"/>
    <p:sldId id="301" r:id="rId47"/>
    <p:sldId id="300" r:id="rId48"/>
    <p:sldId id="303" r:id="rId49"/>
    <p:sldId id="319" r:id="rId50"/>
    <p:sldId id="307" r:id="rId51"/>
    <p:sldId id="305" r:id="rId52"/>
    <p:sldId id="306" r:id="rId53"/>
    <p:sldId id="311" r:id="rId54"/>
    <p:sldId id="312" r:id="rId55"/>
    <p:sldId id="340" r:id="rId56"/>
    <p:sldId id="293" r:id="rId57"/>
    <p:sldId id="314" r:id="rId58"/>
    <p:sldId id="316" r:id="rId59"/>
  </p:sldIdLst>
  <p:sldSz cx="9144000" cy="5143500" type="screen16x9"/>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AFB742B-4FE9-43AF-AB4D-BB82680A1399}">
          <p14:sldIdLst>
            <p14:sldId id="259"/>
            <p14:sldId id="342"/>
            <p14:sldId id="260"/>
            <p14:sldId id="286"/>
            <p14:sldId id="261"/>
            <p14:sldId id="262"/>
            <p14:sldId id="265"/>
            <p14:sldId id="270"/>
            <p14:sldId id="275"/>
            <p14:sldId id="292"/>
            <p14:sldId id="289"/>
            <p14:sldId id="277"/>
            <p14:sldId id="298"/>
            <p14:sldId id="278"/>
            <p14:sldId id="287"/>
            <p14:sldId id="279"/>
            <p14:sldId id="315"/>
            <p14:sldId id="288"/>
            <p14:sldId id="326"/>
            <p14:sldId id="308"/>
            <p14:sldId id="317"/>
            <p14:sldId id="318"/>
            <p14:sldId id="327"/>
            <p14:sldId id="328"/>
            <p14:sldId id="309"/>
            <p14:sldId id="320"/>
            <p14:sldId id="321"/>
            <p14:sldId id="322"/>
            <p14:sldId id="335"/>
            <p14:sldId id="331"/>
            <p14:sldId id="336"/>
            <p14:sldId id="310"/>
            <p14:sldId id="323"/>
            <p14:sldId id="324"/>
            <p14:sldId id="325"/>
            <p14:sldId id="329"/>
            <p14:sldId id="332"/>
            <p14:sldId id="333"/>
            <p14:sldId id="290"/>
            <p14:sldId id="302"/>
            <p14:sldId id="343"/>
            <p14:sldId id="345"/>
            <p14:sldId id="344"/>
            <p14:sldId id="291"/>
            <p14:sldId id="299"/>
            <p14:sldId id="301"/>
            <p14:sldId id="300"/>
            <p14:sldId id="303"/>
            <p14:sldId id="319"/>
            <p14:sldId id="307"/>
            <p14:sldId id="305"/>
            <p14:sldId id="306"/>
            <p14:sldId id="311"/>
            <p14:sldId id="312"/>
            <p14:sldId id="340"/>
            <p14:sldId id="293"/>
            <p14:sldId id="314"/>
            <p14:sldId id="316"/>
          </p14:sldIdLst>
        </p14:section>
      </p14:sectionLst>
    </p:ext>
    <p:ext uri="{EFAFB233-063F-42B5-8137-9DF3F51BA10A}">
      <p15:sldGuideLst xmlns:p15="http://schemas.microsoft.com/office/powerpoint/2012/main">
        <p15:guide id="1" orient="horz" pos="1597" userDrawn="1">
          <p15:clr>
            <a:srgbClr val="A4A3A4"/>
          </p15:clr>
        </p15:guide>
        <p15:guide id="2" pos="288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4F7C87D-726B-09C6-B6C7-EE23ED915EFC}" name="Ledbetter, Alex" initials="LA" userId="S::a.h.ledbetter@tue.nl::d153b8fa-3c9b-43df-bd2d-76d728ff3ff0" providerId="AD"/>
  <p188:author id="{60D18FD7-CE84-5A8A-6AA3-EFABA8066D6B}" name="Kouw, Wouter" initials="WK" userId="S::w.m.kouw@tue.nl::181af57e-047a-4b62-bb15-f1772c70f045"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C00000"/>
    <a:srgbClr val="C81919"/>
    <a:srgbClr val="101073"/>
    <a:srgbClr val="F1EFEF"/>
    <a:srgbClr val="4B4B9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E0E3F2-3D7E-3F18-4AF0-F3680F0BD635}" v="23" dt="2026-09-09T20:08:17.279"/>
    <p1510:client id="{59750471-CC49-7A7C-5B22-B67BC51BDAD8}" v="487" dt="2026-09-09T11:34:10.409"/>
    <p1510:client id="{B88BC60D-51CE-4B69-9DA1-8E37A35C2DAC}" v="7" dt="2026-09-09T20:37:12.122"/>
    <p1510:client id="{DFFDFE0F-5107-42E5-8075-79C98D87E8A8}" v="326" dt="2026-09-10T05:39:05.723"/>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276" y="120"/>
      </p:cViewPr>
      <p:guideLst>
        <p:guide orient="horz" pos="1597"/>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68"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handoutMaster" Target="handoutMasters/handout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ouw, Wouter" userId="S::w.m.kouw@tue.nl::181af57e-047a-4b62-bb15-f1772c70f045" providerId="AD" clId="Web-{B88BC60D-51CE-4B69-9DA1-8E37A35C2DAC}"/>
    <pc:docChg chg="modSld">
      <pc:chgData name="Kouw, Wouter" userId="S::w.m.kouw@tue.nl::181af57e-047a-4b62-bb15-f1772c70f045" providerId="AD" clId="Web-{B88BC60D-51CE-4B69-9DA1-8E37A35C2DAC}" dt="2026-09-09T20:37:12.122" v="6"/>
      <pc:docMkLst>
        <pc:docMk/>
      </pc:docMkLst>
      <pc:sldChg chg="delSp delAnim">
        <pc:chgData name="Kouw, Wouter" userId="S::w.m.kouw@tue.nl::181af57e-047a-4b62-bb15-f1772c70f045" providerId="AD" clId="Web-{B88BC60D-51CE-4B69-9DA1-8E37A35C2DAC}" dt="2026-09-09T20:37:12.122" v="6"/>
        <pc:sldMkLst>
          <pc:docMk/>
          <pc:sldMk cId="0" sldId="262"/>
        </pc:sldMkLst>
        <pc:picChg chg="del">
          <ac:chgData name="Kouw, Wouter" userId="S::w.m.kouw@tue.nl::181af57e-047a-4b62-bb15-f1772c70f045" providerId="AD" clId="Web-{B88BC60D-51CE-4B69-9DA1-8E37A35C2DAC}" dt="2026-09-09T20:37:12.122" v="6"/>
          <ac:picMkLst>
            <pc:docMk/>
            <pc:sldMk cId="0" sldId="262"/>
            <ac:picMk id="14" creationId="{2D2E66D7-231A-C8A2-FE01-7E9F07E3A5E3}"/>
          </ac:picMkLst>
        </pc:picChg>
      </pc:sldChg>
      <pc:sldChg chg="modSp">
        <pc:chgData name="Kouw, Wouter" userId="S::w.m.kouw@tue.nl::181af57e-047a-4b62-bb15-f1772c70f045" providerId="AD" clId="Web-{B88BC60D-51CE-4B69-9DA1-8E37A35C2DAC}" dt="2026-09-09T20:37:03.449" v="5" actId="1076"/>
        <pc:sldMkLst>
          <pc:docMk/>
          <pc:sldMk cId="1665593068" sldId="286"/>
        </pc:sldMkLst>
        <pc:spChg chg="mod">
          <ac:chgData name="Kouw, Wouter" userId="S::w.m.kouw@tue.nl::181af57e-047a-4b62-bb15-f1772c70f045" providerId="AD" clId="Web-{B88BC60D-51CE-4B69-9DA1-8E37A35C2DAC}" dt="2026-09-09T20:37:03.403" v="0" actId="1076"/>
          <ac:spMkLst>
            <pc:docMk/>
            <pc:sldMk cId="1665593068" sldId="286"/>
            <ac:spMk id="6" creationId="{2C3CB70F-5633-3EBD-1B1B-8F54D3C970B8}"/>
          </ac:spMkLst>
        </pc:spChg>
        <pc:spChg chg="mod">
          <ac:chgData name="Kouw, Wouter" userId="S::w.m.kouw@tue.nl::181af57e-047a-4b62-bb15-f1772c70f045" providerId="AD" clId="Web-{B88BC60D-51CE-4B69-9DA1-8E37A35C2DAC}" dt="2026-09-09T20:37:03.418" v="1" actId="1076"/>
          <ac:spMkLst>
            <pc:docMk/>
            <pc:sldMk cId="1665593068" sldId="286"/>
            <ac:spMk id="7" creationId="{8C3CA46A-4744-776F-20BF-542C3F8E0960}"/>
          </ac:spMkLst>
        </pc:spChg>
        <pc:spChg chg="mod">
          <ac:chgData name="Kouw, Wouter" userId="S::w.m.kouw@tue.nl::181af57e-047a-4b62-bb15-f1772c70f045" providerId="AD" clId="Web-{B88BC60D-51CE-4B69-9DA1-8E37A35C2DAC}" dt="2026-09-09T20:37:03.418" v="2" actId="1076"/>
          <ac:spMkLst>
            <pc:docMk/>
            <pc:sldMk cId="1665593068" sldId="286"/>
            <ac:spMk id="8" creationId="{A7A1525D-D331-84BD-BE6D-649651932D44}"/>
          </ac:spMkLst>
        </pc:spChg>
        <pc:spChg chg="mod">
          <ac:chgData name="Kouw, Wouter" userId="S::w.m.kouw@tue.nl::181af57e-047a-4b62-bb15-f1772c70f045" providerId="AD" clId="Web-{B88BC60D-51CE-4B69-9DA1-8E37A35C2DAC}" dt="2026-09-09T20:37:03.434" v="3" actId="1076"/>
          <ac:spMkLst>
            <pc:docMk/>
            <pc:sldMk cId="1665593068" sldId="286"/>
            <ac:spMk id="9" creationId="{573344DC-942E-59AD-ABD6-CC2BB89AD623}"/>
          </ac:spMkLst>
        </pc:spChg>
        <pc:spChg chg="mod">
          <ac:chgData name="Kouw, Wouter" userId="S::w.m.kouw@tue.nl::181af57e-047a-4b62-bb15-f1772c70f045" providerId="AD" clId="Web-{B88BC60D-51CE-4B69-9DA1-8E37A35C2DAC}" dt="2026-09-09T20:37:03.449" v="4" actId="1076"/>
          <ac:spMkLst>
            <pc:docMk/>
            <pc:sldMk cId="1665593068" sldId="286"/>
            <ac:spMk id="10" creationId="{89804900-B886-0BD9-06F0-5E484D0AB683}"/>
          </ac:spMkLst>
        </pc:spChg>
        <pc:spChg chg="mod">
          <ac:chgData name="Kouw, Wouter" userId="S::w.m.kouw@tue.nl::181af57e-047a-4b62-bb15-f1772c70f045" providerId="AD" clId="Web-{B88BC60D-51CE-4B69-9DA1-8E37A35C2DAC}" dt="2026-09-09T20:37:03.449" v="5" actId="1076"/>
          <ac:spMkLst>
            <pc:docMk/>
            <pc:sldMk cId="1665593068" sldId="286"/>
            <ac:spMk id="11" creationId="{F596654D-E057-13F6-34B0-A8C04EE1C531}"/>
          </ac:spMkLst>
        </pc:spChg>
      </pc:sldChg>
    </pc:docChg>
  </pc:docChgLst>
  <pc:docChgLst>
    <pc:chgData name="Kouw, Wouter" userId="S::w.m.kouw@tue.nl::181af57e-047a-4b62-bb15-f1772c70f045" providerId="AD" clId="Web-{59750471-CC49-7A7C-5B22-B67BC51BDAD8}"/>
    <pc:docChg chg="addSld delSld modSld modSection">
      <pc:chgData name="Kouw, Wouter" userId="S::w.m.kouw@tue.nl::181af57e-047a-4b62-bb15-f1772c70f045" providerId="AD" clId="Web-{59750471-CC49-7A7C-5B22-B67BC51BDAD8}" dt="2026-09-09T11:34:10.409" v="406" actId="1076"/>
      <pc:docMkLst>
        <pc:docMk/>
      </pc:docMkLst>
      <pc:sldChg chg="modSp">
        <pc:chgData name="Kouw, Wouter" userId="S::w.m.kouw@tue.nl::181af57e-047a-4b62-bb15-f1772c70f045" providerId="AD" clId="Web-{59750471-CC49-7A7C-5B22-B67BC51BDAD8}" dt="2026-09-09T08:35:46.903" v="150" actId="20577"/>
        <pc:sldMkLst>
          <pc:docMk/>
          <pc:sldMk cId="0" sldId="261"/>
        </pc:sldMkLst>
        <pc:spChg chg="mod">
          <ac:chgData name="Kouw, Wouter" userId="S::w.m.kouw@tue.nl::181af57e-047a-4b62-bb15-f1772c70f045" providerId="AD" clId="Web-{59750471-CC49-7A7C-5B22-B67BC51BDAD8}" dt="2026-09-09T08:35:46.903" v="150" actId="20577"/>
          <ac:spMkLst>
            <pc:docMk/>
            <pc:sldMk cId="0" sldId="261"/>
            <ac:spMk id="2" creationId="{00000000-0000-0000-0000-000000000000}"/>
          </ac:spMkLst>
        </pc:spChg>
      </pc:sldChg>
      <pc:sldChg chg="delSp delAnim">
        <pc:chgData name="Kouw, Wouter" userId="S::w.m.kouw@tue.nl::181af57e-047a-4b62-bb15-f1772c70f045" providerId="AD" clId="Web-{59750471-CC49-7A7C-5B22-B67BC51BDAD8}" dt="2026-09-09T08:34:27.981" v="124"/>
        <pc:sldMkLst>
          <pc:docMk/>
          <pc:sldMk cId="0" sldId="262"/>
        </pc:sldMkLst>
        <pc:picChg chg="del">
          <ac:chgData name="Kouw, Wouter" userId="S::w.m.kouw@tue.nl::181af57e-047a-4b62-bb15-f1772c70f045" providerId="AD" clId="Web-{59750471-CC49-7A7C-5B22-B67BC51BDAD8}" dt="2026-09-09T08:34:27.981" v="124"/>
          <ac:picMkLst>
            <pc:docMk/>
            <pc:sldMk cId="0" sldId="262"/>
            <ac:picMk id="12" creationId="{5EA7F8F9-3E30-4178-65D8-983A386643EA}"/>
          </ac:picMkLst>
        </pc:picChg>
      </pc:sldChg>
      <pc:sldChg chg="addSp delSp modSp del delAnim">
        <pc:chgData name="Kouw, Wouter" userId="S::w.m.kouw@tue.nl::181af57e-047a-4b62-bb15-f1772c70f045" providerId="AD" clId="Web-{59750471-CC49-7A7C-5B22-B67BC51BDAD8}" dt="2026-09-09T08:51:17.026" v="225"/>
        <pc:sldMkLst>
          <pc:docMk/>
          <pc:sldMk cId="0" sldId="263"/>
        </pc:sldMkLst>
        <pc:spChg chg="add mod">
          <ac:chgData name="Kouw, Wouter" userId="S::w.m.kouw@tue.nl::181af57e-047a-4b62-bb15-f1772c70f045" providerId="AD" clId="Web-{59750471-CC49-7A7C-5B22-B67BC51BDAD8}" dt="2026-09-09T08:51:10.526" v="223"/>
          <ac:spMkLst>
            <pc:docMk/>
            <pc:sldMk cId="0" sldId="263"/>
            <ac:spMk id="4" creationId="{EA33A769-A4F2-7214-A6C9-56D22638BBAC}"/>
          </ac:spMkLst>
        </pc:spChg>
        <pc:spChg chg="del">
          <ac:chgData name="Kouw, Wouter" userId="S::w.m.kouw@tue.nl::181af57e-047a-4b62-bb15-f1772c70f045" providerId="AD" clId="Web-{59750471-CC49-7A7C-5B22-B67BC51BDAD8}" dt="2026-09-09T08:51:01.276" v="220"/>
          <ac:spMkLst>
            <pc:docMk/>
            <pc:sldMk cId="0" sldId="263"/>
            <ac:spMk id="16" creationId="{8A2B916B-8192-81E4-C3B2-2E1D3E16E599}"/>
          </ac:spMkLst>
        </pc:spChg>
        <pc:spChg chg="del">
          <ac:chgData name="Kouw, Wouter" userId="S::w.m.kouw@tue.nl::181af57e-047a-4b62-bb15-f1772c70f045" providerId="AD" clId="Web-{59750471-CC49-7A7C-5B22-B67BC51BDAD8}" dt="2026-09-09T08:51:01.276" v="219"/>
          <ac:spMkLst>
            <pc:docMk/>
            <pc:sldMk cId="0" sldId="263"/>
            <ac:spMk id="33" creationId="{17E52980-7982-9EDF-A007-D310D6E7EB02}"/>
          </ac:spMkLst>
        </pc:spChg>
        <pc:spChg chg="del">
          <ac:chgData name="Kouw, Wouter" userId="S::w.m.kouw@tue.nl::181af57e-047a-4b62-bb15-f1772c70f045" providerId="AD" clId="Web-{59750471-CC49-7A7C-5B22-B67BC51BDAD8}" dt="2026-09-09T08:51:01.276" v="218"/>
          <ac:spMkLst>
            <pc:docMk/>
            <pc:sldMk cId="0" sldId="263"/>
            <ac:spMk id="34" creationId="{DECE462C-92E4-FD3F-5BDB-488FA2858E33}"/>
          </ac:spMkLst>
        </pc:spChg>
        <pc:spChg chg="del">
          <ac:chgData name="Kouw, Wouter" userId="S::w.m.kouw@tue.nl::181af57e-047a-4b62-bb15-f1772c70f045" providerId="AD" clId="Web-{59750471-CC49-7A7C-5B22-B67BC51BDAD8}" dt="2026-09-09T08:51:01.276" v="217"/>
          <ac:spMkLst>
            <pc:docMk/>
            <pc:sldMk cId="0" sldId="263"/>
            <ac:spMk id="35" creationId="{785C5BF1-08B6-7AFC-4B78-BFCED3C44B24}"/>
          </ac:spMkLst>
        </pc:spChg>
        <pc:spChg chg="del">
          <ac:chgData name="Kouw, Wouter" userId="S::w.m.kouw@tue.nl::181af57e-047a-4b62-bb15-f1772c70f045" providerId="AD" clId="Web-{59750471-CC49-7A7C-5B22-B67BC51BDAD8}" dt="2026-09-09T08:51:01.276" v="216"/>
          <ac:spMkLst>
            <pc:docMk/>
            <pc:sldMk cId="0" sldId="263"/>
            <ac:spMk id="36" creationId="{9EBCDE95-7DB0-043E-FDAB-726A5208D616}"/>
          </ac:spMkLst>
        </pc:spChg>
        <pc:spChg chg="del">
          <ac:chgData name="Kouw, Wouter" userId="S::w.m.kouw@tue.nl::181af57e-047a-4b62-bb15-f1772c70f045" providerId="AD" clId="Web-{59750471-CC49-7A7C-5B22-B67BC51BDAD8}" dt="2026-09-09T08:51:01.276" v="215"/>
          <ac:spMkLst>
            <pc:docMk/>
            <pc:sldMk cId="0" sldId="263"/>
            <ac:spMk id="37" creationId="{B442EA44-2B00-33B5-A545-FDC8BA480DD9}"/>
          </ac:spMkLst>
        </pc:spChg>
        <pc:spChg chg="del">
          <ac:chgData name="Kouw, Wouter" userId="S::w.m.kouw@tue.nl::181af57e-047a-4b62-bb15-f1772c70f045" providerId="AD" clId="Web-{59750471-CC49-7A7C-5B22-B67BC51BDAD8}" dt="2026-09-09T08:51:01.276" v="214"/>
          <ac:spMkLst>
            <pc:docMk/>
            <pc:sldMk cId="0" sldId="263"/>
            <ac:spMk id="38" creationId="{51EC0BCE-394F-534D-B6F4-6255DB6D1BD1}"/>
          </ac:spMkLst>
        </pc:spChg>
        <pc:spChg chg="del">
          <ac:chgData name="Kouw, Wouter" userId="S::w.m.kouw@tue.nl::181af57e-047a-4b62-bb15-f1772c70f045" providerId="AD" clId="Web-{59750471-CC49-7A7C-5B22-B67BC51BDAD8}" dt="2026-09-09T08:51:01.276" v="213"/>
          <ac:spMkLst>
            <pc:docMk/>
            <pc:sldMk cId="0" sldId="263"/>
            <ac:spMk id="39" creationId="{D3B08553-9421-69A9-FE38-88AD971DC2A7}"/>
          </ac:spMkLst>
        </pc:spChg>
        <pc:picChg chg="del">
          <ac:chgData name="Kouw, Wouter" userId="S::w.m.kouw@tue.nl::181af57e-047a-4b62-bb15-f1772c70f045" providerId="AD" clId="Web-{59750471-CC49-7A7C-5B22-B67BC51BDAD8}" dt="2026-09-09T08:51:01.276" v="221"/>
          <ac:picMkLst>
            <pc:docMk/>
            <pc:sldMk cId="0" sldId="263"/>
            <ac:picMk id="15" creationId="{4445D8E7-8984-D104-3750-65E74F9A8435}"/>
          </ac:picMkLst>
        </pc:picChg>
        <pc:picChg chg="del">
          <ac:chgData name="Kouw, Wouter" userId="S::w.m.kouw@tue.nl::181af57e-047a-4b62-bb15-f1772c70f045" providerId="AD" clId="Web-{59750471-CC49-7A7C-5B22-B67BC51BDAD8}" dt="2026-09-09T08:51:10.526" v="223"/>
          <ac:picMkLst>
            <pc:docMk/>
            <pc:sldMk cId="0" sldId="263"/>
            <ac:picMk id="44" creationId="{AF683F6A-F21D-C296-1BE6-96F653599A9E}"/>
          </ac:picMkLst>
        </pc:picChg>
        <pc:picChg chg="del">
          <ac:chgData name="Kouw, Wouter" userId="S::w.m.kouw@tue.nl::181af57e-047a-4b62-bb15-f1772c70f045" providerId="AD" clId="Web-{59750471-CC49-7A7C-5B22-B67BC51BDAD8}" dt="2026-09-09T08:51:13.464" v="224"/>
          <ac:picMkLst>
            <pc:docMk/>
            <pc:sldMk cId="0" sldId="263"/>
            <ac:picMk id="46" creationId="{1B406BB6-CDE0-2B81-B086-FD2906EDD52B}"/>
          </ac:picMkLst>
        </pc:picChg>
        <pc:picChg chg="del">
          <ac:chgData name="Kouw, Wouter" userId="S::w.m.kouw@tue.nl::181af57e-047a-4b62-bb15-f1772c70f045" providerId="AD" clId="Web-{59750471-CC49-7A7C-5B22-B67BC51BDAD8}" dt="2026-09-09T08:34:24.419" v="123"/>
          <ac:picMkLst>
            <pc:docMk/>
            <pc:sldMk cId="0" sldId="263"/>
            <ac:picMk id="47" creationId="{AED86D63-A02E-D21C-F4E6-A4A482A5B56C}"/>
          </ac:picMkLst>
        </pc:picChg>
      </pc:sldChg>
      <pc:sldChg chg="addSp delSp modSp addAnim modAnim">
        <pc:chgData name="Kouw, Wouter" userId="S::w.m.kouw@tue.nl::181af57e-047a-4b62-bb15-f1772c70f045" providerId="AD" clId="Web-{59750471-CC49-7A7C-5B22-B67BC51BDAD8}" dt="2026-09-09T11:12:53.302" v="383"/>
        <pc:sldMkLst>
          <pc:docMk/>
          <pc:sldMk cId="0" sldId="265"/>
        </pc:sldMkLst>
        <pc:spChg chg="mod">
          <ac:chgData name="Kouw, Wouter" userId="S::w.m.kouw@tue.nl::181af57e-047a-4b62-bb15-f1772c70f045" providerId="AD" clId="Web-{59750471-CC49-7A7C-5B22-B67BC51BDAD8}" dt="2026-09-09T08:31:11.419" v="8" actId="20577"/>
          <ac:spMkLst>
            <pc:docMk/>
            <pc:sldMk cId="0" sldId="265"/>
            <ac:spMk id="2" creationId="{82152350-1DFB-2E0A-AE69-77389F047BBB}"/>
          </ac:spMkLst>
        </pc:spChg>
        <pc:spChg chg="mod">
          <ac:chgData name="Kouw, Wouter" userId="S::w.m.kouw@tue.nl::181af57e-047a-4b62-bb15-f1772c70f045" providerId="AD" clId="Web-{59750471-CC49-7A7C-5B22-B67BC51BDAD8}" dt="2026-09-09T11:08:55.893" v="355" actId="20577"/>
          <ac:spMkLst>
            <pc:docMk/>
            <pc:sldMk cId="0" sldId="265"/>
            <ac:spMk id="3" creationId="{BC780181-214C-BB0F-902A-287A0FF4C193}"/>
          </ac:spMkLst>
        </pc:spChg>
        <pc:spChg chg="add mod topLvl modVis">
          <ac:chgData name="Kouw, Wouter" userId="S::w.m.kouw@tue.nl::181af57e-047a-4b62-bb15-f1772c70f045" providerId="AD" clId="Web-{59750471-CC49-7A7C-5B22-B67BC51BDAD8}" dt="2026-09-09T11:11:07.676" v="378"/>
          <ac:spMkLst>
            <pc:docMk/>
            <pc:sldMk cId="0" sldId="265"/>
            <ac:spMk id="5" creationId="{8A2B916B-8192-81E4-C3B2-2E1D3E16E599}"/>
          </ac:spMkLst>
        </pc:spChg>
        <pc:spChg chg="add mod topLvl modVis">
          <ac:chgData name="Kouw, Wouter" userId="S::w.m.kouw@tue.nl::181af57e-047a-4b62-bb15-f1772c70f045" providerId="AD" clId="Web-{59750471-CC49-7A7C-5B22-B67BC51BDAD8}" dt="2026-09-09T11:11:07.644" v="377"/>
          <ac:spMkLst>
            <pc:docMk/>
            <pc:sldMk cId="0" sldId="265"/>
            <ac:spMk id="6" creationId="{17E52980-7982-9EDF-A007-D310D6E7EB02}"/>
          </ac:spMkLst>
        </pc:spChg>
        <pc:spChg chg="add mod topLvl modVis">
          <ac:chgData name="Kouw, Wouter" userId="S::w.m.kouw@tue.nl::181af57e-047a-4b62-bb15-f1772c70f045" providerId="AD" clId="Web-{59750471-CC49-7A7C-5B22-B67BC51BDAD8}" dt="2026-09-09T11:11:07.582" v="376"/>
          <ac:spMkLst>
            <pc:docMk/>
            <pc:sldMk cId="0" sldId="265"/>
            <ac:spMk id="7" creationId="{DECE462C-92E4-FD3F-5BDB-488FA2858E33}"/>
          </ac:spMkLst>
        </pc:spChg>
        <pc:spChg chg="add mod topLvl modVis">
          <ac:chgData name="Kouw, Wouter" userId="S::w.m.kouw@tue.nl::181af57e-047a-4b62-bb15-f1772c70f045" providerId="AD" clId="Web-{59750471-CC49-7A7C-5B22-B67BC51BDAD8}" dt="2026-09-09T11:11:04.550" v="375"/>
          <ac:spMkLst>
            <pc:docMk/>
            <pc:sldMk cId="0" sldId="265"/>
            <ac:spMk id="8" creationId="{785C5BF1-08B6-7AFC-4B78-BFCED3C44B24}"/>
          </ac:spMkLst>
        </pc:spChg>
        <pc:spChg chg="add mod topLvl modVis">
          <ac:chgData name="Kouw, Wouter" userId="S::w.m.kouw@tue.nl::181af57e-047a-4b62-bb15-f1772c70f045" providerId="AD" clId="Web-{59750471-CC49-7A7C-5B22-B67BC51BDAD8}" dt="2026-09-09T11:11:03.785" v="374"/>
          <ac:spMkLst>
            <pc:docMk/>
            <pc:sldMk cId="0" sldId="265"/>
            <ac:spMk id="9" creationId="{9EBCDE95-7DB0-043E-FDAB-726A5208D616}"/>
          </ac:spMkLst>
        </pc:spChg>
        <pc:spChg chg="add mod topLvl modVis">
          <ac:chgData name="Kouw, Wouter" userId="S::w.m.kouw@tue.nl::181af57e-047a-4b62-bb15-f1772c70f045" providerId="AD" clId="Web-{59750471-CC49-7A7C-5B22-B67BC51BDAD8}" dt="2026-09-09T11:11:03.082" v="373"/>
          <ac:spMkLst>
            <pc:docMk/>
            <pc:sldMk cId="0" sldId="265"/>
            <ac:spMk id="10" creationId="{B442EA44-2B00-33B5-A545-FDC8BA480DD9}"/>
          </ac:spMkLst>
        </pc:spChg>
        <pc:spChg chg="add mod topLvl modVis">
          <ac:chgData name="Kouw, Wouter" userId="S::w.m.kouw@tue.nl::181af57e-047a-4b62-bb15-f1772c70f045" providerId="AD" clId="Web-{59750471-CC49-7A7C-5B22-B67BC51BDAD8}" dt="2026-09-09T11:11:02.300" v="372"/>
          <ac:spMkLst>
            <pc:docMk/>
            <pc:sldMk cId="0" sldId="265"/>
            <ac:spMk id="11" creationId="{51EC0BCE-394F-534D-B6F4-6255DB6D1BD1}"/>
          </ac:spMkLst>
        </pc:spChg>
        <pc:spChg chg="add mod topLvl modVis">
          <ac:chgData name="Kouw, Wouter" userId="S::w.m.kouw@tue.nl::181af57e-047a-4b62-bb15-f1772c70f045" providerId="AD" clId="Web-{59750471-CC49-7A7C-5B22-B67BC51BDAD8}" dt="2026-09-09T11:11:01.504" v="371"/>
          <ac:spMkLst>
            <pc:docMk/>
            <pc:sldMk cId="0" sldId="265"/>
            <ac:spMk id="12" creationId="{D3B08553-9421-69A9-FE38-88AD971DC2A7}"/>
          </ac:spMkLst>
        </pc:spChg>
        <pc:grpChg chg="add del mod">
          <ac:chgData name="Kouw, Wouter" userId="S::w.m.kouw@tue.nl::181af57e-047a-4b62-bb15-f1772c70f045" providerId="AD" clId="Web-{59750471-CC49-7A7C-5B22-B67BC51BDAD8}" dt="2026-09-09T11:07:52.673" v="341"/>
          <ac:grpSpMkLst>
            <pc:docMk/>
            <pc:sldMk cId="0" sldId="265"/>
            <ac:grpSpMk id="15" creationId="{50CBDD21-486A-FBF2-A6D6-58F69C31186F}"/>
          </ac:grpSpMkLst>
        </pc:grpChg>
        <pc:grpChg chg="add del mod">
          <ac:chgData name="Kouw, Wouter" userId="S::w.m.kouw@tue.nl::181af57e-047a-4b62-bb15-f1772c70f045" providerId="AD" clId="Web-{59750471-CC49-7A7C-5B22-B67BC51BDAD8}" dt="2026-09-09T11:09:51.471" v="359"/>
          <ac:grpSpMkLst>
            <pc:docMk/>
            <pc:sldMk cId="0" sldId="265"/>
            <ac:grpSpMk id="16" creationId="{6DAD0896-6215-F19C-6920-19CE21455CC4}"/>
          </ac:grpSpMkLst>
        </pc:grpChg>
        <pc:picChg chg="add topLvl">
          <ac:chgData name="Kouw, Wouter" userId="S::w.m.kouw@tue.nl::181af57e-047a-4b62-bb15-f1772c70f045" providerId="AD" clId="Web-{59750471-CC49-7A7C-5B22-B67BC51BDAD8}" dt="2026-09-09T11:09:51.471" v="359"/>
          <ac:picMkLst>
            <pc:docMk/>
            <pc:sldMk cId="0" sldId="265"/>
            <ac:picMk id="4" creationId="{4445D8E7-8984-D104-3750-65E74F9A8435}"/>
          </ac:picMkLst>
        </pc:picChg>
        <pc:picChg chg="add mod">
          <ac:chgData name="Kouw, Wouter" userId="S::w.m.kouw@tue.nl::181af57e-047a-4b62-bb15-f1772c70f045" providerId="AD" clId="Web-{59750471-CC49-7A7C-5B22-B67BC51BDAD8}" dt="2026-09-09T11:09:39.456" v="357" actId="1076"/>
          <ac:picMkLst>
            <pc:docMk/>
            <pc:sldMk cId="0" sldId="265"/>
            <ac:picMk id="13" creationId="{31C05C6F-909E-41B1-9FCE-53828F6090BB}"/>
          </ac:picMkLst>
        </pc:picChg>
        <pc:picChg chg="add mod modCrop">
          <ac:chgData name="Kouw, Wouter" userId="S::w.m.kouw@tue.nl::181af57e-047a-4b62-bb15-f1772c70f045" providerId="AD" clId="Web-{59750471-CC49-7A7C-5B22-B67BC51BDAD8}" dt="2026-09-09T11:09:41.534" v="358" actId="1076"/>
          <ac:picMkLst>
            <pc:docMk/>
            <pc:sldMk cId="0" sldId="265"/>
            <ac:picMk id="14" creationId="{C740750B-7CDC-50C1-0B29-874093D49E6D}"/>
          </ac:picMkLst>
        </pc:picChg>
      </pc:sldChg>
      <pc:sldChg chg="mod modShow">
        <pc:chgData name="Kouw, Wouter" userId="S::w.m.kouw@tue.nl::181af57e-047a-4b62-bb15-f1772c70f045" providerId="AD" clId="Web-{59750471-CC49-7A7C-5B22-B67BC51BDAD8}" dt="2026-09-09T08:52:37.042" v="247"/>
        <pc:sldMkLst>
          <pc:docMk/>
          <pc:sldMk cId="0" sldId="270"/>
        </pc:sldMkLst>
      </pc:sldChg>
      <pc:sldChg chg="delSp delAnim">
        <pc:chgData name="Kouw, Wouter" userId="S::w.m.kouw@tue.nl::181af57e-047a-4b62-bb15-f1772c70f045" providerId="AD" clId="Web-{59750471-CC49-7A7C-5B22-B67BC51BDAD8}" dt="2026-09-09T08:36:11.716" v="154"/>
        <pc:sldMkLst>
          <pc:docMk/>
          <pc:sldMk cId="0" sldId="278"/>
        </pc:sldMkLst>
        <pc:picChg chg="del">
          <ac:chgData name="Kouw, Wouter" userId="S::w.m.kouw@tue.nl::181af57e-047a-4b62-bb15-f1772c70f045" providerId="AD" clId="Web-{59750471-CC49-7A7C-5B22-B67BC51BDAD8}" dt="2026-09-09T08:36:11.716" v="154"/>
          <ac:picMkLst>
            <pc:docMk/>
            <pc:sldMk cId="0" sldId="278"/>
            <ac:picMk id="10" creationId="{F35F9AA0-83D4-CAE2-52EE-6366A1C2BCC9}"/>
          </ac:picMkLst>
        </pc:picChg>
      </pc:sldChg>
      <pc:sldChg chg="delSp delAnim">
        <pc:chgData name="Kouw, Wouter" userId="S::w.m.kouw@tue.nl::181af57e-047a-4b62-bb15-f1772c70f045" providerId="AD" clId="Web-{59750471-CC49-7A7C-5B22-B67BC51BDAD8}" dt="2026-09-09T11:13:48.552" v="384"/>
        <pc:sldMkLst>
          <pc:docMk/>
          <pc:sldMk cId="0" sldId="279"/>
        </pc:sldMkLst>
        <pc:picChg chg="del">
          <ac:chgData name="Kouw, Wouter" userId="S::w.m.kouw@tue.nl::181af57e-047a-4b62-bb15-f1772c70f045" providerId="AD" clId="Web-{59750471-CC49-7A7C-5B22-B67BC51BDAD8}" dt="2026-09-09T11:13:48.552" v="384"/>
          <ac:picMkLst>
            <pc:docMk/>
            <pc:sldMk cId="0" sldId="279"/>
            <ac:picMk id="12" creationId="{00000000-0000-0000-0000-000000000000}"/>
          </ac:picMkLst>
        </pc:picChg>
      </pc:sldChg>
      <pc:sldChg chg="delSp modSp">
        <pc:chgData name="Kouw, Wouter" userId="S::w.m.kouw@tue.nl::181af57e-047a-4b62-bb15-f1772c70f045" providerId="AD" clId="Web-{59750471-CC49-7A7C-5B22-B67BC51BDAD8}" dt="2026-09-09T08:52:26.557" v="246" actId="20577"/>
        <pc:sldMkLst>
          <pc:docMk/>
          <pc:sldMk cId="1665593068" sldId="286"/>
        </pc:sldMkLst>
        <pc:spChg chg="del">
          <ac:chgData name="Kouw, Wouter" userId="S::w.m.kouw@tue.nl::181af57e-047a-4b62-bb15-f1772c70f045" providerId="AD" clId="Web-{59750471-CC49-7A7C-5B22-B67BC51BDAD8}" dt="2026-09-09T08:35:27.294" v="127"/>
          <ac:spMkLst>
            <pc:docMk/>
            <pc:sldMk cId="1665593068" sldId="286"/>
            <ac:spMk id="3" creationId="{E4F25E3C-0E06-7BFA-954A-C924973521FB}"/>
          </ac:spMkLst>
        </pc:spChg>
        <pc:spChg chg="del mod">
          <ac:chgData name="Kouw, Wouter" userId="S::w.m.kouw@tue.nl::181af57e-047a-4b62-bb15-f1772c70f045" providerId="AD" clId="Web-{59750471-CC49-7A7C-5B22-B67BC51BDAD8}" dt="2026-09-09T08:35:22.028" v="126"/>
          <ac:spMkLst>
            <pc:docMk/>
            <pc:sldMk cId="1665593068" sldId="286"/>
            <ac:spMk id="5" creationId="{387D4CAE-BF93-8DEC-A449-E7299FD77226}"/>
          </ac:spMkLst>
        </pc:spChg>
        <pc:spChg chg="mod">
          <ac:chgData name="Kouw, Wouter" userId="S::w.m.kouw@tue.nl::181af57e-047a-4b62-bb15-f1772c70f045" providerId="AD" clId="Web-{59750471-CC49-7A7C-5B22-B67BC51BDAD8}" dt="2026-09-09T08:52:26.557" v="246" actId="20577"/>
          <ac:spMkLst>
            <pc:docMk/>
            <pc:sldMk cId="1665593068" sldId="286"/>
            <ac:spMk id="11" creationId="{F596654D-E057-13F6-34B0-A8C04EE1C531}"/>
          </ac:spMkLst>
        </pc:spChg>
      </pc:sldChg>
      <pc:sldChg chg="modSp">
        <pc:chgData name="Kouw, Wouter" userId="S::w.m.kouw@tue.nl::181af57e-047a-4b62-bb15-f1772c70f045" providerId="AD" clId="Web-{59750471-CC49-7A7C-5B22-B67BC51BDAD8}" dt="2026-09-09T08:37:05.856" v="160"/>
        <pc:sldMkLst>
          <pc:docMk/>
          <pc:sldMk cId="4050334659" sldId="287"/>
        </pc:sldMkLst>
        <pc:spChg chg="mod">
          <ac:chgData name="Kouw, Wouter" userId="S::w.m.kouw@tue.nl::181af57e-047a-4b62-bb15-f1772c70f045" providerId="AD" clId="Web-{59750471-CC49-7A7C-5B22-B67BC51BDAD8}" dt="2026-09-09T08:37:05.856" v="160"/>
          <ac:spMkLst>
            <pc:docMk/>
            <pc:sldMk cId="4050334659" sldId="287"/>
            <ac:spMk id="6" creationId="{B84B2F09-C35E-2F7B-20F8-0C100EBD4368}"/>
          </ac:spMkLst>
        </pc:spChg>
      </pc:sldChg>
      <pc:sldChg chg="addSp delSp modSp delAnim">
        <pc:chgData name="Kouw, Wouter" userId="S::w.m.kouw@tue.nl::181af57e-047a-4b62-bb15-f1772c70f045" providerId="AD" clId="Web-{59750471-CC49-7A7C-5B22-B67BC51BDAD8}" dt="2026-09-09T08:49:25.495" v="193" actId="1076"/>
        <pc:sldMkLst>
          <pc:docMk/>
          <pc:sldMk cId="1071371640" sldId="317"/>
        </pc:sldMkLst>
        <pc:picChg chg="add del mod">
          <ac:chgData name="Kouw, Wouter" userId="S::w.m.kouw@tue.nl::181af57e-047a-4b62-bb15-f1772c70f045" providerId="AD" clId="Web-{59750471-CC49-7A7C-5B22-B67BC51BDAD8}" dt="2026-09-09T08:47:23.824" v="178"/>
          <ac:picMkLst>
            <pc:docMk/>
            <pc:sldMk cId="1071371640" sldId="317"/>
            <ac:picMk id="3" creationId="{3AA31865-9CC9-8554-A8FD-F199C32DCCF5}"/>
          </ac:picMkLst>
        </pc:picChg>
        <pc:picChg chg="add mod modCrop">
          <ac:chgData name="Kouw, Wouter" userId="S::w.m.kouw@tue.nl::181af57e-047a-4b62-bb15-f1772c70f045" providerId="AD" clId="Web-{59750471-CC49-7A7C-5B22-B67BC51BDAD8}" dt="2026-09-09T08:49:25.495" v="193" actId="1076"/>
          <ac:picMkLst>
            <pc:docMk/>
            <pc:sldMk cId="1071371640" sldId="317"/>
            <ac:picMk id="5" creationId="{7D406BDF-5DA4-F9AC-A75E-8E7E81483B85}"/>
          </ac:picMkLst>
        </pc:picChg>
        <pc:picChg chg="del">
          <ac:chgData name="Kouw, Wouter" userId="S::w.m.kouw@tue.nl::181af57e-047a-4b62-bb15-f1772c70f045" providerId="AD" clId="Web-{59750471-CC49-7A7C-5B22-B67BC51BDAD8}" dt="2026-09-09T08:49:23.152" v="192"/>
          <ac:picMkLst>
            <pc:docMk/>
            <pc:sldMk cId="1071371640" sldId="317"/>
            <ac:picMk id="60" creationId="{66282FE8-BF10-618D-7DD0-4DDE8F4007A6}"/>
          </ac:picMkLst>
        </pc:picChg>
      </pc:sldChg>
      <pc:sldChg chg="addSp delSp modSp delAnim">
        <pc:chgData name="Kouw, Wouter" userId="S::w.m.kouw@tue.nl::181af57e-047a-4b62-bb15-f1772c70f045" providerId="AD" clId="Web-{59750471-CC49-7A7C-5B22-B67BC51BDAD8}" dt="2026-09-09T11:21:03.400" v="400" actId="1076"/>
        <pc:sldMkLst>
          <pc:docMk/>
          <pc:sldMk cId="2970907753" sldId="332"/>
        </pc:sldMkLst>
        <pc:picChg chg="add mod">
          <ac:chgData name="Kouw, Wouter" userId="S::w.m.kouw@tue.nl::181af57e-047a-4b62-bb15-f1772c70f045" providerId="AD" clId="Web-{59750471-CC49-7A7C-5B22-B67BC51BDAD8}" dt="2026-09-09T11:21:03.400" v="400" actId="1076"/>
          <ac:picMkLst>
            <pc:docMk/>
            <pc:sldMk cId="2970907753" sldId="332"/>
            <ac:picMk id="6" creationId="{A4C6FFAA-631D-86B3-52D4-0973C3B8D14A}"/>
          </ac:picMkLst>
        </pc:picChg>
        <pc:picChg chg="del">
          <ac:chgData name="Kouw, Wouter" userId="S::w.m.kouw@tue.nl::181af57e-047a-4b62-bb15-f1772c70f045" providerId="AD" clId="Web-{59750471-CC49-7A7C-5B22-B67BC51BDAD8}" dt="2026-09-09T11:20:56.791" v="398"/>
          <ac:picMkLst>
            <pc:docMk/>
            <pc:sldMk cId="2970907753" sldId="332"/>
            <ac:picMk id="10" creationId="{4A8FE58C-D120-C7B5-C01B-D1C18EC61D40}"/>
          </ac:picMkLst>
        </pc:picChg>
      </pc:sldChg>
      <pc:sldChg chg="addSp delSp modSp">
        <pc:chgData name="Kouw, Wouter" userId="S::w.m.kouw@tue.nl::181af57e-047a-4b62-bb15-f1772c70f045" providerId="AD" clId="Web-{59750471-CC49-7A7C-5B22-B67BC51BDAD8}" dt="2026-09-09T11:21:19.307" v="403" actId="1076"/>
        <pc:sldMkLst>
          <pc:docMk/>
          <pc:sldMk cId="3687348046" sldId="333"/>
        </pc:sldMkLst>
        <pc:picChg chg="add mod">
          <ac:chgData name="Kouw, Wouter" userId="S::w.m.kouw@tue.nl::181af57e-047a-4b62-bb15-f1772c70f045" providerId="AD" clId="Web-{59750471-CC49-7A7C-5B22-B67BC51BDAD8}" dt="2026-09-09T11:21:19.307" v="403" actId="1076"/>
          <ac:picMkLst>
            <pc:docMk/>
            <pc:sldMk cId="3687348046" sldId="333"/>
            <ac:picMk id="7" creationId="{04E4F03B-EA4F-093B-A26A-B6CAE9322E82}"/>
          </ac:picMkLst>
        </pc:picChg>
        <pc:picChg chg="del">
          <ac:chgData name="Kouw, Wouter" userId="S::w.m.kouw@tue.nl::181af57e-047a-4b62-bb15-f1772c70f045" providerId="AD" clId="Web-{59750471-CC49-7A7C-5B22-B67BC51BDAD8}" dt="2026-09-09T11:21:09.478" v="401"/>
          <ac:picMkLst>
            <pc:docMk/>
            <pc:sldMk cId="3687348046" sldId="333"/>
            <ac:picMk id="10" creationId="{1210BD12-DCCA-FA74-A925-68C5B9FBACAE}"/>
          </ac:picMkLst>
        </pc:picChg>
      </pc:sldChg>
      <pc:sldChg chg="del">
        <pc:chgData name="Kouw, Wouter" userId="S::w.m.kouw@tue.nl::181af57e-047a-4b62-bb15-f1772c70f045" providerId="AD" clId="Web-{59750471-CC49-7A7C-5B22-B67BC51BDAD8}" dt="2026-09-09T08:36:00.216" v="151"/>
        <pc:sldMkLst>
          <pc:docMk/>
          <pc:sldMk cId="82451727" sldId="337"/>
        </pc:sldMkLst>
      </pc:sldChg>
      <pc:sldChg chg="del">
        <pc:chgData name="Kouw, Wouter" userId="S::w.m.kouw@tue.nl::181af57e-047a-4b62-bb15-f1772c70f045" providerId="AD" clId="Web-{59750471-CC49-7A7C-5B22-B67BC51BDAD8}" dt="2026-09-09T08:36:04.122" v="152"/>
        <pc:sldMkLst>
          <pc:docMk/>
          <pc:sldMk cId="4100061690" sldId="338"/>
        </pc:sldMkLst>
      </pc:sldChg>
      <pc:sldChg chg="del">
        <pc:chgData name="Kouw, Wouter" userId="S::w.m.kouw@tue.nl::181af57e-047a-4b62-bb15-f1772c70f045" providerId="AD" clId="Web-{59750471-CC49-7A7C-5B22-B67BC51BDAD8}" dt="2026-09-09T08:36:06.809" v="153"/>
        <pc:sldMkLst>
          <pc:docMk/>
          <pc:sldMk cId="2217523270" sldId="339"/>
        </pc:sldMkLst>
      </pc:sldChg>
      <pc:sldChg chg="addSp delSp modSp new mod modClrScheme chgLayout">
        <pc:chgData name="Kouw, Wouter" userId="S::w.m.kouw@tue.nl::181af57e-047a-4b62-bb15-f1772c70f045" providerId="AD" clId="Web-{59750471-CC49-7A7C-5B22-B67BC51BDAD8}" dt="2026-09-09T11:34:10.409" v="406" actId="1076"/>
        <pc:sldMkLst>
          <pc:docMk/>
          <pc:sldMk cId="1627211203" sldId="340"/>
        </pc:sldMkLst>
        <pc:spChg chg="add mod">
          <ac:chgData name="Kouw, Wouter" userId="S::w.m.kouw@tue.nl::181af57e-047a-4b62-bb15-f1772c70f045" providerId="AD" clId="Web-{59750471-CC49-7A7C-5B22-B67BC51BDAD8}" dt="2026-09-09T11:34:10.409" v="406" actId="1076"/>
          <ac:spMkLst>
            <pc:docMk/>
            <pc:sldMk cId="1627211203" sldId="340"/>
            <ac:spMk id="2" creationId="{63C1467C-0547-C016-D48C-AEAC5A32C58B}"/>
          </ac:spMkLst>
        </pc:spChg>
        <pc:spChg chg="del mod ord">
          <ac:chgData name="Kouw, Wouter" userId="S::w.m.kouw@tue.nl::181af57e-047a-4b62-bb15-f1772c70f045" providerId="AD" clId="Web-{59750471-CC49-7A7C-5B22-B67BC51BDAD8}" dt="2026-09-09T08:29:40.107" v="3"/>
          <ac:spMkLst>
            <pc:docMk/>
            <pc:sldMk cId="1627211203" sldId="340"/>
            <ac:spMk id="2" creationId="{940C9258-E267-472B-42F7-D68C00B21D33}"/>
          </ac:spMkLst>
        </pc:spChg>
        <pc:spChg chg="del">
          <ac:chgData name="Kouw, Wouter" userId="S::w.m.kouw@tue.nl::181af57e-047a-4b62-bb15-f1772c70f045" providerId="AD" clId="Web-{59750471-CC49-7A7C-5B22-B67BC51BDAD8}" dt="2026-09-09T08:29:34.623" v="1"/>
          <ac:spMkLst>
            <pc:docMk/>
            <pc:sldMk cId="1627211203" sldId="340"/>
            <ac:spMk id="3" creationId="{484FF65C-8886-DAF5-3971-16F8B30A0617}"/>
          </ac:spMkLst>
        </pc:spChg>
        <pc:spChg chg="add del">
          <ac:chgData name="Kouw, Wouter" userId="S::w.m.kouw@tue.nl::181af57e-047a-4b62-bb15-f1772c70f045" providerId="AD" clId="Web-{59750471-CC49-7A7C-5B22-B67BC51BDAD8}" dt="2026-09-09T11:21:46.541" v="405"/>
          <ac:spMkLst>
            <pc:docMk/>
            <pc:sldMk cId="1627211203" sldId="340"/>
            <ac:spMk id="3" creationId="{AE93EB07-5D56-AE94-31D1-A268F67233FC}"/>
          </ac:spMkLst>
        </pc:spChg>
        <pc:spChg chg="del mod ord">
          <ac:chgData name="Kouw, Wouter" userId="S::w.m.kouw@tue.nl::181af57e-047a-4b62-bb15-f1772c70f045" providerId="AD" clId="Web-{59750471-CC49-7A7C-5B22-B67BC51BDAD8}" dt="2026-09-09T08:29:45.451" v="5"/>
          <ac:spMkLst>
            <pc:docMk/>
            <pc:sldMk cId="1627211203" sldId="340"/>
            <ac:spMk id="4" creationId="{C0783820-A17D-2C14-0D84-3BA5C6FA0DCA}"/>
          </ac:spMkLst>
        </pc:spChg>
        <pc:spChg chg="mod ord">
          <ac:chgData name="Kouw, Wouter" userId="S::w.m.kouw@tue.nl::181af57e-047a-4b62-bb15-f1772c70f045" providerId="AD" clId="Web-{59750471-CC49-7A7C-5B22-B67BC51BDAD8}" dt="2026-09-09T08:29:34.623" v="1"/>
          <ac:spMkLst>
            <pc:docMk/>
            <pc:sldMk cId="1627211203" sldId="340"/>
            <ac:spMk id="5" creationId="{38506FBB-64BD-F838-49BD-A845E0F20F9C}"/>
          </ac:spMkLst>
        </pc:spChg>
        <pc:spChg chg="add del mod ord">
          <ac:chgData name="Kouw, Wouter" userId="S::w.m.kouw@tue.nl::181af57e-047a-4b62-bb15-f1772c70f045" providerId="AD" clId="Web-{59750471-CC49-7A7C-5B22-B67BC51BDAD8}" dt="2026-09-09T08:29:38.404" v="2"/>
          <ac:spMkLst>
            <pc:docMk/>
            <pc:sldMk cId="1627211203" sldId="340"/>
            <ac:spMk id="6" creationId="{65E38B17-F4EC-4629-2F9D-6E6CB468F730}"/>
          </ac:spMkLst>
        </pc:spChg>
      </pc:sldChg>
      <pc:sldChg chg="addSp delSp modSp new mod modClrScheme chgLayout">
        <pc:chgData name="Kouw, Wouter" userId="S::w.m.kouw@tue.nl::181af57e-047a-4b62-bb15-f1772c70f045" providerId="AD" clId="Web-{59750471-CC49-7A7C-5B22-B67BC51BDAD8}" dt="2026-09-09T08:37:33.137" v="176" actId="20577"/>
        <pc:sldMkLst>
          <pc:docMk/>
          <pc:sldMk cId="2556590510" sldId="341"/>
        </pc:sldMkLst>
        <pc:spChg chg="mod ord">
          <ac:chgData name="Kouw, Wouter" userId="S::w.m.kouw@tue.nl::181af57e-047a-4b62-bb15-f1772c70f045" providerId="AD" clId="Web-{59750471-CC49-7A7C-5B22-B67BC51BDAD8}" dt="2026-09-09T08:37:25.075" v="162"/>
          <ac:spMkLst>
            <pc:docMk/>
            <pc:sldMk cId="2556590510" sldId="341"/>
            <ac:spMk id="2" creationId="{19DCF1DD-F5B2-E3EB-4440-CC2235B3AA34}"/>
          </ac:spMkLst>
        </pc:spChg>
        <pc:spChg chg="del">
          <ac:chgData name="Kouw, Wouter" userId="S::w.m.kouw@tue.nl::181af57e-047a-4b62-bb15-f1772c70f045" providerId="AD" clId="Web-{59750471-CC49-7A7C-5B22-B67BC51BDAD8}" dt="2026-09-09T08:37:25.075" v="162"/>
          <ac:spMkLst>
            <pc:docMk/>
            <pc:sldMk cId="2556590510" sldId="341"/>
            <ac:spMk id="3" creationId="{F4FA4F4B-7293-BDB4-AF0E-CF4A8E4B4A67}"/>
          </ac:spMkLst>
        </pc:spChg>
        <pc:spChg chg="mod ord">
          <ac:chgData name="Kouw, Wouter" userId="S::w.m.kouw@tue.nl::181af57e-047a-4b62-bb15-f1772c70f045" providerId="AD" clId="Web-{59750471-CC49-7A7C-5B22-B67BC51BDAD8}" dt="2026-09-09T08:37:25.075" v="162"/>
          <ac:spMkLst>
            <pc:docMk/>
            <pc:sldMk cId="2556590510" sldId="341"/>
            <ac:spMk id="4" creationId="{C63A46C4-EBF3-13B5-3EF9-6D2295FD0875}"/>
          </ac:spMkLst>
        </pc:spChg>
        <pc:spChg chg="mod ord">
          <ac:chgData name="Kouw, Wouter" userId="S::w.m.kouw@tue.nl::181af57e-047a-4b62-bb15-f1772c70f045" providerId="AD" clId="Web-{59750471-CC49-7A7C-5B22-B67BC51BDAD8}" dt="2026-09-09T08:37:25.075" v="162"/>
          <ac:spMkLst>
            <pc:docMk/>
            <pc:sldMk cId="2556590510" sldId="341"/>
            <ac:spMk id="5" creationId="{436D6D55-FFBE-52D1-4875-9490DE748E2E}"/>
          </ac:spMkLst>
        </pc:spChg>
        <pc:spChg chg="add mod ord">
          <ac:chgData name="Kouw, Wouter" userId="S::w.m.kouw@tue.nl::181af57e-047a-4b62-bb15-f1772c70f045" providerId="AD" clId="Web-{59750471-CC49-7A7C-5B22-B67BC51BDAD8}" dt="2026-09-09T08:37:33.137" v="176" actId="20577"/>
          <ac:spMkLst>
            <pc:docMk/>
            <pc:sldMk cId="2556590510" sldId="341"/>
            <ac:spMk id="6" creationId="{3DFA0A69-DA4C-E931-88E8-1BC9FE18F786}"/>
          </ac:spMkLst>
        </pc:spChg>
      </pc:sldChg>
      <pc:sldChg chg="addSp delSp modSp new mod modClrScheme chgLayout">
        <pc:chgData name="Kouw, Wouter" userId="S::w.m.kouw@tue.nl::181af57e-047a-4b62-bb15-f1772c70f045" providerId="AD" clId="Web-{59750471-CC49-7A7C-5B22-B67BC51BDAD8}" dt="2026-09-09T11:06:45.907" v="331" actId="20577"/>
        <pc:sldMkLst>
          <pc:docMk/>
          <pc:sldMk cId="2375595433" sldId="342"/>
        </pc:sldMkLst>
        <pc:spChg chg="mod ord">
          <ac:chgData name="Kouw, Wouter" userId="S::w.m.kouw@tue.nl::181af57e-047a-4b62-bb15-f1772c70f045" providerId="AD" clId="Web-{59750471-CC49-7A7C-5B22-B67BC51BDAD8}" dt="2026-09-09T08:53:35.870" v="259" actId="20577"/>
          <ac:spMkLst>
            <pc:docMk/>
            <pc:sldMk cId="2375595433" sldId="342"/>
            <ac:spMk id="2" creationId="{360C8E1C-2868-5258-D268-25696E87703B}"/>
          </ac:spMkLst>
        </pc:spChg>
        <pc:spChg chg="del mod ord">
          <ac:chgData name="Kouw, Wouter" userId="S::w.m.kouw@tue.nl::181af57e-047a-4b62-bb15-f1772c70f045" providerId="AD" clId="Web-{59750471-CC49-7A7C-5B22-B67BC51BDAD8}" dt="2026-09-09T08:59:13.276" v="260"/>
          <ac:spMkLst>
            <pc:docMk/>
            <pc:sldMk cId="2375595433" sldId="342"/>
            <ac:spMk id="3" creationId="{33791B65-98ED-20D6-43A5-6DC4D12249E6}"/>
          </ac:spMkLst>
        </pc:spChg>
        <pc:spChg chg="add mod">
          <ac:chgData name="Kouw, Wouter" userId="S::w.m.kouw@tue.nl::181af57e-047a-4b62-bb15-f1772c70f045" providerId="AD" clId="Web-{59750471-CC49-7A7C-5B22-B67BC51BDAD8}" dt="2026-09-09T11:05:53.937" v="301" actId="14100"/>
          <ac:spMkLst>
            <pc:docMk/>
            <pc:sldMk cId="2375595433" sldId="342"/>
            <ac:spMk id="5" creationId="{B627867A-D0A4-FF47-DD6F-F95570B7FFC9}"/>
          </ac:spMkLst>
        </pc:spChg>
        <pc:spChg chg="add mod">
          <ac:chgData name="Kouw, Wouter" userId="S::w.m.kouw@tue.nl::181af57e-047a-4b62-bb15-f1772c70f045" providerId="AD" clId="Web-{59750471-CC49-7A7C-5B22-B67BC51BDAD8}" dt="2026-09-09T11:06:22.656" v="312" actId="14100"/>
          <ac:spMkLst>
            <pc:docMk/>
            <pc:sldMk cId="2375595433" sldId="342"/>
            <ac:spMk id="7" creationId="{3AB7C177-1283-9485-2621-C3FF943D4016}"/>
          </ac:spMkLst>
        </pc:spChg>
        <pc:spChg chg="add mod">
          <ac:chgData name="Kouw, Wouter" userId="S::w.m.kouw@tue.nl::181af57e-047a-4b62-bb15-f1772c70f045" providerId="AD" clId="Web-{59750471-CC49-7A7C-5B22-B67BC51BDAD8}" dt="2026-09-09T11:06:45.907" v="331" actId="20577"/>
          <ac:spMkLst>
            <pc:docMk/>
            <pc:sldMk cId="2375595433" sldId="342"/>
            <ac:spMk id="8" creationId="{0AF5757D-793C-3131-6DF1-7924FDF581C7}"/>
          </ac:spMkLst>
        </pc:spChg>
        <pc:picChg chg="add mod">
          <ac:chgData name="Kouw, Wouter" userId="S::w.m.kouw@tue.nl::181af57e-047a-4b62-bb15-f1772c70f045" providerId="AD" clId="Web-{59750471-CC49-7A7C-5B22-B67BC51BDAD8}" dt="2026-09-09T11:05:23.984" v="279" actId="1076"/>
          <ac:picMkLst>
            <pc:docMk/>
            <pc:sldMk cId="2375595433" sldId="342"/>
            <ac:picMk id="3" creationId="{2A4D1F1C-85D5-2D15-3D9F-93BDBA5AFAAC}"/>
          </ac:picMkLst>
        </pc:picChg>
        <pc:picChg chg="add mod ord">
          <ac:chgData name="Kouw, Wouter" userId="S::w.m.kouw@tue.nl::181af57e-047a-4b62-bb15-f1772c70f045" providerId="AD" clId="Web-{59750471-CC49-7A7C-5B22-B67BC51BDAD8}" dt="2026-09-09T11:04:49.702" v="270" actId="1076"/>
          <ac:picMkLst>
            <pc:docMk/>
            <pc:sldMk cId="2375595433" sldId="342"/>
            <ac:picMk id="4" creationId="{F804C2BD-2B4B-73B1-1E04-88CF2D0DB856}"/>
          </ac:picMkLst>
        </pc:picChg>
        <pc:picChg chg="add mod">
          <ac:chgData name="Kouw, Wouter" userId="S::w.m.kouw@tue.nl::181af57e-047a-4b62-bb15-f1772c70f045" providerId="AD" clId="Web-{59750471-CC49-7A7C-5B22-B67BC51BDAD8}" dt="2026-09-09T11:05:23.421" v="278" actId="1076"/>
          <ac:picMkLst>
            <pc:docMk/>
            <pc:sldMk cId="2375595433" sldId="342"/>
            <ac:picMk id="6" creationId="{6617E678-4653-9C47-5D9D-B4631DAB421C}"/>
          </ac:picMkLst>
        </pc:picChg>
      </pc:sldChg>
    </pc:docChg>
  </pc:docChgLst>
  <pc:docChgLst>
    <pc:chgData name="Ledbetter, Alex" userId="d153b8fa-3c9b-43df-bd2d-76d728ff3ff0" providerId="ADAL" clId="{319FC82E-48AE-4E97-A8FE-A4493AC253A4}"/>
    <pc:docChg chg="undo redo custSel addSld delSld modSld sldOrd modSection">
      <pc:chgData name="Ledbetter, Alex" userId="d153b8fa-3c9b-43df-bd2d-76d728ff3ff0" providerId="ADAL" clId="{319FC82E-48AE-4E97-A8FE-A4493AC253A4}" dt="2026-09-10T05:41:10.477" v="889" actId="20577"/>
      <pc:docMkLst>
        <pc:docMk/>
      </pc:docMkLst>
      <pc:sldChg chg="modSp mod modAnim">
        <pc:chgData name="Ledbetter, Alex" userId="d153b8fa-3c9b-43df-bd2d-76d728ff3ff0" providerId="ADAL" clId="{319FC82E-48AE-4E97-A8FE-A4493AC253A4}" dt="2026-09-10T05:37:00.907" v="723"/>
        <pc:sldMkLst>
          <pc:docMk/>
          <pc:sldMk cId="0" sldId="265"/>
        </pc:sldMkLst>
        <pc:spChg chg="mod">
          <ac:chgData name="Ledbetter, Alex" userId="d153b8fa-3c9b-43df-bd2d-76d728ff3ff0" providerId="ADAL" clId="{319FC82E-48AE-4E97-A8FE-A4493AC253A4}" dt="2026-09-09T16:49:03.274" v="292" actId="114"/>
          <ac:spMkLst>
            <pc:docMk/>
            <pc:sldMk cId="0" sldId="265"/>
            <ac:spMk id="3" creationId="{BC780181-214C-BB0F-902A-287A0FF4C193}"/>
          </ac:spMkLst>
        </pc:spChg>
        <pc:picChg chg="mod">
          <ac:chgData name="Ledbetter, Alex" userId="d153b8fa-3c9b-43df-bd2d-76d728ff3ff0" providerId="ADAL" clId="{319FC82E-48AE-4E97-A8FE-A4493AC253A4}" dt="2026-09-09T16:47:26.810" v="253" actId="1076"/>
          <ac:picMkLst>
            <pc:docMk/>
            <pc:sldMk cId="0" sldId="265"/>
            <ac:picMk id="14" creationId="{C740750B-7CDC-50C1-0B29-874093D49E6D}"/>
          </ac:picMkLst>
        </pc:picChg>
      </pc:sldChg>
      <pc:sldChg chg="modSp modAnim">
        <pc:chgData name="Ledbetter, Alex" userId="d153b8fa-3c9b-43df-bd2d-76d728ff3ff0" providerId="ADAL" clId="{319FC82E-48AE-4E97-A8FE-A4493AC253A4}" dt="2026-09-09T16:54:46.940" v="327" actId="20577"/>
        <pc:sldMkLst>
          <pc:docMk/>
          <pc:sldMk cId="0" sldId="277"/>
        </pc:sldMkLst>
        <pc:spChg chg="mod">
          <ac:chgData name="Ledbetter, Alex" userId="d153b8fa-3c9b-43df-bd2d-76d728ff3ff0" providerId="ADAL" clId="{319FC82E-48AE-4E97-A8FE-A4493AC253A4}" dt="2026-09-09T16:54:46.940" v="327" actId="20577"/>
          <ac:spMkLst>
            <pc:docMk/>
            <pc:sldMk cId="0" sldId="277"/>
            <ac:spMk id="3" creationId="{2E202ECF-003B-64D8-7712-B7D4E0EB8AFC}"/>
          </ac:spMkLst>
        </pc:spChg>
      </pc:sldChg>
      <pc:sldChg chg="addSp delSp modSp mod addAnim delAnim">
        <pc:chgData name="Ledbetter, Alex" userId="d153b8fa-3c9b-43df-bd2d-76d728ff3ff0" providerId="ADAL" clId="{319FC82E-48AE-4E97-A8FE-A4493AC253A4}" dt="2026-09-09T16:52:00.781" v="309" actId="478"/>
        <pc:sldMkLst>
          <pc:docMk/>
          <pc:sldMk cId="0" sldId="278"/>
        </pc:sldMkLst>
        <pc:graphicFrameChg chg="add del mod">
          <ac:chgData name="Ledbetter, Alex" userId="d153b8fa-3c9b-43df-bd2d-76d728ff3ff0" providerId="ADAL" clId="{319FC82E-48AE-4E97-A8FE-A4493AC253A4}" dt="2026-09-09T16:52:00.781" v="309" actId="478"/>
          <ac:graphicFrameMkLst>
            <pc:docMk/>
            <pc:sldMk cId="0" sldId="278"/>
            <ac:graphicFrameMk id="8" creationId="{FD67A6CF-8EF1-5CC3-023A-587BD2A54C1E}"/>
          </ac:graphicFrameMkLst>
        </pc:graphicFrameChg>
        <pc:picChg chg="del">
          <ac:chgData name="Ledbetter, Alex" userId="d153b8fa-3c9b-43df-bd2d-76d728ff3ff0" providerId="ADAL" clId="{319FC82E-48AE-4E97-A8FE-A4493AC253A4}" dt="2026-09-09T16:51:35.245" v="303" actId="478"/>
          <ac:picMkLst>
            <pc:docMk/>
            <pc:sldMk cId="0" sldId="278"/>
            <ac:picMk id="7" creationId="{4C80362A-05DF-4446-EDBB-2E62DFCB49B8}"/>
          </ac:picMkLst>
        </pc:picChg>
        <pc:picChg chg="mod">
          <ac:chgData name="Ledbetter, Alex" userId="d153b8fa-3c9b-43df-bd2d-76d728ff3ff0" providerId="ADAL" clId="{319FC82E-48AE-4E97-A8FE-A4493AC253A4}" dt="2026-09-09T16:51:51.098" v="308" actId="1076"/>
          <ac:picMkLst>
            <pc:docMk/>
            <pc:sldMk cId="0" sldId="278"/>
            <ac:picMk id="9" creationId="{00000000-0000-0000-0000-000000000000}"/>
          </ac:picMkLst>
        </pc:picChg>
      </pc:sldChg>
      <pc:sldChg chg="add del modTransition">
        <pc:chgData name="Ledbetter, Alex" userId="d153b8fa-3c9b-43df-bd2d-76d728ff3ff0" providerId="ADAL" clId="{319FC82E-48AE-4E97-A8FE-A4493AC253A4}" dt="2026-09-08T12:55:24.956" v="2"/>
        <pc:sldMkLst>
          <pc:docMk/>
          <pc:sldMk cId="1209517097" sldId="288"/>
        </pc:sldMkLst>
      </pc:sldChg>
      <pc:sldChg chg="delSp mod delAnim modAnim">
        <pc:chgData name="Ledbetter, Alex" userId="d153b8fa-3c9b-43df-bd2d-76d728ff3ff0" providerId="ADAL" clId="{319FC82E-48AE-4E97-A8FE-A4493AC253A4}" dt="2026-09-09T16:49:31.983" v="294"/>
        <pc:sldMkLst>
          <pc:docMk/>
          <pc:sldMk cId="696880382" sldId="289"/>
        </pc:sldMkLst>
        <pc:picChg chg="del">
          <ac:chgData name="Ledbetter, Alex" userId="d153b8fa-3c9b-43df-bd2d-76d728ff3ff0" providerId="ADAL" clId="{319FC82E-48AE-4E97-A8FE-A4493AC253A4}" dt="2026-09-09T15:53:08.623" v="3" actId="478"/>
          <ac:picMkLst>
            <pc:docMk/>
            <pc:sldMk cId="696880382" sldId="289"/>
            <ac:picMk id="4" creationId="{C99955C5-ADD6-BCC2-E13E-F461B8F301CB}"/>
          </ac:picMkLst>
        </pc:picChg>
      </pc:sldChg>
      <pc:sldChg chg="modAnim">
        <pc:chgData name="Ledbetter, Alex" userId="d153b8fa-3c9b-43df-bd2d-76d728ff3ff0" providerId="ADAL" clId="{319FC82E-48AE-4E97-A8FE-A4493AC253A4}" dt="2026-09-09T16:51:12.273" v="300"/>
        <pc:sldMkLst>
          <pc:docMk/>
          <pc:sldMk cId="2854794194" sldId="298"/>
        </pc:sldMkLst>
      </pc:sldChg>
      <pc:sldChg chg="add del modTransition">
        <pc:chgData name="Ledbetter, Alex" userId="d153b8fa-3c9b-43df-bd2d-76d728ff3ff0" providerId="ADAL" clId="{319FC82E-48AE-4E97-A8FE-A4493AC253A4}" dt="2026-09-08T12:55:24.956" v="2"/>
        <pc:sldMkLst>
          <pc:docMk/>
          <pc:sldMk cId="2860035172" sldId="308"/>
        </pc:sldMkLst>
      </pc:sldChg>
      <pc:sldChg chg="add del modTransition">
        <pc:chgData name="Ledbetter, Alex" userId="d153b8fa-3c9b-43df-bd2d-76d728ff3ff0" providerId="ADAL" clId="{319FC82E-48AE-4E97-A8FE-A4493AC253A4}" dt="2026-09-08T12:55:24.956" v="2"/>
        <pc:sldMkLst>
          <pc:docMk/>
          <pc:sldMk cId="2746832175" sldId="309"/>
        </pc:sldMkLst>
      </pc:sldChg>
      <pc:sldChg chg="add del modTransition">
        <pc:chgData name="Ledbetter, Alex" userId="d153b8fa-3c9b-43df-bd2d-76d728ff3ff0" providerId="ADAL" clId="{319FC82E-48AE-4E97-A8FE-A4493AC253A4}" dt="2026-09-08T12:55:24.956" v="2"/>
        <pc:sldMkLst>
          <pc:docMk/>
          <pc:sldMk cId="3735694397" sldId="310"/>
        </pc:sldMkLst>
      </pc:sldChg>
      <pc:sldChg chg="add modTransition">
        <pc:chgData name="Ledbetter, Alex" userId="d153b8fa-3c9b-43df-bd2d-76d728ff3ff0" providerId="ADAL" clId="{319FC82E-48AE-4E97-A8FE-A4493AC253A4}" dt="2026-09-08T12:55:24.956" v="2"/>
        <pc:sldMkLst>
          <pc:docMk/>
          <pc:sldMk cId="1071371640" sldId="317"/>
        </pc:sldMkLst>
      </pc:sldChg>
      <pc:sldChg chg="add modTransition">
        <pc:chgData name="Ledbetter, Alex" userId="d153b8fa-3c9b-43df-bd2d-76d728ff3ff0" providerId="ADAL" clId="{319FC82E-48AE-4E97-A8FE-A4493AC253A4}" dt="2026-09-08T12:55:24.956" v="2"/>
        <pc:sldMkLst>
          <pc:docMk/>
          <pc:sldMk cId="1969775058" sldId="318"/>
        </pc:sldMkLst>
      </pc:sldChg>
      <pc:sldChg chg="add modTransition">
        <pc:chgData name="Ledbetter, Alex" userId="d153b8fa-3c9b-43df-bd2d-76d728ff3ff0" providerId="ADAL" clId="{319FC82E-48AE-4E97-A8FE-A4493AC253A4}" dt="2026-09-08T12:55:24.956" v="2"/>
        <pc:sldMkLst>
          <pc:docMk/>
          <pc:sldMk cId="3499809797" sldId="320"/>
        </pc:sldMkLst>
      </pc:sldChg>
      <pc:sldChg chg="add modTransition">
        <pc:chgData name="Ledbetter, Alex" userId="d153b8fa-3c9b-43df-bd2d-76d728ff3ff0" providerId="ADAL" clId="{319FC82E-48AE-4E97-A8FE-A4493AC253A4}" dt="2026-09-08T12:55:24.956" v="2"/>
        <pc:sldMkLst>
          <pc:docMk/>
          <pc:sldMk cId="3626953048" sldId="321"/>
        </pc:sldMkLst>
      </pc:sldChg>
      <pc:sldChg chg="add modTransition">
        <pc:chgData name="Ledbetter, Alex" userId="d153b8fa-3c9b-43df-bd2d-76d728ff3ff0" providerId="ADAL" clId="{319FC82E-48AE-4E97-A8FE-A4493AC253A4}" dt="2026-09-08T12:55:24.956" v="2"/>
        <pc:sldMkLst>
          <pc:docMk/>
          <pc:sldMk cId="560998287" sldId="322"/>
        </pc:sldMkLst>
      </pc:sldChg>
      <pc:sldChg chg="add modTransition">
        <pc:chgData name="Ledbetter, Alex" userId="d153b8fa-3c9b-43df-bd2d-76d728ff3ff0" providerId="ADAL" clId="{319FC82E-48AE-4E97-A8FE-A4493AC253A4}" dt="2026-09-08T12:55:24.956" v="2"/>
        <pc:sldMkLst>
          <pc:docMk/>
          <pc:sldMk cId="2122322853" sldId="323"/>
        </pc:sldMkLst>
      </pc:sldChg>
      <pc:sldChg chg="add modTransition">
        <pc:chgData name="Ledbetter, Alex" userId="d153b8fa-3c9b-43df-bd2d-76d728ff3ff0" providerId="ADAL" clId="{319FC82E-48AE-4E97-A8FE-A4493AC253A4}" dt="2026-09-08T12:55:24.956" v="2"/>
        <pc:sldMkLst>
          <pc:docMk/>
          <pc:sldMk cId="2473594302" sldId="324"/>
        </pc:sldMkLst>
      </pc:sldChg>
      <pc:sldChg chg="add modTransition">
        <pc:chgData name="Ledbetter, Alex" userId="d153b8fa-3c9b-43df-bd2d-76d728ff3ff0" providerId="ADAL" clId="{319FC82E-48AE-4E97-A8FE-A4493AC253A4}" dt="2026-09-08T12:55:24.956" v="2"/>
        <pc:sldMkLst>
          <pc:docMk/>
          <pc:sldMk cId="3283956398" sldId="325"/>
        </pc:sldMkLst>
      </pc:sldChg>
      <pc:sldChg chg="add modTransition">
        <pc:chgData name="Ledbetter, Alex" userId="d153b8fa-3c9b-43df-bd2d-76d728ff3ff0" providerId="ADAL" clId="{319FC82E-48AE-4E97-A8FE-A4493AC253A4}" dt="2026-09-08T12:55:24.956" v="2"/>
        <pc:sldMkLst>
          <pc:docMk/>
          <pc:sldMk cId="2691451113" sldId="326"/>
        </pc:sldMkLst>
      </pc:sldChg>
      <pc:sldChg chg="add modTransition">
        <pc:chgData name="Ledbetter, Alex" userId="d153b8fa-3c9b-43df-bd2d-76d728ff3ff0" providerId="ADAL" clId="{319FC82E-48AE-4E97-A8FE-A4493AC253A4}" dt="2026-09-08T12:55:24.956" v="2"/>
        <pc:sldMkLst>
          <pc:docMk/>
          <pc:sldMk cId="3703888383" sldId="327"/>
        </pc:sldMkLst>
      </pc:sldChg>
      <pc:sldChg chg="add modTransition">
        <pc:chgData name="Ledbetter, Alex" userId="d153b8fa-3c9b-43df-bd2d-76d728ff3ff0" providerId="ADAL" clId="{319FC82E-48AE-4E97-A8FE-A4493AC253A4}" dt="2026-09-08T12:55:24.956" v="2"/>
        <pc:sldMkLst>
          <pc:docMk/>
          <pc:sldMk cId="2275066580" sldId="328"/>
        </pc:sldMkLst>
      </pc:sldChg>
      <pc:sldChg chg="add modTransition">
        <pc:chgData name="Ledbetter, Alex" userId="d153b8fa-3c9b-43df-bd2d-76d728ff3ff0" providerId="ADAL" clId="{319FC82E-48AE-4E97-A8FE-A4493AC253A4}" dt="2026-09-08T12:55:24.956" v="2"/>
        <pc:sldMkLst>
          <pc:docMk/>
          <pc:sldMk cId="533113721" sldId="329"/>
        </pc:sldMkLst>
      </pc:sldChg>
      <pc:sldChg chg="add modTransition">
        <pc:chgData name="Ledbetter, Alex" userId="d153b8fa-3c9b-43df-bd2d-76d728ff3ff0" providerId="ADAL" clId="{319FC82E-48AE-4E97-A8FE-A4493AC253A4}" dt="2026-09-08T12:55:24.956" v="2"/>
        <pc:sldMkLst>
          <pc:docMk/>
          <pc:sldMk cId="686457590" sldId="331"/>
        </pc:sldMkLst>
      </pc:sldChg>
      <pc:sldChg chg="add modTransition">
        <pc:chgData name="Ledbetter, Alex" userId="d153b8fa-3c9b-43df-bd2d-76d728ff3ff0" providerId="ADAL" clId="{319FC82E-48AE-4E97-A8FE-A4493AC253A4}" dt="2026-09-08T12:55:24.956" v="2"/>
        <pc:sldMkLst>
          <pc:docMk/>
          <pc:sldMk cId="2970907753" sldId="332"/>
        </pc:sldMkLst>
      </pc:sldChg>
      <pc:sldChg chg="add modTransition">
        <pc:chgData name="Ledbetter, Alex" userId="d153b8fa-3c9b-43df-bd2d-76d728ff3ff0" providerId="ADAL" clId="{319FC82E-48AE-4E97-A8FE-A4493AC253A4}" dt="2026-09-08T12:55:24.956" v="2"/>
        <pc:sldMkLst>
          <pc:docMk/>
          <pc:sldMk cId="3687348046" sldId="333"/>
        </pc:sldMkLst>
      </pc:sldChg>
      <pc:sldChg chg="add modTransition">
        <pc:chgData name="Ledbetter, Alex" userId="d153b8fa-3c9b-43df-bd2d-76d728ff3ff0" providerId="ADAL" clId="{319FC82E-48AE-4E97-A8FE-A4493AC253A4}" dt="2026-09-08T12:55:24.956" v="2"/>
        <pc:sldMkLst>
          <pc:docMk/>
          <pc:sldMk cId="1697085845" sldId="335"/>
        </pc:sldMkLst>
      </pc:sldChg>
      <pc:sldChg chg="add modTransition">
        <pc:chgData name="Ledbetter, Alex" userId="d153b8fa-3c9b-43df-bd2d-76d728ff3ff0" providerId="ADAL" clId="{319FC82E-48AE-4E97-A8FE-A4493AC253A4}" dt="2026-09-08T12:55:24.956" v="2"/>
        <pc:sldMkLst>
          <pc:docMk/>
          <pc:sldMk cId="2100574183" sldId="336"/>
        </pc:sldMkLst>
      </pc:sldChg>
      <pc:sldChg chg="del mod modShow">
        <pc:chgData name="Ledbetter, Alex" userId="d153b8fa-3c9b-43df-bd2d-76d728ff3ff0" providerId="ADAL" clId="{319FC82E-48AE-4E97-A8FE-A4493AC253A4}" dt="2026-09-10T05:37:22.245" v="724" actId="47"/>
        <pc:sldMkLst>
          <pc:docMk/>
          <pc:sldMk cId="2556590510" sldId="341"/>
        </pc:sldMkLst>
      </pc:sldChg>
      <pc:sldChg chg="modSp mod">
        <pc:chgData name="Ledbetter, Alex" userId="d153b8fa-3c9b-43df-bd2d-76d728ff3ff0" providerId="ADAL" clId="{319FC82E-48AE-4E97-A8FE-A4493AC253A4}" dt="2026-09-10T05:39:05.723" v="748"/>
        <pc:sldMkLst>
          <pc:docMk/>
          <pc:sldMk cId="2375595433" sldId="342"/>
        </pc:sldMkLst>
        <pc:spChg chg="mod">
          <ac:chgData name="Ledbetter, Alex" userId="d153b8fa-3c9b-43df-bd2d-76d728ff3ff0" providerId="ADAL" clId="{319FC82E-48AE-4E97-A8FE-A4493AC253A4}" dt="2026-09-10T05:39:05.723" v="748"/>
          <ac:spMkLst>
            <pc:docMk/>
            <pc:sldMk cId="2375595433" sldId="342"/>
            <ac:spMk id="2" creationId="{360C8E1C-2868-5258-D268-25696E87703B}"/>
          </ac:spMkLst>
        </pc:spChg>
      </pc:sldChg>
      <pc:sldChg chg="addSp delSp modSp new mod ord">
        <pc:chgData name="Ledbetter, Alex" userId="d153b8fa-3c9b-43df-bd2d-76d728ff3ff0" providerId="ADAL" clId="{319FC82E-48AE-4E97-A8FE-A4493AC253A4}" dt="2026-09-10T05:40:21.012" v="826"/>
        <pc:sldMkLst>
          <pc:docMk/>
          <pc:sldMk cId="1727072403" sldId="343"/>
        </pc:sldMkLst>
        <pc:spChg chg="mod">
          <ac:chgData name="Ledbetter, Alex" userId="d153b8fa-3c9b-43df-bd2d-76d728ff3ff0" providerId="ADAL" clId="{319FC82E-48AE-4E97-A8FE-A4493AC253A4}" dt="2026-09-10T05:40:10.615" v="824" actId="20577"/>
          <ac:spMkLst>
            <pc:docMk/>
            <pc:sldMk cId="1727072403" sldId="343"/>
            <ac:spMk id="2" creationId="{E368A20D-3E52-D5B7-8DA2-F1F64E3CF0BB}"/>
          </ac:spMkLst>
        </pc:spChg>
        <pc:spChg chg="del">
          <ac:chgData name="Ledbetter, Alex" userId="d153b8fa-3c9b-43df-bd2d-76d728ff3ff0" providerId="ADAL" clId="{319FC82E-48AE-4E97-A8FE-A4493AC253A4}" dt="2026-09-09T21:10:45.586" v="349" actId="478"/>
          <ac:spMkLst>
            <pc:docMk/>
            <pc:sldMk cId="1727072403" sldId="343"/>
            <ac:spMk id="3" creationId="{1CE2F9CB-284A-342C-B40C-1A300E23D29E}"/>
          </ac:spMkLst>
        </pc:spChg>
        <pc:spChg chg="add mod">
          <ac:chgData name="Ledbetter, Alex" userId="d153b8fa-3c9b-43df-bd2d-76d728ff3ff0" providerId="ADAL" clId="{319FC82E-48AE-4E97-A8FE-A4493AC253A4}" dt="2026-09-09T21:15:41.307" v="643" actId="1037"/>
          <ac:spMkLst>
            <pc:docMk/>
            <pc:sldMk cId="1727072403" sldId="343"/>
            <ac:spMk id="12" creationId="{2CDE69CD-BD37-03DB-295B-8370B95BE597}"/>
          </ac:spMkLst>
        </pc:spChg>
        <pc:spChg chg="add mod">
          <ac:chgData name="Ledbetter, Alex" userId="d153b8fa-3c9b-43df-bd2d-76d728ff3ff0" providerId="ADAL" clId="{319FC82E-48AE-4E97-A8FE-A4493AC253A4}" dt="2026-09-09T21:15:31.422" v="616" actId="1037"/>
          <ac:spMkLst>
            <pc:docMk/>
            <pc:sldMk cId="1727072403" sldId="343"/>
            <ac:spMk id="13" creationId="{CA0120C2-2C9D-0E0D-4ED0-48D606D5C78F}"/>
          </ac:spMkLst>
        </pc:spChg>
        <pc:spChg chg="add mod">
          <ac:chgData name="Ledbetter, Alex" userId="d153b8fa-3c9b-43df-bd2d-76d728ff3ff0" providerId="ADAL" clId="{319FC82E-48AE-4E97-A8FE-A4493AC253A4}" dt="2026-09-09T21:16:36.839" v="665" actId="1035"/>
          <ac:spMkLst>
            <pc:docMk/>
            <pc:sldMk cId="1727072403" sldId="343"/>
            <ac:spMk id="14" creationId="{B8F18CED-1A86-D179-BDBA-46403F77AD44}"/>
          </ac:spMkLst>
        </pc:spChg>
        <pc:spChg chg="add mod">
          <ac:chgData name="Ledbetter, Alex" userId="d153b8fa-3c9b-43df-bd2d-76d728ff3ff0" providerId="ADAL" clId="{319FC82E-48AE-4E97-A8FE-A4493AC253A4}" dt="2026-09-09T21:15:31.422" v="616" actId="1037"/>
          <ac:spMkLst>
            <pc:docMk/>
            <pc:sldMk cId="1727072403" sldId="343"/>
            <ac:spMk id="15" creationId="{E56BD6E1-0430-6DF4-4D73-CA5502B0E14D}"/>
          </ac:spMkLst>
        </pc:spChg>
        <pc:picChg chg="add mod">
          <ac:chgData name="Ledbetter, Alex" userId="d153b8fa-3c9b-43df-bd2d-76d728ff3ff0" providerId="ADAL" clId="{319FC82E-48AE-4E97-A8FE-A4493AC253A4}" dt="2026-09-09T21:15:41.307" v="643" actId="1037"/>
          <ac:picMkLst>
            <pc:docMk/>
            <pc:sldMk cId="1727072403" sldId="343"/>
            <ac:picMk id="5" creationId="{BC394567-F367-127C-58A2-321EDB4C9830}"/>
          </ac:picMkLst>
        </pc:picChg>
        <pc:picChg chg="add mod">
          <ac:chgData name="Ledbetter, Alex" userId="d153b8fa-3c9b-43df-bd2d-76d728ff3ff0" providerId="ADAL" clId="{319FC82E-48AE-4E97-A8FE-A4493AC253A4}" dt="2026-09-09T21:15:41.307" v="643" actId="1037"/>
          <ac:picMkLst>
            <pc:docMk/>
            <pc:sldMk cId="1727072403" sldId="343"/>
            <ac:picMk id="7" creationId="{46DE78DA-AD38-3C4F-F447-B7FFFD4D6EF9}"/>
          </ac:picMkLst>
        </pc:picChg>
        <pc:picChg chg="add mod">
          <ac:chgData name="Ledbetter, Alex" userId="d153b8fa-3c9b-43df-bd2d-76d728ff3ff0" providerId="ADAL" clId="{319FC82E-48AE-4E97-A8FE-A4493AC253A4}" dt="2026-09-09T21:15:31.422" v="616" actId="1037"/>
          <ac:picMkLst>
            <pc:docMk/>
            <pc:sldMk cId="1727072403" sldId="343"/>
            <ac:picMk id="9" creationId="{E0DF1687-70A7-F62B-1E7D-4C0DEDE21BBE}"/>
          </ac:picMkLst>
        </pc:picChg>
        <pc:picChg chg="add mod">
          <ac:chgData name="Ledbetter, Alex" userId="d153b8fa-3c9b-43df-bd2d-76d728ff3ff0" providerId="ADAL" clId="{319FC82E-48AE-4E97-A8FE-A4493AC253A4}" dt="2026-09-09T21:16:36.839" v="665" actId="1035"/>
          <ac:picMkLst>
            <pc:docMk/>
            <pc:sldMk cId="1727072403" sldId="343"/>
            <ac:picMk id="11" creationId="{FB326703-09AB-5838-6C64-469CD92A7143}"/>
          </ac:picMkLst>
        </pc:picChg>
        <pc:cxnChg chg="add mod">
          <ac:chgData name="Ledbetter, Alex" userId="d153b8fa-3c9b-43df-bd2d-76d728ff3ff0" providerId="ADAL" clId="{319FC82E-48AE-4E97-A8FE-A4493AC253A4}" dt="2026-09-09T21:16:26.118" v="647" actId="14100"/>
          <ac:cxnSpMkLst>
            <pc:docMk/>
            <pc:sldMk cId="1727072403" sldId="343"/>
            <ac:cxnSpMk id="17" creationId="{5C31EEBC-0591-D4AA-C953-0085ABE2B819}"/>
          </ac:cxnSpMkLst>
        </pc:cxnChg>
        <pc:cxnChg chg="add mod">
          <ac:chgData name="Ledbetter, Alex" userId="d153b8fa-3c9b-43df-bd2d-76d728ff3ff0" providerId="ADAL" clId="{319FC82E-48AE-4E97-A8FE-A4493AC253A4}" dt="2026-09-09T21:15:58.999" v="644" actId="208"/>
          <ac:cxnSpMkLst>
            <pc:docMk/>
            <pc:sldMk cId="1727072403" sldId="343"/>
            <ac:cxnSpMk id="19" creationId="{9C98CA0F-6A64-0BF2-8A68-590B4210010D}"/>
          </ac:cxnSpMkLst>
        </pc:cxnChg>
      </pc:sldChg>
      <pc:sldChg chg="addSp delSp modSp new mod ord">
        <pc:chgData name="Ledbetter, Alex" userId="d153b8fa-3c9b-43df-bd2d-76d728ff3ff0" providerId="ADAL" clId="{319FC82E-48AE-4E97-A8FE-A4493AC253A4}" dt="2026-09-10T05:40:53.928" v="868" actId="20577"/>
        <pc:sldMkLst>
          <pc:docMk/>
          <pc:sldMk cId="3464614835" sldId="344"/>
        </pc:sldMkLst>
        <pc:spChg chg="mod">
          <ac:chgData name="Ledbetter, Alex" userId="d153b8fa-3c9b-43df-bd2d-76d728ff3ff0" providerId="ADAL" clId="{319FC82E-48AE-4E97-A8FE-A4493AC253A4}" dt="2026-09-10T05:40:53.928" v="868" actId="20577"/>
          <ac:spMkLst>
            <pc:docMk/>
            <pc:sldMk cId="3464614835" sldId="344"/>
            <ac:spMk id="2" creationId="{115B280A-006F-70FE-DA49-733EAB199A5F}"/>
          </ac:spMkLst>
        </pc:spChg>
        <pc:spChg chg="del">
          <ac:chgData name="Ledbetter, Alex" userId="d153b8fa-3c9b-43df-bd2d-76d728ff3ff0" providerId="ADAL" clId="{319FC82E-48AE-4E97-A8FE-A4493AC253A4}" dt="2026-09-09T21:17:28.736" v="678" actId="478"/>
          <ac:spMkLst>
            <pc:docMk/>
            <pc:sldMk cId="3464614835" sldId="344"/>
            <ac:spMk id="3" creationId="{A9A68785-351A-CD74-A248-C61BA9E043F0}"/>
          </ac:spMkLst>
        </pc:spChg>
        <pc:picChg chg="add mod">
          <ac:chgData name="Ledbetter, Alex" userId="d153b8fa-3c9b-43df-bd2d-76d728ff3ff0" providerId="ADAL" clId="{319FC82E-48AE-4E97-A8FE-A4493AC253A4}" dt="2026-09-09T21:17:41.923" v="681"/>
          <ac:picMkLst>
            <pc:docMk/>
            <pc:sldMk cId="3464614835" sldId="344"/>
            <ac:picMk id="5" creationId="{4D3A8E5E-2CB2-A361-08E0-EDFB9D14FEBA}"/>
          </ac:picMkLst>
        </pc:picChg>
        <pc:picChg chg="add del mod">
          <ac:chgData name="Ledbetter, Alex" userId="d153b8fa-3c9b-43df-bd2d-76d728ff3ff0" providerId="ADAL" clId="{319FC82E-48AE-4E97-A8FE-A4493AC253A4}" dt="2026-09-09T21:18:16.516" v="718" actId="21"/>
          <ac:picMkLst>
            <pc:docMk/>
            <pc:sldMk cId="3464614835" sldId="344"/>
            <ac:picMk id="7" creationId="{1A7D0131-1258-023F-4CB4-F2A07D8476F0}"/>
          </ac:picMkLst>
        </pc:picChg>
      </pc:sldChg>
      <pc:sldChg chg="addSp delSp modSp new mod ord">
        <pc:chgData name="Ledbetter, Alex" userId="d153b8fa-3c9b-43df-bd2d-76d728ff3ff0" providerId="ADAL" clId="{319FC82E-48AE-4E97-A8FE-A4493AC253A4}" dt="2026-09-10T05:41:10.477" v="889" actId="20577"/>
        <pc:sldMkLst>
          <pc:docMk/>
          <pc:sldMk cId="781012418" sldId="345"/>
        </pc:sldMkLst>
        <pc:spChg chg="mod">
          <ac:chgData name="Ledbetter, Alex" userId="d153b8fa-3c9b-43df-bd2d-76d728ff3ff0" providerId="ADAL" clId="{319FC82E-48AE-4E97-A8FE-A4493AC253A4}" dt="2026-09-10T05:41:10.477" v="889" actId="20577"/>
          <ac:spMkLst>
            <pc:docMk/>
            <pc:sldMk cId="781012418" sldId="345"/>
            <ac:spMk id="2" creationId="{CC82921E-F286-391E-FE84-0996B25570A4}"/>
          </ac:spMkLst>
        </pc:spChg>
        <pc:spChg chg="del">
          <ac:chgData name="Ledbetter, Alex" userId="d153b8fa-3c9b-43df-bd2d-76d728ff3ff0" providerId="ADAL" clId="{319FC82E-48AE-4E97-A8FE-A4493AC253A4}" dt="2026-09-09T21:18:12.916" v="717" actId="478"/>
          <ac:spMkLst>
            <pc:docMk/>
            <pc:sldMk cId="781012418" sldId="345"/>
            <ac:spMk id="3" creationId="{DBB1D91F-59BF-AD8E-4881-0C70F5F2D273}"/>
          </ac:spMkLst>
        </pc:spChg>
        <pc:picChg chg="add mod">
          <ac:chgData name="Ledbetter, Alex" userId="d153b8fa-3c9b-43df-bd2d-76d728ff3ff0" providerId="ADAL" clId="{319FC82E-48AE-4E97-A8FE-A4493AC253A4}" dt="2026-09-09T21:18:24.501" v="721" actId="12788"/>
          <ac:picMkLst>
            <pc:docMk/>
            <pc:sldMk cId="781012418" sldId="345"/>
            <ac:picMk id="5" creationId="{DCB3E18F-9E36-2E66-2213-4D76727F08E3}"/>
          </ac:picMkLst>
        </pc:picChg>
      </pc:sldChg>
    </pc:docChg>
  </pc:docChgLst>
  <pc:docChgLst>
    <pc:chgData name="Ledbetter, Alex" userId="S::a.h.ledbetter@tue.nl::d153b8fa-3c9b-43df-bd2d-76d728ff3ff0" providerId="AD" clId="Web-{00000000-0000-0000-0000-000000000000}"/>
    <pc:docChg chg="addSld delSld modSld sldOrd modSection">
      <pc:chgData name="Ledbetter, Alex" userId="S::a.h.ledbetter@tue.nl::d153b8fa-3c9b-43df-bd2d-76d728ff3ff0" providerId="AD" clId="Web-{00000000-0000-0000-0000-000000000000}" dt="2026-09-08T13:09:53.063" v="101"/>
      <pc:docMkLst>
        <pc:docMk/>
      </pc:docMkLst>
      <pc:sldChg chg="modSp">
        <pc:chgData name="Ledbetter, Alex" userId="S::a.h.ledbetter@tue.nl::d153b8fa-3c9b-43df-bd2d-76d728ff3ff0" providerId="AD" clId="Web-{00000000-0000-0000-0000-000000000000}" dt="2026-09-08T13:03:36.486" v="19" actId="20577"/>
        <pc:sldMkLst>
          <pc:docMk/>
          <pc:sldMk cId="0" sldId="260"/>
        </pc:sldMkLst>
        <pc:spChg chg="mod">
          <ac:chgData name="Ledbetter, Alex" userId="S::a.h.ledbetter@tue.nl::d153b8fa-3c9b-43df-bd2d-76d728ff3ff0" providerId="AD" clId="Web-{00000000-0000-0000-0000-000000000000}" dt="2026-09-08T13:03:36.486" v="19" actId="20577"/>
          <ac:spMkLst>
            <pc:docMk/>
            <pc:sldMk cId="0" sldId="260"/>
            <ac:spMk id="9" creationId="{00000000-0000-0000-0000-000000000000}"/>
          </ac:spMkLst>
        </pc:spChg>
      </pc:sldChg>
      <pc:sldChg chg="modSp">
        <pc:chgData name="Ledbetter, Alex" userId="S::a.h.ledbetter@tue.nl::d153b8fa-3c9b-43df-bd2d-76d728ff3ff0" providerId="AD" clId="Web-{00000000-0000-0000-0000-000000000000}" dt="2026-09-08T13:04:22.878" v="25" actId="20577"/>
        <pc:sldMkLst>
          <pc:docMk/>
          <pc:sldMk cId="0" sldId="262"/>
        </pc:sldMkLst>
        <pc:spChg chg="mod">
          <ac:chgData name="Ledbetter, Alex" userId="S::a.h.ledbetter@tue.nl::d153b8fa-3c9b-43df-bd2d-76d728ff3ff0" providerId="AD" clId="Web-{00000000-0000-0000-0000-000000000000}" dt="2026-09-08T13:04:22.878" v="25" actId="20577"/>
          <ac:spMkLst>
            <pc:docMk/>
            <pc:sldMk cId="0" sldId="262"/>
            <ac:spMk id="2" creationId="{00000000-0000-0000-0000-000000000000}"/>
          </ac:spMkLst>
        </pc:spChg>
      </pc:sldChg>
      <pc:sldChg chg="mod modShow">
        <pc:chgData name="Ledbetter, Alex" userId="S::a.h.ledbetter@tue.nl::d153b8fa-3c9b-43df-bd2d-76d728ff3ff0" providerId="AD" clId="Web-{00000000-0000-0000-0000-000000000000}" dt="2026-09-08T13:02:34.374" v="14"/>
        <pc:sldMkLst>
          <pc:docMk/>
          <pc:sldMk cId="0" sldId="270"/>
        </pc:sldMkLst>
      </pc:sldChg>
      <pc:sldChg chg="addSp delSp modSp">
        <pc:chgData name="Ledbetter, Alex" userId="S::a.h.ledbetter@tue.nl::d153b8fa-3c9b-43df-bd2d-76d728ff3ff0" providerId="AD" clId="Web-{00000000-0000-0000-0000-000000000000}" dt="2026-09-08T13:08:46.545" v="92"/>
        <pc:sldMkLst>
          <pc:docMk/>
          <pc:sldMk cId="1665593068" sldId="286"/>
        </pc:sldMkLst>
        <pc:spChg chg="mod">
          <ac:chgData name="Ledbetter, Alex" userId="S::a.h.ledbetter@tue.nl::d153b8fa-3c9b-43df-bd2d-76d728ff3ff0" providerId="AD" clId="Web-{00000000-0000-0000-0000-000000000000}" dt="2026-09-08T13:05:55.491" v="31" actId="20577"/>
          <ac:spMkLst>
            <pc:docMk/>
            <pc:sldMk cId="1665593068" sldId="286"/>
            <ac:spMk id="2" creationId="{A9003C85-2ED4-5032-922C-A109A2C9763A}"/>
          </ac:spMkLst>
        </pc:spChg>
        <pc:spChg chg="mod">
          <ac:chgData name="Ledbetter, Alex" userId="S::a.h.ledbetter@tue.nl::d153b8fa-3c9b-43df-bd2d-76d728ff3ff0" providerId="AD" clId="Web-{00000000-0000-0000-0000-000000000000}" dt="2026-09-08T13:08:46.545" v="92"/>
          <ac:spMkLst>
            <pc:docMk/>
            <pc:sldMk cId="1665593068" sldId="286"/>
            <ac:spMk id="6" creationId="{2C3CB70F-5633-3EBD-1B1B-8F54D3C970B8}"/>
          </ac:spMkLst>
        </pc:spChg>
        <pc:spChg chg="mod">
          <ac:chgData name="Ledbetter, Alex" userId="S::a.h.ledbetter@tue.nl::d153b8fa-3c9b-43df-bd2d-76d728ff3ff0" providerId="AD" clId="Web-{00000000-0000-0000-0000-000000000000}" dt="2026-09-08T13:08:22.591" v="82" actId="1076"/>
          <ac:spMkLst>
            <pc:docMk/>
            <pc:sldMk cId="1665593068" sldId="286"/>
            <ac:spMk id="7" creationId="{8C3CA46A-4744-776F-20BF-542C3F8E0960}"/>
          </ac:spMkLst>
        </pc:spChg>
        <pc:spChg chg="mod">
          <ac:chgData name="Ledbetter, Alex" userId="S::a.h.ledbetter@tue.nl::d153b8fa-3c9b-43df-bd2d-76d728ff3ff0" providerId="AD" clId="Web-{00000000-0000-0000-0000-000000000000}" dt="2026-09-08T13:08:22.607" v="83" actId="1076"/>
          <ac:spMkLst>
            <pc:docMk/>
            <pc:sldMk cId="1665593068" sldId="286"/>
            <ac:spMk id="8" creationId="{A7A1525D-D331-84BD-BE6D-649651932D44}"/>
          </ac:spMkLst>
        </pc:spChg>
        <pc:spChg chg="mod">
          <ac:chgData name="Ledbetter, Alex" userId="S::a.h.ledbetter@tue.nl::d153b8fa-3c9b-43df-bd2d-76d728ff3ff0" providerId="AD" clId="Web-{00000000-0000-0000-0000-000000000000}" dt="2026-09-08T13:08:22.607" v="84" actId="1076"/>
          <ac:spMkLst>
            <pc:docMk/>
            <pc:sldMk cId="1665593068" sldId="286"/>
            <ac:spMk id="9" creationId="{573344DC-942E-59AD-ABD6-CC2BB89AD623}"/>
          </ac:spMkLst>
        </pc:spChg>
        <pc:spChg chg="mod">
          <ac:chgData name="Ledbetter, Alex" userId="S::a.h.ledbetter@tue.nl::d153b8fa-3c9b-43df-bd2d-76d728ff3ff0" providerId="AD" clId="Web-{00000000-0000-0000-0000-000000000000}" dt="2026-09-08T13:08:22.622" v="85" actId="1076"/>
          <ac:spMkLst>
            <pc:docMk/>
            <pc:sldMk cId="1665593068" sldId="286"/>
            <ac:spMk id="10" creationId="{89804900-B886-0BD9-06F0-5E484D0AB683}"/>
          </ac:spMkLst>
        </pc:spChg>
        <pc:spChg chg="mod">
          <ac:chgData name="Ledbetter, Alex" userId="S::a.h.ledbetter@tue.nl::d153b8fa-3c9b-43df-bd2d-76d728ff3ff0" providerId="AD" clId="Web-{00000000-0000-0000-0000-000000000000}" dt="2026-09-08T13:08:22.622" v="86" actId="1076"/>
          <ac:spMkLst>
            <pc:docMk/>
            <pc:sldMk cId="1665593068" sldId="286"/>
            <ac:spMk id="11" creationId="{F596654D-E057-13F6-34B0-A8C04EE1C531}"/>
          </ac:spMkLst>
        </pc:spChg>
      </pc:sldChg>
      <pc:sldChg chg="modSp">
        <pc:chgData name="Ledbetter, Alex" userId="S::a.h.ledbetter@tue.nl::d153b8fa-3c9b-43df-bd2d-76d728ff3ff0" providerId="AD" clId="Web-{00000000-0000-0000-0000-000000000000}" dt="2026-09-08T13:02:22.514" v="13"/>
        <pc:sldMkLst>
          <pc:docMk/>
          <pc:sldMk cId="4050334659" sldId="287"/>
        </pc:sldMkLst>
        <pc:spChg chg="mod">
          <ac:chgData name="Ledbetter, Alex" userId="S::a.h.ledbetter@tue.nl::d153b8fa-3c9b-43df-bd2d-76d728ff3ff0" providerId="AD" clId="Web-{00000000-0000-0000-0000-000000000000}" dt="2026-09-08T13:02:22.514" v="13"/>
          <ac:spMkLst>
            <pc:docMk/>
            <pc:sldMk cId="4050334659" sldId="287"/>
            <ac:spMk id="6" creationId="{B84B2F09-C35E-2F7B-20F8-0C100EBD4368}"/>
          </ac:spMkLst>
        </pc:spChg>
      </pc:sldChg>
      <pc:sldChg chg="mod modShow">
        <pc:chgData name="Ledbetter, Alex" userId="S::a.h.ledbetter@tue.nl::d153b8fa-3c9b-43df-bd2d-76d728ff3ff0" providerId="AD" clId="Web-{00000000-0000-0000-0000-000000000000}" dt="2026-09-08T13:02:13.858" v="11"/>
        <pc:sldMkLst>
          <pc:docMk/>
          <pc:sldMk cId="1209517097" sldId="288"/>
        </pc:sldMkLst>
      </pc:sldChg>
      <pc:sldChg chg="modSp">
        <pc:chgData name="Ledbetter, Alex" userId="S::a.h.ledbetter@tue.nl::d153b8fa-3c9b-43df-bd2d-76d728ff3ff0" providerId="AD" clId="Web-{00000000-0000-0000-0000-000000000000}" dt="2026-09-08T13:00:26.728" v="0"/>
        <pc:sldMkLst>
          <pc:docMk/>
          <pc:sldMk cId="1867932195" sldId="302"/>
        </pc:sldMkLst>
        <pc:spChg chg="mod">
          <ac:chgData name="Ledbetter, Alex" userId="S::a.h.ledbetter@tue.nl::d153b8fa-3c9b-43df-bd2d-76d728ff3ff0" providerId="AD" clId="Web-{00000000-0000-0000-0000-000000000000}" dt="2026-09-08T13:00:26.728" v="0"/>
          <ac:spMkLst>
            <pc:docMk/>
            <pc:sldMk cId="1867932195" sldId="302"/>
            <ac:spMk id="6" creationId="{9D93B0E7-F594-57E0-A565-EFE45373F585}"/>
          </ac:spMkLst>
        </pc:spChg>
      </pc:sldChg>
      <pc:sldChg chg="modSp">
        <pc:chgData name="Ledbetter, Alex" userId="S::a.h.ledbetter@tue.nl::d153b8fa-3c9b-43df-bd2d-76d728ff3ff0" providerId="AD" clId="Web-{00000000-0000-0000-0000-000000000000}" dt="2026-09-08T13:00:36.526" v="1"/>
        <pc:sldMkLst>
          <pc:docMk/>
          <pc:sldMk cId="3464412558" sldId="303"/>
        </pc:sldMkLst>
        <pc:spChg chg="mod">
          <ac:chgData name="Ledbetter, Alex" userId="S::a.h.ledbetter@tue.nl::d153b8fa-3c9b-43df-bd2d-76d728ff3ff0" providerId="AD" clId="Web-{00000000-0000-0000-0000-000000000000}" dt="2026-09-08T13:00:36.526" v="1"/>
          <ac:spMkLst>
            <pc:docMk/>
            <pc:sldMk cId="3464412558" sldId="303"/>
            <ac:spMk id="8" creationId="{CB3D233F-FFF0-97EB-F245-E29DB1CDC51C}"/>
          </ac:spMkLst>
        </pc:spChg>
      </pc:sldChg>
    </pc:docChg>
  </pc:docChgLst>
  <pc:docChgLst>
    <pc:chgData name="Kouw, Wouter" userId="S::w.m.kouw@tue.nl::181af57e-047a-4b62-bb15-f1772c70f045" providerId="AD" clId="Web-{30E0E3F2-3D7E-3F18-4AF0-F3680F0BD635}"/>
    <pc:docChg chg="modSld">
      <pc:chgData name="Kouw, Wouter" userId="S::w.m.kouw@tue.nl::181af57e-047a-4b62-bb15-f1772c70f045" providerId="AD" clId="Web-{30E0E3F2-3D7E-3F18-4AF0-F3680F0BD635}" dt="2026-09-09T20:06:40.539" v="19"/>
      <pc:docMkLst>
        <pc:docMk/>
      </pc:docMkLst>
      <pc:sldChg chg="addSp delSp modSp addAnim delAnim">
        <pc:chgData name="Kouw, Wouter" userId="S::w.m.kouw@tue.nl::181af57e-047a-4b62-bb15-f1772c70f045" providerId="AD" clId="Web-{30E0E3F2-3D7E-3F18-4AF0-F3680F0BD635}" dt="2026-09-09T20:06:40.539" v="19"/>
        <pc:sldMkLst>
          <pc:docMk/>
          <pc:sldMk cId="0" sldId="265"/>
        </pc:sldMkLst>
        <pc:spChg chg="add mod">
          <ac:chgData name="Kouw, Wouter" userId="S::w.m.kouw@tue.nl::181af57e-047a-4b62-bb15-f1772c70f045" providerId="AD" clId="Web-{30E0E3F2-3D7E-3F18-4AF0-F3680F0BD635}" dt="2026-09-09T20:06:40.539" v="19"/>
          <ac:spMkLst>
            <pc:docMk/>
            <pc:sldMk cId="0" sldId="265"/>
            <ac:spMk id="19" creationId="{8FC31451-922F-8970-CFF2-8E55D17BE06C}"/>
          </ac:spMkLst>
        </pc:spChg>
        <pc:picChg chg="del">
          <ac:chgData name="Kouw, Wouter" userId="S::w.m.kouw@tue.nl::181af57e-047a-4b62-bb15-f1772c70f045" providerId="AD" clId="Web-{30E0E3F2-3D7E-3F18-4AF0-F3680F0BD635}" dt="2026-09-09T19:49:14.613" v="0"/>
          <ac:picMkLst>
            <pc:docMk/>
            <pc:sldMk cId="0" sldId="265"/>
            <ac:picMk id="13" creationId="{31C05C6F-909E-41B1-9FCE-53828F6090BB}"/>
          </ac:picMkLst>
        </pc:picChg>
        <pc:picChg chg="del">
          <ac:chgData name="Kouw, Wouter" userId="S::w.m.kouw@tue.nl::181af57e-047a-4b62-bb15-f1772c70f045" providerId="AD" clId="Web-{30E0E3F2-3D7E-3F18-4AF0-F3680F0BD635}" dt="2026-09-09T19:50:21.008" v="8"/>
          <ac:picMkLst>
            <pc:docMk/>
            <pc:sldMk cId="0" sldId="265"/>
            <ac:picMk id="14" creationId="{C740750B-7CDC-50C1-0B29-874093D49E6D}"/>
          </ac:picMkLst>
        </pc:picChg>
        <pc:picChg chg="add del mod">
          <ac:chgData name="Kouw, Wouter" userId="S::w.m.kouw@tue.nl::181af57e-047a-4b62-bb15-f1772c70f045" providerId="AD" clId="Web-{30E0E3F2-3D7E-3F18-4AF0-F3680F0BD635}" dt="2026-09-09T19:49:31.489" v="2"/>
          <ac:picMkLst>
            <pc:docMk/>
            <pc:sldMk cId="0" sldId="265"/>
            <ac:picMk id="15" creationId="{F5EA39DA-E903-A37C-4945-0DEEF91F632C}"/>
          </ac:picMkLst>
        </pc:picChg>
        <pc:picChg chg="add mod">
          <ac:chgData name="Kouw, Wouter" userId="S::w.m.kouw@tue.nl::181af57e-047a-4b62-bb15-f1772c70f045" providerId="AD" clId="Web-{30E0E3F2-3D7E-3F18-4AF0-F3680F0BD635}" dt="2026-09-09T19:55:00.010" v="17" actId="1076"/>
          <ac:picMkLst>
            <pc:docMk/>
            <pc:sldMk cId="0" sldId="265"/>
            <ac:picMk id="16" creationId="{948166E2-FCF5-D2D5-A35B-6DE9654BD155}"/>
          </ac:picMkLst>
        </pc:picChg>
        <pc:picChg chg="add mod modCrop">
          <ac:chgData name="Kouw, Wouter" userId="S::w.m.kouw@tue.nl::181af57e-047a-4b62-bb15-f1772c70f045" providerId="AD" clId="Web-{30E0E3F2-3D7E-3F18-4AF0-F3680F0BD635}" dt="2026-09-09T19:53:40.442" v="13" actId="1076"/>
          <ac:picMkLst>
            <pc:docMk/>
            <pc:sldMk cId="0" sldId="265"/>
            <ac:picMk id="17" creationId="{2CAB5B84-ABF5-6F6E-A331-EC4CCEC5D269}"/>
          </ac:picMkLst>
        </pc:picChg>
      </pc:sldChg>
    </pc:docChg>
  </pc:docChgLst>
  <pc:docChgLst>
    <pc:chgData name="Lukashchuk, Mykola" userId="S::m.lukashchuk@tue.nl::927e6d68-6a86-46af-a647-c6abd25dd571" providerId="AD" clId="Web-{AE474C23-50B6-F2CE-C5B2-6BCEEE422F98}"/>
    <pc:docChg chg="addSld delSld modSld modSection">
      <pc:chgData name="Lukashchuk, Mykola" userId="S::m.lukashchuk@tue.nl::927e6d68-6a86-46af-a647-c6abd25dd571" providerId="AD" clId="Web-{AE474C23-50B6-F2CE-C5B2-6BCEEE422F98}" dt="2026-09-06T16:50:02.207" v="107"/>
      <pc:docMkLst>
        <pc:docMk/>
      </pc:docMkLst>
      <pc:sldChg chg="addSp modSp add replId">
        <pc:chgData name="Lukashchuk, Mykola" userId="S::m.lukashchuk@tue.nl::927e6d68-6a86-46af-a647-c6abd25dd571" providerId="AD" clId="Web-{AE474C23-50B6-F2CE-C5B2-6BCEEE422F98}" dt="2026-09-06T16:28:20.458" v="105" actId="1076"/>
        <pc:sldMkLst>
          <pc:docMk/>
          <pc:sldMk cId="983798404" sldId="319"/>
        </pc:sldMkLst>
        <pc:picChg chg="add mod">
          <ac:chgData name="Lukashchuk, Mykola" userId="S::m.lukashchuk@tue.nl::927e6d68-6a86-46af-a647-c6abd25dd571" providerId="AD" clId="Web-{AE474C23-50B6-F2CE-C5B2-6BCEEE422F98}" dt="2026-09-06T16:28:12.145" v="103" actId="1076"/>
          <ac:picMkLst>
            <pc:docMk/>
            <pc:sldMk cId="983798404" sldId="319"/>
            <ac:picMk id="3" creationId="{33FD4993-3EE7-8CA4-BA85-8388612C4D53}"/>
          </ac:picMkLst>
        </pc:picChg>
        <pc:picChg chg="add mod">
          <ac:chgData name="Lukashchuk, Mykola" userId="S::m.lukashchuk@tue.nl::927e6d68-6a86-46af-a647-c6abd25dd571" providerId="AD" clId="Web-{AE474C23-50B6-F2CE-C5B2-6BCEEE422F98}" dt="2026-09-06T16:28:08.316" v="102" actId="1076"/>
          <ac:picMkLst>
            <pc:docMk/>
            <pc:sldMk cId="983798404" sldId="319"/>
            <ac:picMk id="4" creationId="{334DDA21-51B6-FB6A-C638-2D1EABE10872}"/>
          </ac:picMkLst>
        </pc:picChg>
        <pc:picChg chg="add mod">
          <ac:chgData name="Lukashchuk, Mykola" userId="S::m.lukashchuk@tue.nl::927e6d68-6a86-46af-a647-c6abd25dd571" providerId="AD" clId="Web-{AE474C23-50B6-F2CE-C5B2-6BCEEE422F98}" dt="2026-09-06T16:28:20.458" v="105" actId="1076"/>
          <ac:picMkLst>
            <pc:docMk/>
            <pc:sldMk cId="983798404" sldId="319"/>
            <ac:picMk id="7" creationId="{4A0E661C-110B-F0AC-7C21-7CCDC0A3901E}"/>
          </ac:picMkLst>
        </pc:picChg>
      </pc:sldChg>
    </pc:docChg>
  </pc:docChgLst>
  <pc:docChgLst>
    <pc:chgData name="Lukashchuk, Mykola" userId="S::m.lukashchuk@tue.nl::927e6d68-6a86-46af-a647-c6abd25dd571" providerId="AD" clId="Web-{00000000-0000-0000-0000-000000000000}"/>
    <pc:docChg chg="addSld delSld modSld sldOrd modSection">
      <pc:chgData name="Lukashchuk, Mykola" userId="S::m.lukashchuk@tue.nl::927e6d68-6a86-46af-a647-c6abd25dd571" providerId="AD" clId="Web-{00000000-0000-0000-0000-000000000000}" dt="2026-09-06T16:54:24.694" v="69" actId="1076"/>
      <pc:docMkLst>
        <pc:docMk/>
      </pc:docMkLst>
      <pc:sldChg chg="addSp modSp">
        <pc:chgData name="Lukashchuk, Mykola" userId="S::m.lukashchuk@tue.nl::927e6d68-6a86-46af-a647-c6abd25dd571" providerId="AD" clId="Web-{00000000-0000-0000-0000-000000000000}" dt="2026-09-06T16:54:24.694" v="69" actId="1076"/>
        <pc:sldMkLst>
          <pc:docMk/>
          <pc:sldMk cId="1251935138" sldId="311"/>
        </pc:sldMkLst>
        <pc:picChg chg="add mod">
          <ac:chgData name="Lukashchuk, Mykola" userId="S::m.lukashchuk@tue.nl::927e6d68-6a86-46af-a647-c6abd25dd571" providerId="AD" clId="Web-{00000000-0000-0000-0000-000000000000}" dt="2026-09-06T16:52:48.957" v="65" actId="1076"/>
          <ac:picMkLst>
            <pc:docMk/>
            <pc:sldMk cId="1251935138" sldId="311"/>
            <ac:picMk id="3" creationId="{0C5FB141-2194-2766-C09C-02C3ECF796B7}"/>
          </ac:picMkLst>
        </pc:picChg>
        <pc:picChg chg="add mod">
          <ac:chgData name="Lukashchuk, Mykola" userId="S::m.lukashchuk@tue.nl::927e6d68-6a86-46af-a647-c6abd25dd571" providerId="AD" clId="Web-{00000000-0000-0000-0000-000000000000}" dt="2026-09-06T16:54:24.694" v="69" actId="1076"/>
          <ac:picMkLst>
            <pc:docMk/>
            <pc:sldMk cId="1251935138" sldId="311"/>
            <ac:picMk id="4" creationId="{C71F9212-6173-E517-C9A9-9945D365D7F1}"/>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43AB38A-B1B6-4CF4-9737-E1E5C73DA86F}" type="datetimeFigureOut">
              <a:rPr lang="nl-NL" smtClean="0"/>
              <a:t>10-9-2026</a:t>
            </a:fld>
            <a:endParaRPr lang="nl-NL"/>
          </a:p>
        </p:txBody>
      </p:sp>
      <p:sp>
        <p:nvSpPr>
          <p:cNvPr id="4" name="Tijdelijke aanduiding voor voettekst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F1B330-1C2E-47C6-8A9D-1114F90E79D8}" type="slidenum">
              <a:rPr lang="nl-NL" smtClean="0"/>
              <a:t>‹#›</a:t>
            </a:fld>
            <a:endParaRPr lang="nl-NL"/>
          </a:p>
        </p:txBody>
      </p:sp>
    </p:spTree>
    <p:extLst>
      <p:ext uri="{BB962C8B-B14F-4D97-AF65-F5344CB8AC3E}">
        <p14:creationId xmlns:p14="http://schemas.microsoft.com/office/powerpoint/2010/main" val="29368787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012C6B-C807-4014-B6D4-CCA33426A2F8}" type="datetimeFigureOut">
              <a:rPr lang="nl-NL" smtClean="0"/>
              <a:t>10-9-2026</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05A9740-BD37-4DCA-BDC4-7DBBAE15FA30}" type="slidenum">
              <a:rPr lang="nl-NL" smtClean="0"/>
              <a:t>‹#›</a:t>
            </a:fld>
            <a:endParaRPr lang="nl-NL"/>
          </a:p>
        </p:txBody>
      </p:sp>
    </p:spTree>
    <p:extLst>
      <p:ext uri="{BB962C8B-B14F-4D97-AF65-F5344CB8AC3E}">
        <p14:creationId xmlns:p14="http://schemas.microsoft.com/office/powerpoint/2010/main" val="952505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685800" y="1143000"/>
            <a:ext cx="5486400" cy="3086100"/>
          </a:xfrm>
        </p:spPr>
      </p:sp>
      <p:sp>
        <p:nvSpPr>
          <p:cNvPr id="3" name="Tijdelijke aanduiding voor notities 2"/>
          <p:cNvSpPr>
            <a:spLocks noGrp="1"/>
          </p:cNvSpPr>
          <p:nvPr>
            <p:ph type="body" idx="1"/>
          </p:nvPr>
        </p:nvSpPr>
        <p:spPr/>
        <p:txBody>
          <a:bodyPr/>
          <a:lstStyle/>
          <a:p>
            <a:endParaRPr lang="en-US"/>
          </a:p>
        </p:txBody>
      </p:sp>
      <p:sp>
        <p:nvSpPr>
          <p:cNvPr id="4" name="Tijdelijke aanduiding voor dianummer 3"/>
          <p:cNvSpPr>
            <a:spLocks noGrp="1"/>
          </p:cNvSpPr>
          <p:nvPr>
            <p:ph type="sldNum" sz="quarter" idx="10"/>
          </p:nvPr>
        </p:nvSpPr>
        <p:spPr/>
        <p:txBody>
          <a:bodyPr/>
          <a:lstStyle/>
          <a:p>
            <a:fld id="{E05A9740-BD37-4DCA-BDC4-7DBBAE15FA30}" type="slidenum">
              <a:rPr lang="en-US" smtClean="0"/>
              <a:t>1</a:t>
            </a:fld>
            <a:endParaRPr lang="en-US"/>
          </a:p>
        </p:txBody>
      </p:sp>
    </p:spTree>
    <p:extLst>
      <p:ext uri="{BB962C8B-B14F-4D97-AF65-F5344CB8AC3E}">
        <p14:creationId xmlns:p14="http://schemas.microsoft.com/office/powerpoint/2010/main" val="23973968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2D407-3971-BDD2-6C4B-2856FD0C35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370972-CB69-2E57-5F6F-91866EE952C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FB65FD6-7BE0-FBB9-C561-60C90219E31E}"/>
              </a:ext>
            </a:extLst>
          </p:cNvPr>
          <p:cNvSpPr>
            <a:spLocks noGrp="1"/>
          </p:cNvSpPr>
          <p:nvPr>
            <p:ph type="body" sz="quarter" idx="3"/>
          </p:nvPr>
        </p:nvSpPr>
        <p:spPr/>
        <p:txBody>
          <a:bodyPr/>
          <a:lstStyle/>
          <a:p>
            <a:endParaRPr/>
          </a:p>
        </p:txBody>
      </p:sp>
      <p:sp>
        <p:nvSpPr>
          <p:cNvPr id="4" name="Slide Number Placeholder 3">
            <a:extLst>
              <a:ext uri="{FF2B5EF4-FFF2-40B4-BE49-F238E27FC236}">
                <a16:creationId xmlns:a16="http://schemas.microsoft.com/office/drawing/2014/main" id="{2DB8E472-852D-D18F-771E-1E8191C6903B}"/>
              </a:ext>
            </a:extLst>
          </p:cNvPr>
          <p:cNvSpPr>
            <a:spLocks noGrp="1"/>
          </p:cNvSpPr>
          <p:nvPr>
            <p:ph type="sldNum" sz="quarter" idx="5"/>
          </p:nvPr>
        </p:nvSpPr>
        <p:spPr/>
      </p:sp>
    </p:spTree>
    <p:extLst>
      <p:ext uri="{BB962C8B-B14F-4D97-AF65-F5344CB8AC3E}">
        <p14:creationId xmlns:p14="http://schemas.microsoft.com/office/powerpoint/2010/main" val="9339981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C5783-11FF-2D80-4011-79D85ED632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45D7E0-0292-29BD-EAD4-D9158CA631E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C9A02DE-17A8-224A-F2E9-A50C0B7F3108}"/>
              </a:ext>
            </a:extLst>
          </p:cNvPr>
          <p:cNvSpPr>
            <a:spLocks noGrp="1"/>
          </p:cNvSpPr>
          <p:nvPr>
            <p:ph type="body" sz="quarter" idx="3"/>
          </p:nvPr>
        </p:nvSpPr>
        <p:spPr/>
        <p:txBody>
          <a:bodyPr/>
          <a:lstStyle/>
          <a:p>
            <a:endParaRPr/>
          </a:p>
        </p:txBody>
      </p:sp>
      <p:sp>
        <p:nvSpPr>
          <p:cNvPr id="4" name="Slide Number Placeholder 3">
            <a:extLst>
              <a:ext uri="{FF2B5EF4-FFF2-40B4-BE49-F238E27FC236}">
                <a16:creationId xmlns:a16="http://schemas.microsoft.com/office/drawing/2014/main" id="{2886B761-B97A-23D2-BB45-8EDC9C3BEC9D}"/>
              </a:ext>
            </a:extLst>
          </p:cNvPr>
          <p:cNvSpPr>
            <a:spLocks noGrp="1"/>
          </p:cNvSpPr>
          <p:nvPr>
            <p:ph type="sldNum" sz="quarter" idx="5"/>
          </p:nvPr>
        </p:nvSpPr>
        <p:spPr/>
      </p:sp>
    </p:spTree>
    <p:extLst>
      <p:ext uri="{BB962C8B-B14F-4D97-AF65-F5344CB8AC3E}">
        <p14:creationId xmlns:p14="http://schemas.microsoft.com/office/powerpoint/2010/main" val="1134415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68EDD-BDCC-4AE3-44BF-C62D4F0A9B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88A941-AA37-B12C-B90C-C39FABCAF7A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AEF94E9-F857-4435-25FA-92ACAA2E6E1F}"/>
              </a:ext>
            </a:extLst>
          </p:cNvPr>
          <p:cNvSpPr>
            <a:spLocks noGrp="1"/>
          </p:cNvSpPr>
          <p:nvPr>
            <p:ph type="body" sz="quarter" idx="3"/>
          </p:nvPr>
        </p:nvSpPr>
        <p:spPr/>
        <p:txBody>
          <a:bodyPr/>
          <a:lstStyle/>
          <a:p>
            <a:endParaRPr/>
          </a:p>
        </p:txBody>
      </p:sp>
      <p:sp>
        <p:nvSpPr>
          <p:cNvPr id="4" name="Slide Number Placeholder 3">
            <a:extLst>
              <a:ext uri="{FF2B5EF4-FFF2-40B4-BE49-F238E27FC236}">
                <a16:creationId xmlns:a16="http://schemas.microsoft.com/office/drawing/2014/main" id="{3481DA2B-684C-7930-923B-8E665ABEA033}"/>
              </a:ext>
            </a:extLst>
          </p:cNvPr>
          <p:cNvSpPr>
            <a:spLocks noGrp="1"/>
          </p:cNvSpPr>
          <p:nvPr>
            <p:ph type="sldNum" sz="quarter" idx="5"/>
          </p:nvPr>
        </p:nvSpPr>
        <p:spPr/>
      </p:sp>
    </p:spTree>
    <p:extLst>
      <p:ext uri="{BB962C8B-B14F-4D97-AF65-F5344CB8AC3E}">
        <p14:creationId xmlns:p14="http://schemas.microsoft.com/office/powerpoint/2010/main" val="24989752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B1A9-717D-E7F6-9262-2AD03B6C3A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06AF45-4FDB-23E4-AD10-067ACDE4393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7EFDE39-1E73-3710-713E-ABD73FF648D3}"/>
              </a:ext>
            </a:extLst>
          </p:cNvPr>
          <p:cNvSpPr>
            <a:spLocks noGrp="1"/>
          </p:cNvSpPr>
          <p:nvPr>
            <p:ph type="body" sz="quarter" idx="3"/>
          </p:nvPr>
        </p:nvSpPr>
        <p:spPr/>
        <p:txBody>
          <a:bodyPr/>
          <a:lstStyle/>
          <a:p>
            <a:endParaRPr/>
          </a:p>
        </p:txBody>
      </p:sp>
      <p:sp>
        <p:nvSpPr>
          <p:cNvPr id="4" name="Slide Number Placeholder 3">
            <a:extLst>
              <a:ext uri="{FF2B5EF4-FFF2-40B4-BE49-F238E27FC236}">
                <a16:creationId xmlns:a16="http://schemas.microsoft.com/office/drawing/2014/main" id="{06160EF2-CBFF-B957-C6ED-DCEC13005D4D}"/>
              </a:ext>
            </a:extLst>
          </p:cNvPr>
          <p:cNvSpPr>
            <a:spLocks noGrp="1"/>
          </p:cNvSpPr>
          <p:nvPr>
            <p:ph type="sldNum" sz="quarter" idx="5"/>
          </p:nvPr>
        </p:nvSpPr>
        <p:spPr/>
      </p:sp>
    </p:spTree>
    <p:extLst>
      <p:ext uri="{BB962C8B-B14F-4D97-AF65-F5344CB8AC3E}">
        <p14:creationId xmlns:p14="http://schemas.microsoft.com/office/powerpoint/2010/main" val="38872708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FAEA29-710C-9E4D-9315-BF72DAEE6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F9A38-F821-FBE1-4A8F-3715A5BE7DF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D7FD635-873C-0E35-98F0-3A8FDE1A573C}"/>
              </a:ext>
            </a:extLst>
          </p:cNvPr>
          <p:cNvSpPr>
            <a:spLocks noGrp="1"/>
          </p:cNvSpPr>
          <p:nvPr>
            <p:ph type="body" sz="quarter" idx="3"/>
          </p:nvPr>
        </p:nvSpPr>
        <p:spPr/>
        <p:txBody>
          <a:bodyPr/>
          <a:lstStyle/>
          <a:p>
            <a:endParaRPr/>
          </a:p>
        </p:txBody>
      </p:sp>
      <p:sp>
        <p:nvSpPr>
          <p:cNvPr id="4" name="Slide Number Placeholder 3">
            <a:extLst>
              <a:ext uri="{FF2B5EF4-FFF2-40B4-BE49-F238E27FC236}">
                <a16:creationId xmlns:a16="http://schemas.microsoft.com/office/drawing/2014/main" id="{2363DFBA-2138-FB06-ADDA-804E2F5583E1}"/>
              </a:ext>
            </a:extLst>
          </p:cNvPr>
          <p:cNvSpPr>
            <a:spLocks noGrp="1"/>
          </p:cNvSpPr>
          <p:nvPr>
            <p:ph type="sldNum" sz="quarter" idx="5"/>
          </p:nvPr>
        </p:nvSpPr>
        <p:spPr/>
      </p:sp>
    </p:spTree>
    <p:extLst>
      <p:ext uri="{BB962C8B-B14F-4D97-AF65-F5344CB8AC3E}">
        <p14:creationId xmlns:p14="http://schemas.microsoft.com/office/powerpoint/2010/main" val="25628695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8EA82-AA5A-AB00-2AB9-5178706C04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18F029-4141-C4AC-DF08-D87C62F2199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FC5447A-8D78-BC4D-E242-1E122E8F43F9}"/>
              </a:ext>
            </a:extLst>
          </p:cNvPr>
          <p:cNvSpPr>
            <a:spLocks noGrp="1"/>
          </p:cNvSpPr>
          <p:nvPr>
            <p:ph type="body" sz="quarter" idx="3"/>
          </p:nvPr>
        </p:nvSpPr>
        <p:spPr/>
        <p:txBody>
          <a:bodyPr/>
          <a:lstStyle/>
          <a:p>
            <a:endParaRPr/>
          </a:p>
        </p:txBody>
      </p:sp>
      <p:sp>
        <p:nvSpPr>
          <p:cNvPr id="4" name="Slide Number Placeholder 3">
            <a:extLst>
              <a:ext uri="{FF2B5EF4-FFF2-40B4-BE49-F238E27FC236}">
                <a16:creationId xmlns:a16="http://schemas.microsoft.com/office/drawing/2014/main" id="{FB15BF5D-7B0E-D687-E212-1056C4161EFB}"/>
              </a:ext>
            </a:extLst>
          </p:cNvPr>
          <p:cNvSpPr>
            <a:spLocks noGrp="1"/>
          </p:cNvSpPr>
          <p:nvPr>
            <p:ph type="sldNum" sz="quarter" idx="5"/>
          </p:nvPr>
        </p:nvSpPr>
        <p:spPr/>
      </p:sp>
    </p:spTree>
    <p:extLst>
      <p:ext uri="{BB962C8B-B14F-4D97-AF65-F5344CB8AC3E}">
        <p14:creationId xmlns:p14="http://schemas.microsoft.com/office/powerpoint/2010/main" val="79195694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7FEE5-28DB-8BDC-45A9-F674C3CB70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4B6FAE-7BB4-9BA1-648A-FE3025663E3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E78896A-700D-9EE1-ACCD-1F91A065DC29}"/>
              </a:ext>
            </a:extLst>
          </p:cNvPr>
          <p:cNvSpPr>
            <a:spLocks noGrp="1"/>
          </p:cNvSpPr>
          <p:nvPr>
            <p:ph type="body" sz="quarter" idx="3"/>
          </p:nvPr>
        </p:nvSpPr>
        <p:spPr/>
        <p:txBody>
          <a:bodyPr/>
          <a:lstStyle/>
          <a:p>
            <a:r>
              <a:rPr lang="en-US"/>
              <a:t>Outline</a:t>
            </a:r>
          </a:p>
          <a:p>
            <a:endParaRPr lang="en-US"/>
          </a:p>
          <a:p>
            <a:endParaRPr lang="en-US"/>
          </a:p>
          <a:p>
            <a:endParaRPr lang="en-US"/>
          </a:p>
          <a:p>
            <a:endParaRPr lang="en-US"/>
          </a:p>
          <a:p>
            <a:endParaRPr lang="en-US"/>
          </a:p>
          <a:p>
            <a:endParaRPr lang="en-US"/>
          </a:p>
          <a:p>
            <a:endParaRPr lang="en-US"/>
          </a:p>
          <a:p>
            <a:endParaRPr lang="en-US"/>
          </a:p>
        </p:txBody>
      </p:sp>
      <p:sp>
        <p:nvSpPr>
          <p:cNvPr id="4" name="Slide Number Placeholder 3">
            <a:extLst>
              <a:ext uri="{FF2B5EF4-FFF2-40B4-BE49-F238E27FC236}">
                <a16:creationId xmlns:a16="http://schemas.microsoft.com/office/drawing/2014/main" id="{D2223061-14B6-D8CC-9769-A232035D32C6}"/>
              </a:ext>
            </a:extLst>
          </p:cNvPr>
          <p:cNvSpPr>
            <a:spLocks noGrp="1"/>
          </p:cNvSpPr>
          <p:nvPr>
            <p:ph type="sldNum" sz="quarter" idx="5"/>
          </p:nvPr>
        </p:nvSpPr>
        <p:spPr/>
      </p:sp>
    </p:spTree>
    <p:extLst>
      <p:ext uri="{BB962C8B-B14F-4D97-AF65-F5344CB8AC3E}">
        <p14:creationId xmlns:p14="http://schemas.microsoft.com/office/powerpoint/2010/main" val="24810028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E54F0-C5EA-6F76-319F-0E01C7DA03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89742E-7559-4D10-6313-AAD7E7AD4B5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DA78496-6D9F-31CF-16C5-434AAE77BB6A}"/>
              </a:ext>
            </a:extLst>
          </p:cNvPr>
          <p:cNvSpPr>
            <a:spLocks noGrp="1"/>
          </p:cNvSpPr>
          <p:nvPr>
            <p:ph type="body" sz="quarter" idx="3"/>
          </p:nvPr>
        </p:nvSpPr>
        <p:spPr/>
        <p:txBody>
          <a:bodyPr/>
          <a:lstStyle/>
          <a:p>
            <a:r>
              <a:rPr lang="en-US"/>
              <a:t>Outline</a:t>
            </a:r>
          </a:p>
          <a:p>
            <a:endParaRPr lang="en-US"/>
          </a:p>
          <a:p>
            <a:endParaRPr lang="en-US"/>
          </a:p>
          <a:p>
            <a:endParaRPr lang="en-US"/>
          </a:p>
          <a:p>
            <a:endParaRPr lang="en-US"/>
          </a:p>
          <a:p>
            <a:endParaRPr lang="en-US"/>
          </a:p>
          <a:p>
            <a:endParaRPr lang="en-US"/>
          </a:p>
          <a:p>
            <a:endParaRPr lang="en-US"/>
          </a:p>
          <a:p>
            <a:endParaRPr lang="en-US"/>
          </a:p>
        </p:txBody>
      </p:sp>
      <p:sp>
        <p:nvSpPr>
          <p:cNvPr id="4" name="Slide Number Placeholder 3">
            <a:extLst>
              <a:ext uri="{FF2B5EF4-FFF2-40B4-BE49-F238E27FC236}">
                <a16:creationId xmlns:a16="http://schemas.microsoft.com/office/drawing/2014/main" id="{C85A47EC-F299-358D-157A-FA323A1CA00D}"/>
              </a:ext>
            </a:extLst>
          </p:cNvPr>
          <p:cNvSpPr>
            <a:spLocks noGrp="1"/>
          </p:cNvSpPr>
          <p:nvPr>
            <p:ph type="sldNum" sz="quarter" idx="5"/>
          </p:nvPr>
        </p:nvSpPr>
        <p:spPr/>
      </p:sp>
    </p:spTree>
    <p:extLst>
      <p:ext uri="{BB962C8B-B14F-4D97-AF65-F5344CB8AC3E}">
        <p14:creationId xmlns:p14="http://schemas.microsoft.com/office/powerpoint/2010/main" val="21514322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***Setup***</a:t>
            </a:r>
          </a:p>
          <a:p>
            <a:endParaRPr lang="en-US"/>
          </a:p>
          <a:p>
            <a:r>
              <a:rPr lang="en-US"/>
              <a:t>Restate the goal: Want to solve Ax=b for x for given matrix A and vector b. [show Ax=b]</a:t>
            </a:r>
          </a:p>
          <a:p>
            <a:endParaRPr lang="en-US"/>
          </a:p>
          <a:p>
            <a:r>
              <a:rPr lang="en-US"/>
              <a:t>Reference Shantal – “As shown by Shantal et al. there exists a quadratic energy function whose mode encodes the solution to Ax=b - the simple multivariate Gaussian” – [show p(x) ..]</a:t>
            </a:r>
          </a:p>
          <a:p>
            <a:endParaRPr lang="en-US"/>
          </a:p>
          <a:p>
            <a:r>
              <a:rPr lang="en-US"/>
              <a:t>This is shown because where the gradient of log p(x) </a:t>
            </a:r>
            <a:r>
              <a:rPr lang="en-US" err="1"/>
              <a:t>w.r.t.</a:t>
            </a:r>
            <a:r>
              <a:rPr lang="en-US"/>
              <a:t> x equals 0, we find the mode, </a:t>
            </a:r>
          </a:p>
          <a:p>
            <a:endParaRPr lang="en-US"/>
          </a:p>
          <a:p>
            <a:r>
              <a:rPr lang="en-US"/>
              <a:t>and evaluating this gradient, we find it to be equal to -Ax + b. [show grad log </a:t>
            </a:r>
            <a:r>
              <a:rPr lang="en-US" err="1"/>
              <a:t>px</a:t>
            </a:r>
            <a:r>
              <a:rPr lang="en-US"/>
              <a:t> = -Ax +b]</a:t>
            </a:r>
          </a:p>
          <a:p>
            <a:endParaRPr lang="en-US"/>
          </a:p>
          <a:p>
            <a:r>
              <a:rPr lang="en-US"/>
              <a:t>Therefore, the x-configuration at the mode of p(x) is x = A^{-1}b [show x = ..]</a:t>
            </a:r>
          </a:p>
          <a:p>
            <a:endParaRPr lang="en-US"/>
          </a:p>
          <a:p>
            <a:r>
              <a:rPr lang="en-US"/>
              <a:t>Similarly, we can identify the mean of a multivariate Gaussian to be, as a function of its natural parameters (precision-weighted mean and precision, or information vector/matrix), mu = Lambda^{-1} eta, and thus encoding A and b and Lambda and eta, we identify the mean of the Gaussian with our solution.</a:t>
            </a:r>
          </a:p>
          <a:p>
            <a:endParaRPr lang="en-US"/>
          </a:p>
          <a:p>
            <a:r>
              <a:rPr lang="en-US"/>
              <a:t>With this understanding, then, we seek a means to determine a mode/mean of a multivariate Gaussian without directly inverting the possibly very large precision matrix A.</a:t>
            </a:r>
          </a:p>
          <a:p>
            <a:endParaRPr lang="en-US"/>
          </a:p>
          <a:p>
            <a:r>
              <a:rPr lang="en-US"/>
              <a:t>“Shantal et al. then also show that the mode could be reliably found by message passing on a probabilistic graph. [Show generic grid graph]</a:t>
            </a:r>
          </a:p>
          <a:p>
            <a:endParaRPr lang="en-US"/>
          </a:p>
          <a:p>
            <a:r>
              <a:rPr lang="en-US"/>
              <a:t>Specifically, they encode the Gaussian in a specific type of probabilistic graph known as a Gaussian Markov Random Field. [Show the fancy one]</a:t>
            </a:r>
          </a:p>
          <a:p>
            <a:endParaRPr lang="en-US"/>
          </a:p>
          <a:p>
            <a:r>
              <a:rPr lang="en-US"/>
              <a:t>To do this, we note that a Gaussian is quadratic [show energy function and summation form]</a:t>
            </a:r>
          </a:p>
          <a:p>
            <a:endParaRPr lang="en-US"/>
          </a:p>
          <a:p>
            <a:r>
              <a:rPr lang="en-US"/>
              <a:t>and can be factorized into a product of unary and binary factors, phi and psi. [show product and phi and psi] </a:t>
            </a:r>
          </a:p>
          <a:p>
            <a:endParaRPr lang="en-US"/>
          </a:p>
          <a:p>
            <a:r>
              <a:rPr lang="en-US"/>
              <a:t>These factors are then what we find in the graph. </a:t>
            </a:r>
          </a:p>
          <a:p>
            <a:endParaRPr lang="en-US"/>
          </a:p>
          <a:p>
            <a:r>
              <a:rPr lang="en-US"/>
              <a:t>We instead take a more general, modern approach, and encode the same Gaussian in what is called a Forney-style Factor Graph, or FFG. [show Mykola’s FFG]</a:t>
            </a:r>
          </a:p>
          <a:p>
            <a:endParaRPr lang="en-US"/>
          </a:p>
          <a:p>
            <a:r>
              <a:rPr lang="en-US"/>
              <a:t>In either case, a method called message-passing is used to infer the solution. (Read and show) [Message-passing is a scalable, distributed approach to approximate </a:t>
            </a:r>
            <a:r>
              <a:rPr lang="en-US" b="1"/>
              <a:t>marginal</a:t>
            </a:r>
            <a:r>
              <a:rPr lang="en-US"/>
              <a:t> inference.] </a:t>
            </a:r>
          </a:p>
          <a:p>
            <a:endParaRPr lang="en-US"/>
          </a:p>
          <a:p>
            <a:r>
              <a:rPr lang="en-US"/>
              <a:t>This means we infer the marginal distributions for each latent variable in a probabilistic model, in this case, we infer [q(</a:t>
            </a:r>
            <a:r>
              <a:rPr lang="en-US" err="1"/>
              <a:t>x_i</a:t>
            </a:r>
            <a:r>
              <a:rPr lang="en-US"/>
              <a:t>) for each variable </a:t>
            </a:r>
            <a:r>
              <a:rPr lang="en-US" err="1"/>
              <a:t>x_i</a:t>
            </a:r>
            <a:r>
              <a:rPr lang="en-US"/>
              <a:t> in the state vector x.] </a:t>
            </a:r>
          </a:p>
          <a:p>
            <a:endParaRPr lang="en-US"/>
          </a:p>
          <a:p>
            <a:r>
              <a:rPr lang="en-US"/>
              <a:t>By then stacking the means of these marginals, we can recover the mode of the distribution and thus our solution x = A^{-1}b. [show the x=A^[-1]b=[…]]</a:t>
            </a:r>
          </a:p>
          <a:p>
            <a:endParaRPr lang="en-US"/>
          </a:p>
          <a:p>
            <a:r>
              <a:rPr lang="en-US"/>
              <a:t>Note that we do not recover the complete inverse matrix A^{-1}, only the matrix-vector product, A^{-1}b. </a:t>
            </a:r>
          </a:p>
          <a:p>
            <a:endParaRPr lang="en-US"/>
          </a:p>
          <a:p>
            <a:r>
              <a:rPr lang="en-US"/>
              <a:t>We will now review how to encode this multivariate Gaussian distribution as a factor-graph, and then how to perform message-passing to recover its mode and our solution.</a:t>
            </a:r>
            <a:endParaRPr lang="LID4096"/>
          </a:p>
        </p:txBody>
      </p:sp>
      <p:sp>
        <p:nvSpPr>
          <p:cNvPr id="4" name="Slide Number Placeholder 3"/>
          <p:cNvSpPr>
            <a:spLocks noGrp="1"/>
          </p:cNvSpPr>
          <p:nvPr>
            <p:ph type="sldNum" sz="quarter" idx="5"/>
          </p:nvPr>
        </p:nvSpPr>
        <p:spPr/>
        <p:txBody>
          <a:bodyPr/>
          <a:lstStyle/>
          <a:p>
            <a:fld id="{E05A9740-BD37-4DCA-BDC4-7DBBAE15FA30}" type="slidenum">
              <a:rPr lang="nl-NL" smtClean="0"/>
              <a:t>20</a:t>
            </a:fld>
            <a:endParaRPr lang="nl-NL"/>
          </a:p>
        </p:txBody>
      </p:sp>
    </p:spTree>
    <p:extLst>
      <p:ext uri="{BB962C8B-B14F-4D97-AF65-F5344CB8AC3E}">
        <p14:creationId xmlns:p14="http://schemas.microsoft.com/office/powerpoint/2010/main" val="34576657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9BCB6-55F4-2A01-A440-B755BCFEEC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2CB8C5-732D-4289-2956-83F73FF6C3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97A0C1-EA47-707C-2579-EEB19BAB917E}"/>
              </a:ext>
            </a:extLst>
          </p:cNvPr>
          <p:cNvSpPr>
            <a:spLocks noGrp="1"/>
          </p:cNvSpPr>
          <p:nvPr>
            <p:ph type="body" idx="1"/>
          </p:nvPr>
        </p:nvSpPr>
        <p:spPr/>
        <p:txBody>
          <a:bodyPr/>
          <a:lstStyle/>
          <a:p>
            <a:r>
              <a:rPr lang="en-US"/>
              <a:t>***Setup***</a:t>
            </a:r>
          </a:p>
          <a:p>
            <a:endParaRPr lang="en-US"/>
          </a:p>
          <a:p>
            <a:r>
              <a:rPr lang="en-US"/>
              <a:t>Restate the goal: Want to solve Ax=b for x for given matrix A and vector b. [show Ax=b]</a:t>
            </a:r>
          </a:p>
          <a:p>
            <a:endParaRPr lang="en-US"/>
          </a:p>
          <a:p>
            <a:r>
              <a:rPr lang="en-US"/>
              <a:t>Reference Shantal – “As shown by Shantal et al. there exists a quadratic energy function whose mode encodes the solution to Ax=b - the simple multivariate Gaussian” – [show p(x) ..]</a:t>
            </a:r>
          </a:p>
          <a:p>
            <a:endParaRPr lang="en-US"/>
          </a:p>
          <a:p>
            <a:r>
              <a:rPr lang="en-US"/>
              <a:t>This is shown because where the gradient of log p(x) </a:t>
            </a:r>
            <a:r>
              <a:rPr lang="en-US" err="1"/>
              <a:t>w.r.t.</a:t>
            </a:r>
            <a:r>
              <a:rPr lang="en-US"/>
              <a:t> x equals 0, we find the mode, </a:t>
            </a:r>
          </a:p>
          <a:p>
            <a:endParaRPr lang="en-US"/>
          </a:p>
          <a:p>
            <a:r>
              <a:rPr lang="en-US"/>
              <a:t>and evaluating this gradient, we find it to be equal to -Ax + b. [show grad log </a:t>
            </a:r>
            <a:r>
              <a:rPr lang="en-US" err="1"/>
              <a:t>px</a:t>
            </a:r>
            <a:r>
              <a:rPr lang="en-US"/>
              <a:t> = -Ax +b]</a:t>
            </a:r>
          </a:p>
          <a:p>
            <a:endParaRPr lang="en-US"/>
          </a:p>
          <a:p>
            <a:r>
              <a:rPr lang="en-US"/>
              <a:t>Therefore, the x-configuration at the mode of p(x) is x = A^{-1}b [show x = ..]</a:t>
            </a:r>
          </a:p>
          <a:p>
            <a:endParaRPr lang="en-US"/>
          </a:p>
          <a:p>
            <a:r>
              <a:rPr lang="en-US"/>
              <a:t>Similarly, we can identify the mean of a multivariate Gaussian to be, as a function of its natural parameters (precision-weighted mean and precision, or information vector/matrix), mu = Lambda^{-1} eta, and thus encoding A and b and Lambda and eta, we identify the mean of the Gaussian with our solution.</a:t>
            </a:r>
          </a:p>
          <a:p>
            <a:endParaRPr lang="en-US"/>
          </a:p>
          <a:p>
            <a:r>
              <a:rPr lang="en-US"/>
              <a:t>With this understanding, then, we seek a means to determine a mode/mean of a multivariate Gaussian without directly inverting the possibly very large precision matrix A.</a:t>
            </a:r>
          </a:p>
          <a:p>
            <a:endParaRPr lang="en-US"/>
          </a:p>
          <a:p>
            <a:r>
              <a:rPr lang="en-US"/>
              <a:t>“Shantal et al. then also show that the mode could be reliably found by message passing on a probabilistic graph. [Show generic grid graph]</a:t>
            </a:r>
          </a:p>
          <a:p>
            <a:endParaRPr lang="en-US"/>
          </a:p>
          <a:p>
            <a:r>
              <a:rPr lang="en-US"/>
              <a:t>Specifically, they encode the Gaussian in a specific type of probabilistic graph known as a Gaussian Markov Random Field. [Show the fancy one]</a:t>
            </a:r>
          </a:p>
          <a:p>
            <a:endParaRPr lang="en-US"/>
          </a:p>
          <a:p>
            <a:r>
              <a:rPr lang="en-US"/>
              <a:t>To do this, we note that a Gaussian is quadratic [show energy function and summation form]</a:t>
            </a:r>
          </a:p>
          <a:p>
            <a:endParaRPr lang="en-US"/>
          </a:p>
          <a:p>
            <a:r>
              <a:rPr lang="en-US"/>
              <a:t>and can be factorized into a product of unary and binary factors, phi and psi. [show product and phi and psi] </a:t>
            </a:r>
          </a:p>
          <a:p>
            <a:endParaRPr lang="en-US"/>
          </a:p>
          <a:p>
            <a:r>
              <a:rPr lang="en-US"/>
              <a:t>These factors are then what we find in the graph. </a:t>
            </a:r>
          </a:p>
          <a:p>
            <a:endParaRPr lang="en-US"/>
          </a:p>
          <a:p>
            <a:r>
              <a:rPr lang="en-US"/>
              <a:t>We instead take a more general, modern approach, and encode the same Gaussian in what is called a Forney-style Factor Graph, or FFG. [show Mykola’s FFG]</a:t>
            </a:r>
          </a:p>
          <a:p>
            <a:endParaRPr lang="en-US"/>
          </a:p>
          <a:p>
            <a:r>
              <a:rPr lang="en-US"/>
              <a:t>In either case, a method called message-passing is used to infer the solution. (Read and show) [Message-passing is a scalable, distributed approach to approximate </a:t>
            </a:r>
            <a:r>
              <a:rPr lang="en-US" b="1"/>
              <a:t>marginal</a:t>
            </a:r>
            <a:r>
              <a:rPr lang="en-US"/>
              <a:t> inference.] </a:t>
            </a:r>
          </a:p>
          <a:p>
            <a:endParaRPr lang="en-US"/>
          </a:p>
          <a:p>
            <a:r>
              <a:rPr lang="en-US"/>
              <a:t>This means we infer the marginal distributions for each latent variable in a probabilistic model, in this case, we infer [q(</a:t>
            </a:r>
            <a:r>
              <a:rPr lang="en-US" err="1"/>
              <a:t>x_i</a:t>
            </a:r>
            <a:r>
              <a:rPr lang="en-US"/>
              <a:t>) for each variable </a:t>
            </a:r>
            <a:r>
              <a:rPr lang="en-US" err="1"/>
              <a:t>x_i</a:t>
            </a:r>
            <a:r>
              <a:rPr lang="en-US"/>
              <a:t> in the state vector x.] </a:t>
            </a:r>
          </a:p>
          <a:p>
            <a:endParaRPr lang="en-US"/>
          </a:p>
          <a:p>
            <a:r>
              <a:rPr lang="en-US"/>
              <a:t>By then stacking the means of these marginals, we can recover the mode of the distribution and thus our solution x = A^{-1}b. [show the x=A^[-1]b=[…]]</a:t>
            </a:r>
          </a:p>
          <a:p>
            <a:endParaRPr lang="en-US"/>
          </a:p>
          <a:p>
            <a:r>
              <a:rPr lang="en-US"/>
              <a:t>Note that we do not recover the complete inverse matrix A^{-1}, only the matrix-vector product, A^{-1}b. </a:t>
            </a:r>
          </a:p>
          <a:p>
            <a:endParaRPr lang="en-US"/>
          </a:p>
          <a:p>
            <a:r>
              <a:rPr lang="en-US"/>
              <a:t>We will now review how to encode this multivariate Gaussian distribution as a factor-graph, and then how to perform message-passing to recover its mode and our solution.</a:t>
            </a:r>
            <a:endParaRPr lang="LID4096"/>
          </a:p>
        </p:txBody>
      </p:sp>
      <p:sp>
        <p:nvSpPr>
          <p:cNvPr id="4" name="Slide Number Placeholder 3">
            <a:extLst>
              <a:ext uri="{FF2B5EF4-FFF2-40B4-BE49-F238E27FC236}">
                <a16:creationId xmlns:a16="http://schemas.microsoft.com/office/drawing/2014/main" id="{1A438664-8928-B970-5E7F-798F8A395A01}"/>
              </a:ext>
            </a:extLst>
          </p:cNvPr>
          <p:cNvSpPr>
            <a:spLocks noGrp="1"/>
          </p:cNvSpPr>
          <p:nvPr>
            <p:ph type="sldNum" sz="quarter" idx="5"/>
          </p:nvPr>
        </p:nvSpPr>
        <p:spPr/>
        <p:txBody>
          <a:bodyPr/>
          <a:lstStyle/>
          <a:p>
            <a:fld id="{E05A9740-BD37-4DCA-BDC4-7DBBAE15FA30}" type="slidenum">
              <a:rPr lang="nl-NL" smtClean="0"/>
              <a:t>21</a:t>
            </a:fld>
            <a:endParaRPr lang="nl-NL"/>
          </a:p>
        </p:txBody>
      </p:sp>
    </p:spTree>
    <p:extLst>
      <p:ext uri="{BB962C8B-B14F-4D97-AF65-F5344CB8AC3E}">
        <p14:creationId xmlns:p14="http://schemas.microsoft.com/office/powerpoint/2010/main" val="92024502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79693-0E47-3E8F-3ECE-0B9AB3B85F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FD14E5-0B22-7BED-EA5B-7D634E184F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9F787E-CFBE-6A13-C43C-858C07FEBA56}"/>
              </a:ext>
            </a:extLst>
          </p:cNvPr>
          <p:cNvSpPr>
            <a:spLocks noGrp="1"/>
          </p:cNvSpPr>
          <p:nvPr>
            <p:ph type="body" idx="1"/>
          </p:nvPr>
        </p:nvSpPr>
        <p:spPr/>
        <p:txBody>
          <a:bodyPr/>
          <a:lstStyle/>
          <a:p>
            <a:r>
              <a:rPr lang="en-US"/>
              <a:t>***Setup***</a:t>
            </a:r>
          </a:p>
          <a:p>
            <a:endParaRPr lang="en-US"/>
          </a:p>
          <a:p>
            <a:r>
              <a:rPr lang="en-US"/>
              <a:t>Restate the goal: Want to solve Ax=b for x for given matrix A and vector b. [show Ax=b]</a:t>
            </a:r>
          </a:p>
          <a:p>
            <a:endParaRPr lang="en-US"/>
          </a:p>
          <a:p>
            <a:r>
              <a:rPr lang="en-US"/>
              <a:t>Reference Shantal – “As shown by Shantal et al. there exists a quadratic energy function whose mode encodes the solution to Ax=b - the simple multivariate Gaussian” – [show p(x) ..]</a:t>
            </a:r>
          </a:p>
          <a:p>
            <a:endParaRPr lang="en-US"/>
          </a:p>
          <a:p>
            <a:r>
              <a:rPr lang="en-US"/>
              <a:t>This is shown because where the gradient of log p(x) </a:t>
            </a:r>
            <a:r>
              <a:rPr lang="en-US" err="1"/>
              <a:t>w.r.t.</a:t>
            </a:r>
            <a:r>
              <a:rPr lang="en-US"/>
              <a:t> x equals 0, we find the mode, </a:t>
            </a:r>
          </a:p>
          <a:p>
            <a:endParaRPr lang="en-US"/>
          </a:p>
          <a:p>
            <a:r>
              <a:rPr lang="en-US"/>
              <a:t>and evaluating this gradient, we find it to be equal to -Ax + b. [show grad log </a:t>
            </a:r>
            <a:r>
              <a:rPr lang="en-US" err="1"/>
              <a:t>px</a:t>
            </a:r>
            <a:r>
              <a:rPr lang="en-US"/>
              <a:t> = -Ax +b]</a:t>
            </a:r>
          </a:p>
          <a:p>
            <a:endParaRPr lang="en-US"/>
          </a:p>
          <a:p>
            <a:r>
              <a:rPr lang="en-US"/>
              <a:t>Therefore, the x-configuration at the mode of p(x) is x = A^{-1}b [show x = ..]</a:t>
            </a:r>
          </a:p>
          <a:p>
            <a:endParaRPr lang="en-US"/>
          </a:p>
          <a:p>
            <a:r>
              <a:rPr lang="en-US"/>
              <a:t>Similarly, we can identify the mean of a multivariate Gaussian to be, as a function of its natural parameters (precision-weighted mean and precision, or information vector/matrix), mu = Lambda^{-1} eta, and thus encoding A and b and Lambda and eta, we identify the mean of the Gaussian with our solution.</a:t>
            </a:r>
          </a:p>
          <a:p>
            <a:endParaRPr lang="en-US"/>
          </a:p>
          <a:p>
            <a:r>
              <a:rPr lang="en-US"/>
              <a:t>With this understanding, then, we seek a means to determine a mode/mean of a multivariate Gaussian without directly inverting the possibly very large precision matrix A.</a:t>
            </a:r>
          </a:p>
          <a:p>
            <a:endParaRPr lang="en-US"/>
          </a:p>
          <a:p>
            <a:r>
              <a:rPr lang="en-US"/>
              <a:t>“Shantal et al. then also show that the mode could be reliably found by message passing on a probabilistic graph. [Show generic grid graph]</a:t>
            </a:r>
          </a:p>
          <a:p>
            <a:endParaRPr lang="en-US"/>
          </a:p>
          <a:p>
            <a:r>
              <a:rPr lang="en-US"/>
              <a:t>Specifically, they encode the Gaussian in a specific type of probabilistic graph known as a Gaussian Markov Random Field. [Show the fancy one]</a:t>
            </a:r>
          </a:p>
          <a:p>
            <a:endParaRPr lang="en-US"/>
          </a:p>
          <a:p>
            <a:r>
              <a:rPr lang="en-US"/>
              <a:t>To do this, we note that a Gaussian is quadratic [show energy function and summation form]</a:t>
            </a:r>
          </a:p>
          <a:p>
            <a:endParaRPr lang="en-US"/>
          </a:p>
          <a:p>
            <a:r>
              <a:rPr lang="en-US"/>
              <a:t>and can be factorized into a product of unary and binary factors, phi and psi. [show product and phi and psi] </a:t>
            </a:r>
          </a:p>
          <a:p>
            <a:endParaRPr lang="en-US"/>
          </a:p>
          <a:p>
            <a:r>
              <a:rPr lang="en-US"/>
              <a:t>These factors are then what we find in the graph. </a:t>
            </a:r>
          </a:p>
          <a:p>
            <a:endParaRPr lang="en-US"/>
          </a:p>
          <a:p>
            <a:r>
              <a:rPr lang="en-US"/>
              <a:t>We instead take a more general, modern approach, and encode the same Gaussian in what is called a Forney-style Factor Graph, or FFG. [show Mykola’s FFG]</a:t>
            </a:r>
          </a:p>
          <a:p>
            <a:endParaRPr lang="en-US"/>
          </a:p>
          <a:p>
            <a:r>
              <a:rPr lang="en-US"/>
              <a:t>In either case, a method called message-passing is used to infer the solution. (Read and show) [Message-passing is a scalable, distributed approach to approximate </a:t>
            </a:r>
            <a:r>
              <a:rPr lang="en-US" b="1"/>
              <a:t>marginal</a:t>
            </a:r>
            <a:r>
              <a:rPr lang="en-US"/>
              <a:t> inference.] </a:t>
            </a:r>
          </a:p>
          <a:p>
            <a:endParaRPr lang="en-US"/>
          </a:p>
          <a:p>
            <a:r>
              <a:rPr lang="en-US"/>
              <a:t>This means we infer the marginal distributions for each latent variable in a probabilistic model, in this case, we infer [q(</a:t>
            </a:r>
            <a:r>
              <a:rPr lang="en-US" err="1"/>
              <a:t>x_i</a:t>
            </a:r>
            <a:r>
              <a:rPr lang="en-US"/>
              <a:t>) for each variable </a:t>
            </a:r>
            <a:r>
              <a:rPr lang="en-US" err="1"/>
              <a:t>x_i</a:t>
            </a:r>
            <a:r>
              <a:rPr lang="en-US"/>
              <a:t> in the state vector x.] </a:t>
            </a:r>
          </a:p>
          <a:p>
            <a:endParaRPr lang="en-US"/>
          </a:p>
          <a:p>
            <a:r>
              <a:rPr lang="en-US"/>
              <a:t>By then stacking the means of these marginals, we can recover the mode of the distribution and thus our solution x = A^{-1}b. [show the x=A^[-1]b=[…]]</a:t>
            </a:r>
          </a:p>
          <a:p>
            <a:endParaRPr lang="en-US"/>
          </a:p>
          <a:p>
            <a:r>
              <a:rPr lang="en-US"/>
              <a:t>Note that we do not recover the complete inverse matrix A^{-1}, only the matrix-vector product, A^{-1}b. </a:t>
            </a:r>
          </a:p>
          <a:p>
            <a:endParaRPr lang="en-US"/>
          </a:p>
          <a:p>
            <a:r>
              <a:rPr lang="en-US"/>
              <a:t>We will now review how to encode this multivariate Gaussian distribution as a factor-graph, and then how to perform message-passing to recover its mode and our solution.</a:t>
            </a:r>
            <a:endParaRPr lang="LID4096"/>
          </a:p>
        </p:txBody>
      </p:sp>
      <p:sp>
        <p:nvSpPr>
          <p:cNvPr id="4" name="Slide Number Placeholder 3">
            <a:extLst>
              <a:ext uri="{FF2B5EF4-FFF2-40B4-BE49-F238E27FC236}">
                <a16:creationId xmlns:a16="http://schemas.microsoft.com/office/drawing/2014/main" id="{FF276290-BFB7-C2B2-D1B4-3E173E8D2855}"/>
              </a:ext>
            </a:extLst>
          </p:cNvPr>
          <p:cNvSpPr>
            <a:spLocks noGrp="1"/>
          </p:cNvSpPr>
          <p:nvPr>
            <p:ph type="sldNum" sz="quarter" idx="5"/>
          </p:nvPr>
        </p:nvSpPr>
        <p:spPr/>
        <p:txBody>
          <a:bodyPr/>
          <a:lstStyle/>
          <a:p>
            <a:fld id="{E05A9740-BD37-4DCA-BDC4-7DBBAE15FA30}" type="slidenum">
              <a:rPr lang="nl-NL" smtClean="0"/>
              <a:t>22</a:t>
            </a:fld>
            <a:endParaRPr lang="nl-NL"/>
          </a:p>
        </p:txBody>
      </p:sp>
    </p:spTree>
    <p:extLst>
      <p:ext uri="{BB962C8B-B14F-4D97-AF65-F5344CB8AC3E}">
        <p14:creationId xmlns:p14="http://schemas.microsoft.com/office/powerpoint/2010/main" val="5091510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BA336-FB57-396B-9517-A50E436994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32B613-6670-6097-B871-A865C95345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97148C-CB00-B53F-5472-6BC070DC69E0}"/>
              </a:ext>
            </a:extLst>
          </p:cNvPr>
          <p:cNvSpPr>
            <a:spLocks noGrp="1"/>
          </p:cNvSpPr>
          <p:nvPr>
            <p:ph type="body" idx="1"/>
          </p:nvPr>
        </p:nvSpPr>
        <p:spPr/>
        <p:txBody>
          <a:bodyPr/>
          <a:lstStyle/>
          <a:p>
            <a:r>
              <a:rPr lang="en-US"/>
              <a:t>***Setup***</a:t>
            </a:r>
          </a:p>
          <a:p>
            <a:endParaRPr lang="en-US"/>
          </a:p>
          <a:p>
            <a:r>
              <a:rPr lang="en-US"/>
              <a:t>Restate the goal: Want to solve Ax=b for x for given matrix A and vector b. [show Ax=b]</a:t>
            </a:r>
          </a:p>
          <a:p>
            <a:endParaRPr lang="en-US"/>
          </a:p>
          <a:p>
            <a:r>
              <a:rPr lang="en-US"/>
              <a:t>Reference Shantal – “As shown by Shantal et al. there exists a quadratic energy function whose mode encodes the solution to Ax=b - the simple multivariate Gaussian” – [show p(x) ..]</a:t>
            </a:r>
          </a:p>
          <a:p>
            <a:endParaRPr lang="en-US"/>
          </a:p>
          <a:p>
            <a:r>
              <a:rPr lang="en-US"/>
              <a:t>This is shown because where the gradient of log p(x) </a:t>
            </a:r>
            <a:r>
              <a:rPr lang="en-US" err="1"/>
              <a:t>w.r.t.</a:t>
            </a:r>
            <a:r>
              <a:rPr lang="en-US"/>
              <a:t> x equals 0, we find the mode, </a:t>
            </a:r>
          </a:p>
          <a:p>
            <a:endParaRPr lang="en-US"/>
          </a:p>
          <a:p>
            <a:r>
              <a:rPr lang="en-US"/>
              <a:t>and evaluating this gradient, we find it to be equal to -Ax + b. [show grad log </a:t>
            </a:r>
            <a:r>
              <a:rPr lang="en-US" err="1"/>
              <a:t>px</a:t>
            </a:r>
            <a:r>
              <a:rPr lang="en-US"/>
              <a:t> = -Ax +b]</a:t>
            </a:r>
          </a:p>
          <a:p>
            <a:endParaRPr lang="en-US"/>
          </a:p>
          <a:p>
            <a:r>
              <a:rPr lang="en-US"/>
              <a:t>Therefore, the x-configuration at the mode of p(x) is x = A^{-1}b [show x = ..]</a:t>
            </a:r>
          </a:p>
          <a:p>
            <a:endParaRPr lang="en-US"/>
          </a:p>
          <a:p>
            <a:r>
              <a:rPr lang="en-US"/>
              <a:t>Similarly, we can identify the mean of a multivariate Gaussian to be, as a function of its natural parameters (precision-weighted mean and precision, or information vector/matrix), mu = Lambda^{-1} eta, and thus encoding A and b and Lambda and eta, we identify the mean of the Gaussian with our solution.</a:t>
            </a:r>
          </a:p>
          <a:p>
            <a:endParaRPr lang="en-US"/>
          </a:p>
          <a:p>
            <a:r>
              <a:rPr lang="en-US"/>
              <a:t>With this understanding, then, we seek a means to determine a mode/mean of a multivariate Gaussian without directly inverting the possibly very large precision matrix A.</a:t>
            </a:r>
          </a:p>
          <a:p>
            <a:endParaRPr lang="en-US"/>
          </a:p>
          <a:p>
            <a:r>
              <a:rPr lang="en-US"/>
              <a:t>“Shantal et al. then also show that the mode could be reliably found by message passing on a probabilistic graph. [Show generic grid graph]</a:t>
            </a:r>
          </a:p>
          <a:p>
            <a:endParaRPr lang="en-US"/>
          </a:p>
          <a:p>
            <a:r>
              <a:rPr lang="en-US"/>
              <a:t>Specifically, they encode the Gaussian in a specific type of probabilistic graph known as a Gaussian Markov Random Field. [Show the fancy one]</a:t>
            </a:r>
          </a:p>
          <a:p>
            <a:endParaRPr lang="en-US"/>
          </a:p>
          <a:p>
            <a:r>
              <a:rPr lang="en-US"/>
              <a:t>To do this, we note that a Gaussian is quadratic [show energy function and summation form]</a:t>
            </a:r>
          </a:p>
          <a:p>
            <a:endParaRPr lang="en-US"/>
          </a:p>
          <a:p>
            <a:r>
              <a:rPr lang="en-US"/>
              <a:t>and can be factorized into a product of unary and binary factors, phi and psi. [show product and phi and psi] </a:t>
            </a:r>
          </a:p>
          <a:p>
            <a:endParaRPr lang="en-US"/>
          </a:p>
          <a:p>
            <a:r>
              <a:rPr lang="en-US"/>
              <a:t>These factors are then what we find in the graph. </a:t>
            </a:r>
          </a:p>
          <a:p>
            <a:endParaRPr lang="en-US"/>
          </a:p>
          <a:p>
            <a:r>
              <a:rPr lang="en-US"/>
              <a:t>We instead take a more general, modern approach, and encode the same Gaussian in what is called a Forney-style Factor Graph, or FFG. [show Mykola’s FFG]</a:t>
            </a:r>
          </a:p>
          <a:p>
            <a:endParaRPr lang="en-US"/>
          </a:p>
          <a:p>
            <a:r>
              <a:rPr lang="en-US"/>
              <a:t>In either case, a method called message-passing is used to infer the solution. (Read and show) [Message-passing is a scalable, distributed approach to approximate </a:t>
            </a:r>
            <a:r>
              <a:rPr lang="en-US" b="1"/>
              <a:t>marginal</a:t>
            </a:r>
            <a:r>
              <a:rPr lang="en-US"/>
              <a:t> inference.] </a:t>
            </a:r>
          </a:p>
          <a:p>
            <a:endParaRPr lang="en-US"/>
          </a:p>
          <a:p>
            <a:r>
              <a:rPr lang="en-US"/>
              <a:t>This means we infer the marginal distributions for each latent variable in a probabilistic model, in this case, we infer [q(</a:t>
            </a:r>
            <a:r>
              <a:rPr lang="en-US" err="1"/>
              <a:t>x_i</a:t>
            </a:r>
            <a:r>
              <a:rPr lang="en-US"/>
              <a:t>) for each variable </a:t>
            </a:r>
            <a:r>
              <a:rPr lang="en-US" err="1"/>
              <a:t>x_i</a:t>
            </a:r>
            <a:r>
              <a:rPr lang="en-US"/>
              <a:t> in the state vector x.] </a:t>
            </a:r>
          </a:p>
          <a:p>
            <a:endParaRPr lang="en-US"/>
          </a:p>
          <a:p>
            <a:r>
              <a:rPr lang="en-US"/>
              <a:t>By then stacking the means of these marginals, we can recover the mode of the distribution and thus our solution x = A^{-1}b. [show the x=A^[-1]b=[…]]</a:t>
            </a:r>
          </a:p>
          <a:p>
            <a:endParaRPr lang="en-US"/>
          </a:p>
          <a:p>
            <a:r>
              <a:rPr lang="en-US"/>
              <a:t>Note that we do not recover the complete inverse matrix A^{-1}, only the matrix-vector product, A^{-1}b. </a:t>
            </a:r>
          </a:p>
          <a:p>
            <a:endParaRPr lang="en-US"/>
          </a:p>
          <a:p>
            <a:r>
              <a:rPr lang="en-US"/>
              <a:t>We will now review how to encode this multivariate Gaussian distribution as a factor-graph, and then how to perform message-passing to recover its mode and our solution.</a:t>
            </a:r>
            <a:endParaRPr lang="LID4096"/>
          </a:p>
        </p:txBody>
      </p:sp>
      <p:sp>
        <p:nvSpPr>
          <p:cNvPr id="4" name="Slide Number Placeholder 3">
            <a:extLst>
              <a:ext uri="{FF2B5EF4-FFF2-40B4-BE49-F238E27FC236}">
                <a16:creationId xmlns:a16="http://schemas.microsoft.com/office/drawing/2014/main" id="{34863317-04CC-5EA8-5454-2FAFE0FCAD90}"/>
              </a:ext>
            </a:extLst>
          </p:cNvPr>
          <p:cNvSpPr>
            <a:spLocks noGrp="1"/>
          </p:cNvSpPr>
          <p:nvPr>
            <p:ph type="sldNum" sz="quarter" idx="5"/>
          </p:nvPr>
        </p:nvSpPr>
        <p:spPr/>
        <p:txBody>
          <a:bodyPr/>
          <a:lstStyle/>
          <a:p>
            <a:fld id="{E05A9740-BD37-4DCA-BDC4-7DBBAE15FA30}" type="slidenum">
              <a:rPr lang="nl-NL" smtClean="0"/>
              <a:t>23</a:t>
            </a:fld>
            <a:endParaRPr lang="nl-NL"/>
          </a:p>
        </p:txBody>
      </p:sp>
    </p:spTree>
    <p:extLst>
      <p:ext uri="{BB962C8B-B14F-4D97-AF65-F5344CB8AC3E}">
        <p14:creationId xmlns:p14="http://schemas.microsoft.com/office/powerpoint/2010/main" val="118253508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04E66-B07C-9266-B76B-FC7C902286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99AF0A-2048-C2D6-02B9-574F252DE54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1E80A35-55D5-8E46-A655-53C953086948}"/>
              </a:ext>
            </a:extLst>
          </p:cNvPr>
          <p:cNvSpPr>
            <a:spLocks noGrp="1"/>
          </p:cNvSpPr>
          <p:nvPr>
            <p:ph type="body" sz="quarter" idx="3"/>
          </p:nvPr>
        </p:nvSpPr>
        <p:spPr/>
        <p:txBody>
          <a:bodyPr/>
          <a:lstStyle/>
          <a:p>
            <a:r>
              <a:rPr lang="en-US"/>
              <a:t>Outline</a:t>
            </a:r>
          </a:p>
          <a:p>
            <a:endParaRPr lang="en-US"/>
          </a:p>
          <a:p>
            <a:endParaRPr lang="en-US"/>
          </a:p>
          <a:p>
            <a:endParaRPr lang="en-US"/>
          </a:p>
          <a:p>
            <a:endParaRPr lang="en-US"/>
          </a:p>
          <a:p>
            <a:endParaRPr lang="en-US"/>
          </a:p>
          <a:p>
            <a:endParaRPr lang="en-US"/>
          </a:p>
          <a:p>
            <a:endParaRPr lang="en-US"/>
          </a:p>
          <a:p>
            <a:endParaRPr lang="en-US"/>
          </a:p>
        </p:txBody>
      </p:sp>
      <p:sp>
        <p:nvSpPr>
          <p:cNvPr id="4" name="Slide Number Placeholder 3">
            <a:extLst>
              <a:ext uri="{FF2B5EF4-FFF2-40B4-BE49-F238E27FC236}">
                <a16:creationId xmlns:a16="http://schemas.microsoft.com/office/drawing/2014/main" id="{92B18D3C-E69B-83C4-C3EA-AEE1835DF422}"/>
              </a:ext>
            </a:extLst>
          </p:cNvPr>
          <p:cNvSpPr>
            <a:spLocks noGrp="1"/>
          </p:cNvSpPr>
          <p:nvPr>
            <p:ph type="sldNum" sz="quarter" idx="5"/>
          </p:nvPr>
        </p:nvSpPr>
        <p:spPr/>
      </p:sp>
    </p:spTree>
    <p:extLst>
      <p:ext uri="{BB962C8B-B14F-4D97-AF65-F5344CB8AC3E}">
        <p14:creationId xmlns:p14="http://schemas.microsoft.com/office/powerpoint/2010/main" val="264860186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***Factor Graphs***</a:t>
            </a:r>
          </a:p>
          <a:p>
            <a:endParaRPr lang="en-US"/>
          </a:p>
          <a:p>
            <a:r>
              <a:rPr lang="en-US"/>
              <a:t>Factor graphs are easy to understand, and highly useful when it comes to model design.</a:t>
            </a:r>
          </a:p>
          <a:p>
            <a:endParaRPr lang="en-US"/>
          </a:p>
          <a:p>
            <a:r>
              <a:rPr lang="en-US"/>
              <a:t>In short, any arbitrary factorized probabilistic model can be encoded exactly as a factor graph. Consider the model p(</a:t>
            </a:r>
            <a:r>
              <a:rPr lang="en-US" err="1"/>
              <a:t>a,b,c</a:t>
            </a:r>
            <a:r>
              <a:rPr lang="en-US"/>
              <a:t>) = p(a)p(</a:t>
            </a:r>
            <a:r>
              <a:rPr lang="en-US" err="1"/>
              <a:t>b|a</a:t>
            </a:r>
            <a:r>
              <a:rPr lang="en-US"/>
              <a:t>)p(</a:t>
            </a:r>
            <a:r>
              <a:rPr lang="en-US" err="1"/>
              <a:t>c|b</a:t>
            </a:r>
            <a:r>
              <a:rPr lang="en-US"/>
              <a:t>)</a:t>
            </a:r>
          </a:p>
          <a:p>
            <a:endParaRPr lang="en-US"/>
          </a:p>
          <a:p>
            <a:r>
              <a:rPr lang="en-US"/>
              <a:t>This model has a representation as this Forney-style factor-graph, where the nodes denote the factors and the edges denote the variables. The conditional independencies are made vividly clear. This is a simple model and you may argue the algebraic form is just as clear.</a:t>
            </a:r>
          </a:p>
          <a:p>
            <a:endParaRPr lang="en-US"/>
          </a:p>
          <a:p>
            <a:r>
              <a:rPr lang="en-US"/>
              <a:t>However, when we consider a loopy model with arbitrary non-negative factors/potentials f such as p(</a:t>
            </a:r>
            <a:r>
              <a:rPr lang="en-US" err="1"/>
              <a:t>a,b,c,d</a:t>
            </a:r>
            <a:r>
              <a:rPr lang="en-US"/>
              <a:t>) </a:t>
            </a:r>
            <a:r>
              <a:rPr lang="en-US" err="1"/>
              <a:t>propto</a:t>
            </a:r>
            <a:r>
              <a:rPr lang="en-US"/>
              <a:t> 1/Z f_1(</a:t>
            </a:r>
            <a:r>
              <a:rPr lang="en-US" err="1"/>
              <a:t>a,b</a:t>
            </a:r>
            <a:r>
              <a:rPr lang="en-US"/>
              <a:t>) f_2(</a:t>
            </a:r>
            <a:r>
              <a:rPr lang="en-US" err="1"/>
              <a:t>b,c</a:t>
            </a:r>
            <a:r>
              <a:rPr lang="en-US"/>
              <a:t>) f_3(</a:t>
            </a:r>
            <a:r>
              <a:rPr lang="en-US" err="1"/>
              <a:t>c,d</a:t>
            </a:r>
            <a:r>
              <a:rPr lang="en-US"/>
              <a:t>) f_4(</a:t>
            </a:r>
            <a:r>
              <a:rPr lang="en-US" err="1"/>
              <a:t>d,a</a:t>
            </a:r>
            <a:r>
              <a:rPr lang="en-US"/>
              <a:t>) and this corresponding factor graph, and we see that the loop is readily apparent, whereas in the algebraic form, it is less so, and in more complicated models, model structure can be quite difficult to understand.</a:t>
            </a:r>
          </a:p>
          <a:p>
            <a:endParaRPr lang="en-US"/>
          </a:p>
          <a:p>
            <a:r>
              <a:rPr lang="en-US"/>
              <a:t>And so a [factor-graph is a convenient visual representation of a probabilistic model], useful for understanding model structure and formulating message-passing algorithms. </a:t>
            </a:r>
          </a:p>
          <a:p>
            <a:endParaRPr lang="en-US"/>
          </a:p>
          <a:p>
            <a:r>
              <a:rPr lang="en-US"/>
              <a:t>(pass) Its use becomes even more apparent as we begin to utilize hybrid message-passing approaches, where we apply variational constraints to the variables around specific nodes [highlight a node and show a variational factorization]</a:t>
            </a:r>
          </a:p>
          <a:p>
            <a:endParaRPr lang="en-US"/>
          </a:p>
          <a:p>
            <a:r>
              <a:rPr lang="en-US"/>
              <a:t>(pass) , and in cases of non-</a:t>
            </a:r>
            <a:r>
              <a:rPr lang="en-US" err="1"/>
              <a:t>conjugacies</a:t>
            </a:r>
            <a:r>
              <a:rPr lang="en-US"/>
              <a:t>, where we may need to apply form-constraints to certain variables that perform projections into conjugate families [highlight an edge and write “</a:t>
            </a:r>
            <a:r>
              <a:rPr lang="en-US" err="1"/>
              <a:t>ProjectTo</a:t>
            </a:r>
            <a:r>
              <a:rPr lang="en-US"/>
              <a:t> Gamma”]. </a:t>
            </a:r>
          </a:p>
          <a:p>
            <a:endParaRPr lang="en-US"/>
          </a:p>
          <a:p>
            <a:r>
              <a:rPr lang="en-US"/>
              <a:t>(pass) For now, we use Gaussian-conjugate factors without variational or form constraints. </a:t>
            </a:r>
          </a:p>
          <a:p>
            <a:endParaRPr lang="en-US"/>
          </a:p>
          <a:p>
            <a:r>
              <a:rPr lang="en-US"/>
              <a:t>We can also encode linear probabilistic models described algebraically, such as y = </a:t>
            </a:r>
            <a:r>
              <a:rPr lang="en-US" err="1"/>
              <a:t>Hx</a:t>
            </a:r>
            <a:r>
              <a:rPr lang="en-US"/>
              <a:t> + w, where y, x, and w are random variables, and A is a constant matrix, transpose vector, or scalar [ show equation, arrow, FFG ]</a:t>
            </a:r>
          </a:p>
          <a:p>
            <a:endParaRPr lang="en-US"/>
          </a:p>
          <a:p>
            <a:r>
              <a:rPr lang="en-US"/>
              <a:t>This highlights the presence of multiplication and summation nodes, where inverse and negated terms provide division and subtraction via the same factors.</a:t>
            </a:r>
          </a:p>
          <a:p>
            <a:endParaRPr lang="en-US"/>
          </a:p>
          <a:p>
            <a:r>
              <a:rPr lang="en-US"/>
              <a:t>Here we pause to review a few more factors that show up frequently in linear Gaussian models. Each have closed-form message rules.</a:t>
            </a:r>
          </a:p>
          <a:p>
            <a:endParaRPr lang="en-US"/>
          </a:p>
          <a:p>
            <a:r>
              <a:rPr lang="en-US"/>
              <a:t>When a variable connects to more than two factors, it gets duplicated via an equality node like this with these rules</a:t>
            </a:r>
          </a:p>
          <a:p>
            <a:endParaRPr lang="en-US"/>
          </a:p>
          <a:p>
            <a:r>
              <a:rPr lang="en-US"/>
              <a:t>Then we have point-mass factors used commonly for measured data, and encode </a:t>
            </a:r>
            <a:r>
              <a:rPr lang="en-US" err="1"/>
              <a:t>dirac</a:t>
            </a:r>
            <a:endParaRPr lang="en-US"/>
          </a:p>
          <a:p>
            <a:endParaRPr lang="en-US"/>
          </a:p>
          <a:p>
            <a:r>
              <a:rPr lang="en-US"/>
              <a:t>We have multiplication nodes for multiplication of a variable by a vector or matrix…</a:t>
            </a:r>
          </a:p>
          <a:p>
            <a:endParaRPr lang="en-US"/>
          </a:p>
          <a:p>
            <a:r>
              <a:rPr lang="en-US"/>
              <a:t>We have summation nodes to add or subtract two variables…</a:t>
            </a:r>
          </a:p>
          <a:p>
            <a:endParaRPr lang="en-US"/>
          </a:p>
          <a:p>
            <a:r>
              <a:rPr lang="en-US"/>
              <a:t>And we have a Normal distribution node that forms a Gaussian potential for the output from an input random mean and variance …</a:t>
            </a:r>
            <a:endParaRPr lang="LID4096"/>
          </a:p>
        </p:txBody>
      </p:sp>
      <p:sp>
        <p:nvSpPr>
          <p:cNvPr id="4" name="Slide Number Placeholder 3"/>
          <p:cNvSpPr>
            <a:spLocks noGrp="1"/>
          </p:cNvSpPr>
          <p:nvPr>
            <p:ph type="sldNum" sz="quarter" idx="5"/>
          </p:nvPr>
        </p:nvSpPr>
        <p:spPr/>
        <p:txBody>
          <a:bodyPr/>
          <a:lstStyle/>
          <a:p>
            <a:fld id="{E05A9740-BD37-4DCA-BDC4-7DBBAE15FA30}" type="slidenum">
              <a:rPr lang="nl-NL" smtClean="0"/>
              <a:t>25</a:t>
            </a:fld>
            <a:endParaRPr lang="nl-NL"/>
          </a:p>
        </p:txBody>
      </p:sp>
    </p:spTree>
    <p:extLst>
      <p:ext uri="{BB962C8B-B14F-4D97-AF65-F5344CB8AC3E}">
        <p14:creationId xmlns:p14="http://schemas.microsoft.com/office/powerpoint/2010/main" val="329450437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6DEF6-F029-F71C-5B81-C18B6A0307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539D58-1EB6-42E6-27D1-67BFAF50B1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EC369D-1F0A-8CD3-4031-B952B5184BA5}"/>
              </a:ext>
            </a:extLst>
          </p:cNvPr>
          <p:cNvSpPr>
            <a:spLocks noGrp="1"/>
          </p:cNvSpPr>
          <p:nvPr>
            <p:ph type="body" idx="1"/>
          </p:nvPr>
        </p:nvSpPr>
        <p:spPr/>
        <p:txBody>
          <a:bodyPr/>
          <a:lstStyle/>
          <a:p>
            <a:r>
              <a:rPr lang="en-US"/>
              <a:t>***Factor Graphs***</a:t>
            </a:r>
          </a:p>
          <a:p>
            <a:endParaRPr lang="en-US"/>
          </a:p>
          <a:p>
            <a:r>
              <a:rPr lang="en-US"/>
              <a:t>Factor graphs are easy to understand, and highly useful when it comes to model design.</a:t>
            </a:r>
          </a:p>
          <a:p>
            <a:endParaRPr lang="en-US"/>
          </a:p>
          <a:p>
            <a:r>
              <a:rPr lang="en-US"/>
              <a:t>In short, any arbitrary factorized probabilistic model can be encoded exactly as a factor graph. Consider the model p(</a:t>
            </a:r>
            <a:r>
              <a:rPr lang="en-US" err="1"/>
              <a:t>a,b,c</a:t>
            </a:r>
            <a:r>
              <a:rPr lang="en-US"/>
              <a:t>) = p(a)p(</a:t>
            </a:r>
            <a:r>
              <a:rPr lang="en-US" err="1"/>
              <a:t>b|a</a:t>
            </a:r>
            <a:r>
              <a:rPr lang="en-US"/>
              <a:t>)p(</a:t>
            </a:r>
            <a:r>
              <a:rPr lang="en-US" err="1"/>
              <a:t>c|b</a:t>
            </a:r>
            <a:r>
              <a:rPr lang="en-US"/>
              <a:t>)</a:t>
            </a:r>
          </a:p>
          <a:p>
            <a:endParaRPr lang="en-US"/>
          </a:p>
          <a:p>
            <a:r>
              <a:rPr lang="en-US"/>
              <a:t>This model has a representation as this Forney-style factor-graph, where the nodes denote the factors and the edges denote the variables. The conditional independencies are made vividly clear. This is a simple model and you may argue the algebraic form is just as clear.</a:t>
            </a:r>
          </a:p>
          <a:p>
            <a:endParaRPr lang="en-US"/>
          </a:p>
          <a:p>
            <a:r>
              <a:rPr lang="en-US"/>
              <a:t>However, when we consider a loopy model with arbitrary non-negative factors/potentials f such as p(</a:t>
            </a:r>
            <a:r>
              <a:rPr lang="en-US" err="1"/>
              <a:t>a,b,c,d</a:t>
            </a:r>
            <a:r>
              <a:rPr lang="en-US"/>
              <a:t>) </a:t>
            </a:r>
            <a:r>
              <a:rPr lang="en-US" err="1"/>
              <a:t>propto</a:t>
            </a:r>
            <a:r>
              <a:rPr lang="en-US"/>
              <a:t> 1/Z f_1(</a:t>
            </a:r>
            <a:r>
              <a:rPr lang="en-US" err="1"/>
              <a:t>a,b</a:t>
            </a:r>
            <a:r>
              <a:rPr lang="en-US"/>
              <a:t>) f_2(</a:t>
            </a:r>
            <a:r>
              <a:rPr lang="en-US" err="1"/>
              <a:t>b,c</a:t>
            </a:r>
            <a:r>
              <a:rPr lang="en-US"/>
              <a:t>) f_3(</a:t>
            </a:r>
            <a:r>
              <a:rPr lang="en-US" err="1"/>
              <a:t>c,d</a:t>
            </a:r>
            <a:r>
              <a:rPr lang="en-US"/>
              <a:t>) f_4(</a:t>
            </a:r>
            <a:r>
              <a:rPr lang="en-US" err="1"/>
              <a:t>d,a</a:t>
            </a:r>
            <a:r>
              <a:rPr lang="en-US"/>
              <a:t>) and this corresponding factor graph, and we see that the loop is readily apparent, whereas in the algebraic form, it is less so, and in more complicated models, model structure can be quite difficult to understand.</a:t>
            </a:r>
          </a:p>
          <a:p>
            <a:endParaRPr lang="en-US"/>
          </a:p>
          <a:p>
            <a:r>
              <a:rPr lang="en-US"/>
              <a:t>And so a [factor-graph is a convenient visual representation of a probabilistic model], useful for understanding model structure and formulating message-passing algorithms. </a:t>
            </a:r>
          </a:p>
          <a:p>
            <a:endParaRPr lang="en-US"/>
          </a:p>
          <a:p>
            <a:r>
              <a:rPr lang="en-US"/>
              <a:t>(pass) Its use becomes even more apparent as we begin to utilize hybrid message-passing approaches, where we apply variational constraints to the variables around specific nodes [highlight a node and show a variational factorization]</a:t>
            </a:r>
          </a:p>
          <a:p>
            <a:endParaRPr lang="en-US"/>
          </a:p>
          <a:p>
            <a:r>
              <a:rPr lang="en-US"/>
              <a:t>(pass) , and in cases of non-</a:t>
            </a:r>
            <a:r>
              <a:rPr lang="en-US" err="1"/>
              <a:t>conjugacies</a:t>
            </a:r>
            <a:r>
              <a:rPr lang="en-US"/>
              <a:t>, where we may need to apply form-constraints to certain variables that perform projections into conjugate families [highlight an edge and write “</a:t>
            </a:r>
            <a:r>
              <a:rPr lang="en-US" err="1"/>
              <a:t>ProjectTo</a:t>
            </a:r>
            <a:r>
              <a:rPr lang="en-US"/>
              <a:t> Gamma”]. </a:t>
            </a:r>
          </a:p>
          <a:p>
            <a:endParaRPr lang="en-US"/>
          </a:p>
          <a:p>
            <a:r>
              <a:rPr lang="en-US"/>
              <a:t>(pass) For now, we use Gaussian-conjugate factors without variational or form constraints. </a:t>
            </a:r>
          </a:p>
          <a:p>
            <a:endParaRPr lang="en-US"/>
          </a:p>
          <a:p>
            <a:r>
              <a:rPr lang="en-US"/>
              <a:t>We can also encode linear probabilistic models described algebraically, such as y = </a:t>
            </a:r>
            <a:r>
              <a:rPr lang="en-US" err="1"/>
              <a:t>Hx</a:t>
            </a:r>
            <a:r>
              <a:rPr lang="en-US"/>
              <a:t> + w, where y, x, and w are random variables, and A is a constant matrix, transpose vector, or scalar [ show equation, arrow, FFG ]</a:t>
            </a:r>
          </a:p>
          <a:p>
            <a:endParaRPr lang="en-US"/>
          </a:p>
          <a:p>
            <a:r>
              <a:rPr lang="en-US"/>
              <a:t>This highlights the presence of multiplication and summation nodes, where inverse and negated terms provide division and subtraction via the same factors.</a:t>
            </a:r>
          </a:p>
          <a:p>
            <a:endParaRPr lang="en-US"/>
          </a:p>
          <a:p>
            <a:r>
              <a:rPr lang="en-US"/>
              <a:t>Here we pause to review a few more factors that show up frequently in linear Gaussian models. Each have closed-form message rules.</a:t>
            </a:r>
          </a:p>
          <a:p>
            <a:endParaRPr lang="en-US"/>
          </a:p>
          <a:p>
            <a:r>
              <a:rPr lang="en-US"/>
              <a:t>When a variable connects to more than two factors, it gets duplicated via an equality node like this with these rules</a:t>
            </a:r>
          </a:p>
          <a:p>
            <a:endParaRPr lang="en-US"/>
          </a:p>
          <a:p>
            <a:r>
              <a:rPr lang="en-US"/>
              <a:t>Then we have point-mass factors used commonly for measured data, and encode </a:t>
            </a:r>
            <a:r>
              <a:rPr lang="en-US" err="1"/>
              <a:t>dirac</a:t>
            </a:r>
            <a:endParaRPr lang="en-US"/>
          </a:p>
          <a:p>
            <a:endParaRPr lang="en-US"/>
          </a:p>
          <a:p>
            <a:r>
              <a:rPr lang="en-US"/>
              <a:t>We have multiplication nodes for multiplication of a variable by a vector or matrix…</a:t>
            </a:r>
          </a:p>
          <a:p>
            <a:endParaRPr lang="en-US"/>
          </a:p>
          <a:p>
            <a:r>
              <a:rPr lang="en-US"/>
              <a:t>We have summation nodes to add or subtract two variables…</a:t>
            </a:r>
          </a:p>
          <a:p>
            <a:endParaRPr lang="en-US"/>
          </a:p>
          <a:p>
            <a:r>
              <a:rPr lang="en-US"/>
              <a:t>And we have a Normal distribution node that forms a Gaussian potential for the output from an input random mean and variance …</a:t>
            </a:r>
            <a:endParaRPr lang="LID4096"/>
          </a:p>
        </p:txBody>
      </p:sp>
      <p:sp>
        <p:nvSpPr>
          <p:cNvPr id="4" name="Slide Number Placeholder 3">
            <a:extLst>
              <a:ext uri="{FF2B5EF4-FFF2-40B4-BE49-F238E27FC236}">
                <a16:creationId xmlns:a16="http://schemas.microsoft.com/office/drawing/2014/main" id="{B4CDA2BA-F910-F893-EFC5-E43E2821EE0B}"/>
              </a:ext>
            </a:extLst>
          </p:cNvPr>
          <p:cNvSpPr>
            <a:spLocks noGrp="1"/>
          </p:cNvSpPr>
          <p:nvPr>
            <p:ph type="sldNum" sz="quarter" idx="5"/>
          </p:nvPr>
        </p:nvSpPr>
        <p:spPr/>
        <p:txBody>
          <a:bodyPr/>
          <a:lstStyle/>
          <a:p>
            <a:fld id="{E05A9740-BD37-4DCA-BDC4-7DBBAE15FA30}" type="slidenum">
              <a:rPr lang="nl-NL" smtClean="0"/>
              <a:t>26</a:t>
            </a:fld>
            <a:endParaRPr lang="nl-NL"/>
          </a:p>
        </p:txBody>
      </p:sp>
    </p:spTree>
    <p:extLst>
      <p:ext uri="{BB962C8B-B14F-4D97-AF65-F5344CB8AC3E}">
        <p14:creationId xmlns:p14="http://schemas.microsoft.com/office/powerpoint/2010/main" val="42049714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53F6EF-D7D6-A667-50FB-7AB5377895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351463-1C4A-C248-099E-32854E0271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BB65B8-1D0C-0D26-0BFC-909014DCB4BD}"/>
              </a:ext>
            </a:extLst>
          </p:cNvPr>
          <p:cNvSpPr>
            <a:spLocks noGrp="1"/>
          </p:cNvSpPr>
          <p:nvPr>
            <p:ph type="body" idx="1"/>
          </p:nvPr>
        </p:nvSpPr>
        <p:spPr/>
        <p:txBody>
          <a:bodyPr/>
          <a:lstStyle/>
          <a:p>
            <a:r>
              <a:rPr lang="en-US"/>
              <a:t>***Factor Graphs***</a:t>
            </a:r>
          </a:p>
          <a:p>
            <a:endParaRPr lang="en-US"/>
          </a:p>
          <a:p>
            <a:r>
              <a:rPr lang="en-US"/>
              <a:t>Factor graphs are easy to understand, and highly useful when it comes to model design.</a:t>
            </a:r>
          </a:p>
          <a:p>
            <a:endParaRPr lang="en-US"/>
          </a:p>
          <a:p>
            <a:r>
              <a:rPr lang="en-US"/>
              <a:t>In short, any arbitrary factorized probabilistic model can be encoded exactly as a factor graph. Consider the model p(</a:t>
            </a:r>
            <a:r>
              <a:rPr lang="en-US" err="1"/>
              <a:t>a,b,c</a:t>
            </a:r>
            <a:r>
              <a:rPr lang="en-US"/>
              <a:t>) = p(a)p(</a:t>
            </a:r>
            <a:r>
              <a:rPr lang="en-US" err="1"/>
              <a:t>b|a</a:t>
            </a:r>
            <a:r>
              <a:rPr lang="en-US"/>
              <a:t>)p(</a:t>
            </a:r>
            <a:r>
              <a:rPr lang="en-US" err="1"/>
              <a:t>c|b</a:t>
            </a:r>
            <a:r>
              <a:rPr lang="en-US"/>
              <a:t>)</a:t>
            </a:r>
          </a:p>
          <a:p>
            <a:endParaRPr lang="en-US"/>
          </a:p>
          <a:p>
            <a:r>
              <a:rPr lang="en-US"/>
              <a:t>This model has a representation as this Forney-style factor-graph, where the nodes denote the factors and the edges denote the variables. The conditional independencies are made vividly clear. This is a simple model and you may argue the algebraic form is just as clear.</a:t>
            </a:r>
          </a:p>
          <a:p>
            <a:endParaRPr lang="en-US"/>
          </a:p>
          <a:p>
            <a:r>
              <a:rPr lang="en-US"/>
              <a:t>However, when we consider a loopy model with arbitrary non-negative factors/potentials f such as p(</a:t>
            </a:r>
            <a:r>
              <a:rPr lang="en-US" err="1"/>
              <a:t>a,b,c,d</a:t>
            </a:r>
            <a:r>
              <a:rPr lang="en-US"/>
              <a:t>) </a:t>
            </a:r>
            <a:r>
              <a:rPr lang="en-US" err="1"/>
              <a:t>propto</a:t>
            </a:r>
            <a:r>
              <a:rPr lang="en-US"/>
              <a:t> 1/Z f_1(</a:t>
            </a:r>
            <a:r>
              <a:rPr lang="en-US" err="1"/>
              <a:t>a,b</a:t>
            </a:r>
            <a:r>
              <a:rPr lang="en-US"/>
              <a:t>) f_2(</a:t>
            </a:r>
            <a:r>
              <a:rPr lang="en-US" err="1"/>
              <a:t>b,c</a:t>
            </a:r>
            <a:r>
              <a:rPr lang="en-US"/>
              <a:t>) f_3(</a:t>
            </a:r>
            <a:r>
              <a:rPr lang="en-US" err="1"/>
              <a:t>c,d</a:t>
            </a:r>
            <a:r>
              <a:rPr lang="en-US"/>
              <a:t>) f_4(</a:t>
            </a:r>
            <a:r>
              <a:rPr lang="en-US" err="1"/>
              <a:t>d,a</a:t>
            </a:r>
            <a:r>
              <a:rPr lang="en-US"/>
              <a:t>) and this corresponding factor graph, and we see that the loop is readily apparent, whereas in the algebraic form, it is less so, and in more complicated models, model structure can be quite difficult to understand.</a:t>
            </a:r>
          </a:p>
          <a:p>
            <a:endParaRPr lang="en-US"/>
          </a:p>
          <a:p>
            <a:r>
              <a:rPr lang="en-US"/>
              <a:t>And so a [factor-graph is a convenient visual representation of a probabilistic model], useful for understanding model structure and formulating message-passing algorithms. </a:t>
            </a:r>
          </a:p>
          <a:p>
            <a:endParaRPr lang="en-US"/>
          </a:p>
          <a:p>
            <a:r>
              <a:rPr lang="en-US"/>
              <a:t>(pass) Its use becomes even more apparent as we begin to utilize hybrid message-passing approaches, where we apply variational constraints to the variables around specific nodes [highlight a node and show a variational factorization]</a:t>
            </a:r>
          </a:p>
          <a:p>
            <a:endParaRPr lang="en-US"/>
          </a:p>
          <a:p>
            <a:r>
              <a:rPr lang="en-US"/>
              <a:t>(pass) , and in cases of non-</a:t>
            </a:r>
            <a:r>
              <a:rPr lang="en-US" err="1"/>
              <a:t>conjugacies</a:t>
            </a:r>
            <a:r>
              <a:rPr lang="en-US"/>
              <a:t>, where we may need to apply form-constraints to certain variables that perform projections into conjugate families [highlight an edge and write “</a:t>
            </a:r>
            <a:r>
              <a:rPr lang="en-US" err="1"/>
              <a:t>ProjectTo</a:t>
            </a:r>
            <a:r>
              <a:rPr lang="en-US"/>
              <a:t> Gamma”]. </a:t>
            </a:r>
          </a:p>
          <a:p>
            <a:endParaRPr lang="en-US"/>
          </a:p>
          <a:p>
            <a:r>
              <a:rPr lang="en-US"/>
              <a:t>(pass) For now, we use Gaussian-conjugate factors without variational or form constraints. </a:t>
            </a:r>
          </a:p>
          <a:p>
            <a:endParaRPr lang="en-US"/>
          </a:p>
          <a:p>
            <a:r>
              <a:rPr lang="en-US"/>
              <a:t>We can also encode linear probabilistic models described algebraically, such as y = </a:t>
            </a:r>
            <a:r>
              <a:rPr lang="en-US" err="1"/>
              <a:t>Hx</a:t>
            </a:r>
            <a:r>
              <a:rPr lang="en-US"/>
              <a:t> + w, where y, x, and w are random variables, and A is a constant matrix, transpose vector, or scalar [ show equation, arrow, FFG ]</a:t>
            </a:r>
          </a:p>
          <a:p>
            <a:endParaRPr lang="en-US"/>
          </a:p>
          <a:p>
            <a:r>
              <a:rPr lang="en-US"/>
              <a:t>This highlights the presence of multiplication and summation nodes, where inverse and negated terms provide division and subtraction via the same factors.</a:t>
            </a:r>
          </a:p>
          <a:p>
            <a:endParaRPr lang="en-US"/>
          </a:p>
          <a:p>
            <a:r>
              <a:rPr lang="en-US"/>
              <a:t>Here we pause to review a few more factors that show up frequently in linear Gaussian models. Each have closed-form message rules.</a:t>
            </a:r>
          </a:p>
          <a:p>
            <a:endParaRPr lang="en-US"/>
          </a:p>
          <a:p>
            <a:r>
              <a:rPr lang="en-US"/>
              <a:t>When a variable connects to more than two factors, it gets duplicated via an equality node like this with these rules</a:t>
            </a:r>
          </a:p>
          <a:p>
            <a:endParaRPr lang="en-US"/>
          </a:p>
          <a:p>
            <a:r>
              <a:rPr lang="en-US"/>
              <a:t>Then we have point-mass factors used commonly for measured data, and encode </a:t>
            </a:r>
            <a:r>
              <a:rPr lang="en-US" err="1"/>
              <a:t>dirac</a:t>
            </a:r>
            <a:endParaRPr lang="en-US"/>
          </a:p>
          <a:p>
            <a:endParaRPr lang="en-US"/>
          </a:p>
          <a:p>
            <a:r>
              <a:rPr lang="en-US"/>
              <a:t>We have multiplication nodes for multiplication of a variable by a vector or matrix…</a:t>
            </a:r>
          </a:p>
          <a:p>
            <a:endParaRPr lang="en-US"/>
          </a:p>
          <a:p>
            <a:r>
              <a:rPr lang="en-US"/>
              <a:t>We have summation nodes to add or subtract two variables…</a:t>
            </a:r>
          </a:p>
          <a:p>
            <a:endParaRPr lang="en-US"/>
          </a:p>
          <a:p>
            <a:r>
              <a:rPr lang="en-US"/>
              <a:t>And we have a Normal distribution node that forms a Gaussian potential for the output from an input random mean and variance …</a:t>
            </a:r>
            <a:endParaRPr lang="LID4096"/>
          </a:p>
        </p:txBody>
      </p:sp>
      <p:sp>
        <p:nvSpPr>
          <p:cNvPr id="4" name="Slide Number Placeholder 3">
            <a:extLst>
              <a:ext uri="{FF2B5EF4-FFF2-40B4-BE49-F238E27FC236}">
                <a16:creationId xmlns:a16="http://schemas.microsoft.com/office/drawing/2014/main" id="{FFB0AE8C-261D-FF05-FFC1-F37DD6E6D64D}"/>
              </a:ext>
            </a:extLst>
          </p:cNvPr>
          <p:cNvSpPr>
            <a:spLocks noGrp="1"/>
          </p:cNvSpPr>
          <p:nvPr>
            <p:ph type="sldNum" sz="quarter" idx="5"/>
          </p:nvPr>
        </p:nvSpPr>
        <p:spPr/>
        <p:txBody>
          <a:bodyPr/>
          <a:lstStyle/>
          <a:p>
            <a:fld id="{E05A9740-BD37-4DCA-BDC4-7DBBAE15FA30}" type="slidenum">
              <a:rPr lang="nl-NL" smtClean="0"/>
              <a:t>27</a:t>
            </a:fld>
            <a:endParaRPr lang="nl-NL"/>
          </a:p>
        </p:txBody>
      </p:sp>
    </p:spTree>
    <p:extLst>
      <p:ext uri="{BB962C8B-B14F-4D97-AF65-F5344CB8AC3E}">
        <p14:creationId xmlns:p14="http://schemas.microsoft.com/office/powerpoint/2010/main" val="272775843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6CBD0-E7E0-E69E-14E2-7F376F107A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5AF089-B791-5EBD-A91A-A133279F4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914850-DA67-EBEA-D168-C4FF25A11830}"/>
              </a:ext>
            </a:extLst>
          </p:cNvPr>
          <p:cNvSpPr>
            <a:spLocks noGrp="1"/>
          </p:cNvSpPr>
          <p:nvPr>
            <p:ph type="body" idx="1"/>
          </p:nvPr>
        </p:nvSpPr>
        <p:spPr/>
        <p:txBody>
          <a:bodyPr/>
          <a:lstStyle/>
          <a:p>
            <a:r>
              <a:rPr lang="en-US"/>
              <a:t>***Factor Graphs***</a:t>
            </a:r>
          </a:p>
          <a:p>
            <a:endParaRPr lang="en-US"/>
          </a:p>
          <a:p>
            <a:r>
              <a:rPr lang="en-US"/>
              <a:t>Factor graphs are easy to understand, and highly useful when it comes to model design.</a:t>
            </a:r>
          </a:p>
          <a:p>
            <a:endParaRPr lang="en-US"/>
          </a:p>
          <a:p>
            <a:r>
              <a:rPr lang="en-US"/>
              <a:t>In short, any arbitrary factorized probabilistic model can be encoded exactly as a factor graph. Consider the model p(</a:t>
            </a:r>
            <a:r>
              <a:rPr lang="en-US" err="1"/>
              <a:t>a,b,c</a:t>
            </a:r>
            <a:r>
              <a:rPr lang="en-US"/>
              <a:t>) = p(a)p(</a:t>
            </a:r>
            <a:r>
              <a:rPr lang="en-US" err="1"/>
              <a:t>b|a</a:t>
            </a:r>
            <a:r>
              <a:rPr lang="en-US"/>
              <a:t>)p(</a:t>
            </a:r>
            <a:r>
              <a:rPr lang="en-US" err="1"/>
              <a:t>c|b</a:t>
            </a:r>
            <a:r>
              <a:rPr lang="en-US"/>
              <a:t>)</a:t>
            </a:r>
          </a:p>
          <a:p>
            <a:endParaRPr lang="en-US"/>
          </a:p>
          <a:p>
            <a:r>
              <a:rPr lang="en-US"/>
              <a:t>This model has a representation as this Forney-style factor-graph, where the nodes denote the factors and the edges denote the variables. The conditional independencies are made vividly clear. This is a simple model and you may argue the algebraic form is just as clear.</a:t>
            </a:r>
          </a:p>
          <a:p>
            <a:endParaRPr lang="en-US"/>
          </a:p>
          <a:p>
            <a:r>
              <a:rPr lang="en-US"/>
              <a:t>However, when we consider a loopy model with arbitrary non-negative factors/potentials f such as p(</a:t>
            </a:r>
            <a:r>
              <a:rPr lang="en-US" err="1"/>
              <a:t>a,b,c,d</a:t>
            </a:r>
            <a:r>
              <a:rPr lang="en-US"/>
              <a:t>) </a:t>
            </a:r>
            <a:r>
              <a:rPr lang="en-US" err="1"/>
              <a:t>propto</a:t>
            </a:r>
            <a:r>
              <a:rPr lang="en-US"/>
              <a:t> 1/Z f_1(</a:t>
            </a:r>
            <a:r>
              <a:rPr lang="en-US" err="1"/>
              <a:t>a,b</a:t>
            </a:r>
            <a:r>
              <a:rPr lang="en-US"/>
              <a:t>) f_2(</a:t>
            </a:r>
            <a:r>
              <a:rPr lang="en-US" err="1"/>
              <a:t>b,c</a:t>
            </a:r>
            <a:r>
              <a:rPr lang="en-US"/>
              <a:t>) f_3(</a:t>
            </a:r>
            <a:r>
              <a:rPr lang="en-US" err="1"/>
              <a:t>c,d</a:t>
            </a:r>
            <a:r>
              <a:rPr lang="en-US"/>
              <a:t>) f_4(</a:t>
            </a:r>
            <a:r>
              <a:rPr lang="en-US" err="1"/>
              <a:t>d,a</a:t>
            </a:r>
            <a:r>
              <a:rPr lang="en-US"/>
              <a:t>) and this corresponding factor graph, and we see that the loop is readily apparent, whereas in the algebraic form, it is less so, and in more complicated models, model structure can be quite difficult to understand.</a:t>
            </a:r>
          </a:p>
          <a:p>
            <a:endParaRPr lang="en-US"/>
          </a:p>
          <a:p>
            <a:r>
              <a:rPr lang="en-US"/>
              <a:t>And so a [factor-graph is a convenient visual representation of a probabilistic model], useful for understanding model structure and formulating message-passing algorithms. </a:t>
            </a:r>
          </a:p>
          <a:p>
            <a:endParaRPr lang="en-US"/>
          </a:p>
          <a:p>
            <a:r>
              <a:rPr lang="en-US"/>
              <a:t>(pass) Its use becomes even more apparent as we begin to utilize hybrid message-passing approaches, where we apply variational constraints to the variables around specific nodes [highlight a node and show a variational factorization]</a:t>
            </a:r>
          </a:p>
          <a:p>
            <a:endParaRPr lang="en-US"/>
          </a:p>
          <a:p>
            <a:r>
              <a:rPr lang="en-US"/>
              <a:t>(pass) , and in cases of non-</a:t>
            </a:r>
            <a:r>
              <a:rPr lang="en-US" err="1"/>
              <a:t>conjugacies</a:t>
            </a:r>
            <a:r>
              <a:rPr lang="en-US"/>
              <a:t>, where we may need to apply form-constraints to certain variables that perform projections into conjugate families [highlight an edge and write “</a:t>
            </a:r>
            <a:r>
              <a:rPr lang="en-US" err="1"/>
              <a:t>ProjectTo</a:t>
            </a:r>
            <a:r>
              <a:rPr lang="en-US"/>
              <a:t> Gamma”]. </a:t>
            </a:r>
          </a:p>
          <a:p>
            <a:endParaRPr lang="en-US"/>
          </a:p>
          <a:p>
            <a:r>
              <a:rPr lang="en-US"/>
              <a:t>(pass) For now, we use Gaussian-conjugate factors without variational or form constraints. </a:t>
            </a:r>
          </a:p>
          <a:p>
            <a:endParaRPr lang="en-US"/>
          </a:p>
          <a:p>
            <a:r>
              <a:rPr lang="en-US"/>
              <a:t>We can also encode linear probabilistic models described algebraically, such as y = </a:t>
            </a:r>
            <a:r>
              <a:rPr lang="en-US" err="1"/>
              <a:t>Hx</a:t>
            </a:r>
            <a:r>
              <a:rPr lang="en-US"/>
              <a:t> + w, where y, x, and w are random variables, and A is a constant matrix, transpose vector, or scalar [ show equation, arrow, FFG ]</a:t>
            </a:r>
          </a:p>
          <a:p>
            <a:endParaRPr lang="en-US"/>
          </a:p>
          <a:p>
            <a:r>
              <a:rPr lang="en-US"/>
              <a:t>This highlights the presence of multiplication and summation nodes, where inverse and negated terms provide division and subtraction via the same factors.</a:t>
            </a:r>
          </a:p>
          <a:p>
            <a:endParaRPr lang="en-US"/>
          </a:p>
          <a:p>
            <a:r>
              <a:rPr lang="en-US"/>
              <a:t>Here we pause to review a few more factors that show up frequently in linear Gaussian models. Each have closed-form message rules.</a:t>
            </a:r>
          </a:p>
          <a:p>
            <a:endParaRPr lang="en-US"/>
          </a:p>
          <a:p>
            <a:r>
              <a:rPr lang="en-US"/>
              <a:t>When a variable connects to more than two factors, it gets duplicated via an equality node like this with these rules</a:t>
            </a:r>
          </a:p>
          <a:p>
            <a:endParaRPr lang="en-US"/>
          </a:p>
          <a:p>
            <a:r>
              <a:rPr lang="en-US"/>
              <a:t>Then we have point-mass factors used commonly for measured data, and encode </a:t>
            </a:r>
            <a:r>
              <a:rPr lang="en-US" err="1"/>
              <a:t>dirac</a:t>
            </a:r>
            <a:endParaRPr lang="en-US"/>
          </a:p>
          <a:p>
            <a:endParaRPr lang="en-US"/>
          </a:p>
          <a:p>
            <a:r>
              <a:rPr lang="en-US"/>
              <a:t>We have multiplication nodes for multiplication of a variable by a vector or matrix…</a:t>
            </a:r>
          </a:p>
          <a:p>
            <a:endParaRPr lang="en-US"/>
          </a:p>
          <a:p>
            <a:r>
              <a:rPr lang="en-US"/>
              <a:t>We have summation nodes to add or subtract two variables…</a:t>
            </a:r>
          </a:p>
          <a:p>
            <a:endParaRPr lang="en-US"/>
          </a:p>
          <a:p>
            <a:r>
              <a:rPr lang="en-US"/>
              <a:t>And we have a Normal distribution node that forms a Gaussian potential for the output from an input random mean and variance …</a:t>
            </a:r>
            <a:endParaRPr lang="LID4096"/>
          </a:p>
        </p:txBody>
      </p:sp>
      <p:sp>
        <p:nvSpPr>
          <p:cNvPr id="4" name="Slide Number Placeholder 3">
            <a:extLst>
              <a:ext uri="{FF2B5EF4-FFF2-40B4-BE49-F238E27FC236}">
                <a16:creationId xmlns:a16="http://schemas.microsoft.com/office/drawing/2014/main" id="{09F9C302-2813-A428-B6DB-9F7C0EC05FC6}"/>
              </a:ext>
            </a:extLst>
          </p:cNvPr>
          <p:cNvSpPr>
            <a:spLocks noGrp="1"/>
          </p:cNvSpPr>
          <p:nvPr>
            <p:ph type="sldNum" sz="quarter" idx="5"/>
          </p:nvPr>
        </p:nvSpPr>
        <p:spPr/>
        <p:txBody>
          <a:bodyPr/>
          <a:lstStyle/>
          <a:p>
            <a:fld id="{E05A9740-BD37-4DCA-BDC4-7DBBAE15FA30}" type="slidenum">
              <a:rPr lang="nl-NL" smtClean="0"/>
              <a:t>28</a:t>
            </a:fld>
            <a:endParaRPr lang="nl-NL"/>
          </a:p>
        </p:txBody>
      </p:sp>
    </p:spTree>
    <p:extLst>
      <p:ext uri="{BB962C8B-B14F-4D97-AF65-F5344CB8AC3E}">
        <p14:creationId xmlns:p14="http://schemas.microsoft.com/office/powerpoint/2010/main" val="298666593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DF4C5-D909-C5B2-ABDA-3212208E9A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3C8018-2322-383E-3319-165987FD0A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B7D93A-0BBB-B00E-4E45-3BBFE0ABBF77}"/>
              </a:ext>
            </a:extLst>
          </p:cNvPr>
          <p:cNvSpPr>
            <a:spLocks noGrp="1"/>
          </p:cNvSpPr>
          <p:nvPr>
            <p:ph type="body" idx="1"/>
          </p:nvPr>
        </p:nvSpPr>
        <p:spPr/>
        <p:txBody>
          <a:bodyPr/>
          <a:lstStyle/>
          <a:p>
            <a:r>
              <a:rPr lang="en-US"/>
              <a:t>***Factor Graphs***</a:t>
            </a:r>
          </a:p>
          <a:p>
            <a:endParaRPr lang="en-US"/>
          </a:p>
          <a:p>
            <a:r>
              <a:rPr lang="en-US"/>
              <a:t>Factor graphs are easy to understand, and highly useful when it comes to model design.</a:t>
            </a:r>
          </a:p>
          <a:p>
            <a:endParaRPr lang="en-US"/>
          </a:p>
          <a:p>
            <a:r>
              <a:rPr lang="en-US"/>
              <a:t>In short, any arbitrary factorized probabilistic model can be encoded exactly as a factor graph. Consider the model p(</a:t>
            </a:r>
            <a:r>
              <a:rPr lang="en-US" err="1"/>
              <a:t>a,b,c</a:t>
            </a:r>
            <a:r>
              <a:rPr lang="en-US"/>
              <a:t>) = p(a)p(</a:t>
            </a:r>
            <a:r>
              <a:rPr lang="en-US" err="1"/>
              <a:t>b|a</a:t>
            </a:r>
            <a:r>
              <a:rPr lang="en-US"/>
              <a:t>)p(</a:t>
            </a:r>
            <a:r>
              <a:rPr lang="en-US" err="1"/>
              <a:t>c|b</a:t>
            </a:r>
            <a:r>
              <a:rPr lang="en-US"/>
              <a:t>)</a:t>
            </a:r>
          </a:p>
          <a:p>
            <a:endParaRPr lang="en-US"/>
          </a:p>
          <a:p>
            <a:r>
              <a:rPr lang="en-US"/>
              <a:t>This model has a representation as this Forney-style factor-graph, where the nodes denote the factors and the edges denote the variables. The conditional independencies are made vividly clear. This is a simple model and you may argue the algebraic form is just as clear.</a:t>
            </a:r>
          </a:p>
          <a:p>
            <a:endParaRPr lang="en-US"/>
          </a:p>
          <a:p>
            <a:r>
              <a:rPr lang="en-US"/>
              <a:t>However, when we consider a loopy model with arbitrary non-negative factors/potentials f such as p(</a:t>
            </a:r>
            <a:r>
              <a:rPr lang="en-US" err="1"/>
              <a:t>a,b,c,d</a:t>
            </a:r>
            <a:r>
              <a:rPr lang="en-US"/>
              <a:t>) </a:t>
            </a:r>
            <a:r>
              <a:rPr lang="en-US" err="1"/>
              <a:t>propto</a:t>
            </a:r>
            <a:r>
              <a:rPr lang="en-US"/>
              <a:t> 1/Z f_1(</a:t>
            </a:r>
            <a:r>
              <a:rPr lang="en-US" err="1"/>
              <a:t>a,b</a:t>
            </a:r>
            <a:r>
              <a:rPr lang="en-US"/>
              <a:t>) f_2(</a:t>
            </a:r>
            <a:r>
              <a:rPr lang="en-US" err="1"/>
              <a:t>b,c</a:t>
            </a:r>
            <a:r>
              <a:rPr lang="en-US"/>
              <a:t>) f_3(</a:t>
            </a:r>
            <a:r>
              <a:rPr lang="en-US" err="1"/>
              <a:t>c,d</a:t>
            </a:r>
            <a:r>
              <a:rPr lang="en-US"/>
              <a:t>) f_4(</a:t>
            </a:r>
            <a:r>
              <a:rPr lang="en-US" err="1"/>
              <a:t>d,a</a:t>
            </a:r>
            <a:r>
              <a:rPr lang="en-US"/>
              <a:t>) and this corresponding factor graph, and we see that the loop is readily apparent, whereas in the algebraic form, it is less so, and in more complicated models, model structure can be quite difficult to understand.</a:t>
            </a:r>
          </a:p>
          <a:p>
            <a:endParaRPr lang="en-US"/>
          </a:p>
          <a:p>
            <a:r>
              <a:rPr lang="en-US"/>
              <a:t>And so a [factor-graph is a convenient visual representation of a probabilistic model], useful for understanding model structure and formulating message-passing algorithms. </a:t>
            </a:r>
          </a:p>
          <a:p>
            <a:endParaRPr lang="en-US"/>
          </a:p>
          <a:p>
            <a:r>
              <a:rPr lang="en-US"/>
              <a:t>(pass) Its use becomes even more apparent as we begin to utilize hybrid message-passing approaches, where we apply variational constraints to the variables around specific nodes [highlight a node and show a variational factorization]</a:t>
            </a:r>
          </a:p>
          <a:p>
            <a:endParaRPr lang="en-US"/>
          </a:p>
          <a:p>
            <a:r>
              <a:rPr lang="en-US"/>
              <a:t>(pass) , and in cases of non-</a:t>
            </a:r>
            <a:r>
              <a:rPr lang="en-US" err="1"/>
              <a:t>conjugacies</a:t>
            </a:r>
            <a:r>
              <a:rPr lang="en-US"/>
              <a:t>, where we may need to apply form-constraints to certain variables that perform projections into conjugate families [highlight an edge and write “</a:t>
            </a:r>
            <a:r>
              <a:rPr lang="en-US" err="1"/>
              <a:t>ProjectTo</a:t>
            </a:r>
            <a:r>
              <a:rPr lang="en-US"/>
              <a:t> Gamma”]. </a:t>
            </a:r>
          </a:p>
          <a:p>
            <a:endParaRPr lang="en-US"/>
          </a:p>
          <a:p>
            <a:r>
              <a:rPr lang="en-US"/>
              <a:t>(pass) For now, we use Gaussian-conjugate factors without variational or form constraints. </a:t>
            </a:r>
          </a:p>
          <a:p>
            <a:endParaRPr lang="en-US"/>
          </a:p>
          <a:p>
            <a:r>
              <a:rPr lang="en-US"/>
              <a:t>We can also encode linear probabilistic models described algebraically, such as y = </a:t>
            </a:r>
            <a:r>
              <a:rPr lang="en-US" err="1"/>
              <a:t>Hx</a:t>
            </a:r>
            <a:r>
              <a:rPr lang="en-US"/>
              <a:t> + w, where y, x, and w are random variables, and A is a constant matrix, transpose vector, or scalar [ show equation, arrow, FFG ]</a:t>
            </a:r>
          </a:p>
          <a:p>
            <a:endParaRPr lang="en-US"/>
          </a:p>
          <a:p>
            <a:r>
              <a:rPr lang="en-US"/>
              <a:t>This highlights the presence of multiplication and summation nodes, where inverse and negated terms provide division and subtraction via the same factors.</a:t>
            </a:r>
          </a:p>
          <a:p>
            <a:endParaRPr lang="en-US"/>
          </a:p>
          <a:p>
            <a:r>
              <a:rPr lang="en-US"/>
              <a:t>Here we pause to review a few more factors that show up frequently in linear Gaussian models. Each have closed-form message rules.</a:t>
            </a:r>
          </a:p>
          <a:p>
            <a:endParaRPr lang="en-US"/>
          </a:p>
          <a:p>
            <a:r>
              <a:rPr lang="en-US"/>
              <a:t>When a variable connects to more than two factors, it gets duplicated via an equality node like this with these rules</a:t>
            </a:r>
          </a:p>
          <a:p>
            <a:endParaRPr lang="en-US"/>
          </a:p>
          <a:p>
            <a:r>
              <a:rPr lang="en-US"/>
              <a:t>Then we have point-mass factors used commonly for measured data, and encode </a:t>
            </a:r>
            <a:r>
              <a:rPr lang="en-US" err="1"/>
              <a:t>dirac</a:t>
            </a:r>
            <a:endParaRPr lang="en-US"/>
          </a:p>
          <a:p>
            <a:endParaRPr lang="en-US"/>
          </a:p>
          <a:p>
            <a:r>
              <a:rPr lang="en-US"/>
              <a:t>We have multiplication nodes for multiplication of a variable by a vector or matrix…</a:t>
            </a:r>
          </a:p>
          <a:p>
            <a:endParaRPr lang="en-US"/>
          </a:p>
          <a:p>
            <a:r>
              <a:rPr lang="en-US"/>
              <a:t>We have summation nodes to add or subtract two variables…</a:t>
            </a:r>
          </a:p>
          <a:p>
            <a:endParaRPr lang="en-US"/>
          </a:p>
          <a:p>
            <a:r>
              <a:rPr lang="en-US"/>
              <a:t>And we have a Normal distribution node that forms a Gaussian potential for the output from an input random mean and variance …</a:t>
            </a:r>
            <a:endParaRPr lang="LID4096"/>
          </a:p>
        </p:txBody>
      </p:sp>
      <p:sp>
        <p:nvSpPr>
          <p:cNvPr id="4" name="Slide Number Placeholder 3">
            <a:extLst>
              <a:ext uri="{FF2B5EF4-FFF2-40B4-BE49-F238E27FC236}">
                <a16:creationId xmlns:a16="http://schemas.microsoft.com/office/drawing/2014/main" id="{F961767A-5B7E-9718-BA03-9E36665A61B0}"/>
              </a:ext>
            </a:extLst>
          </p:cNvPr>
          <p:cNvSpPr>
            <a:spLocks noGrp="1"/>
          </p:cNvSpPr>
          <p:nvPr>
            <p:ph type="sldNum" sz="quarter" idx="5"/>
          </p:nvPr>
        </p:nvSpPr>
        <p:spPr/>
        <p:txBody>
          <a:bodyPr/>
          <a:lstStyle/>
          <a:p>
            <a:fld id="{E05A9740-BD37-4DCA-BDC4-7DBBAE15FA30}" type="slidenum">
              <a:rPr lang="nl-NL" smtClean="0"/>
              <a:t>29</a:t>
            </a:fld>
            <a:endParaRPr lang="nl-NL"/>
          </a:p>
        </p:txBody>
      </p:sp>
    </p:spTree>
    <p:extLst>
      <p:ext uri="{BB962C8B-B14F-4D97-AF65-F5344CB8AC3E}">
        <p14:creationId xmlns:p14="http://schemas.microsoft.com/office/powerpoint/2010/main" val="119764532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6F9C9-4DA3-25ED-5888-39B96D417E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319C25-257E-EBBF-744C-27C10C3DB2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B46994-BDC9-CC45-9EEB-F5E31E734A86}"/>
              </a:ext>
            </a:extLst>
          </p:cNvPr>
          <p:cNvSpPr>
            <a:spLocks noGrp="1"/>
          </p:cNvSpPr>
          <p:nvPr>
            <p:ph type="body" idx="1"/>
          </p:nvPr>
        </p:nvSpPr>
        <p:spPr/>
        <p:txBody>
          <a:bodyPr/>
          <a:lstStyle/>
          <a:p>
            <a:r>
              <a:rPr lang="en-US"/>
              <a:t>***Factor Graphs***</a:t>
            </a:r>
          </a:p>
          <a:p>
            <a:endParaRPr lang="en-US"/>
          </a:p>
          <a:p>
            <a:r>
              <a:rPr lang="en-US"/>
              <a:t>Factor graphs are easy to understand, and highly useful when it comes to model design.</a:t>
            </a:r>
          </a:p>
          <a:p>
            <a:endParaRPr lang="en-US"/>
          </a:p>
          <a:p>
            <a:r>
              <a:rPr lang="en-US"/>
              <a:t>In short, any arbitrary factorized probabilistic model can be encoded exactly as a factor graph. Consider the model p(</a:t>
            </a:r>
            <a:r>
              <a:rPr lang="en-US" err="1"/>
              <a:t>a,b,c</a:t>
            </a:r>
            <a:r>
              <a:rPr lang="en-US"/>
              <a:t>) = p(a)p(</a:t>
            </a:r>
            <a:r>
              <a:rPr lang="en-US" err="1"/>
              <a:t>b|a</a:t>
            </a:r>
            <a:r>
              <a:rPr lang="en-US"/>
              <a:t>)p(</a:t>
            </a:r>
            <a:r>
              <a:rPr lang="en-US" err="1"/>
              <a:t>c|b</a:t>
            </a:r>
            <a:r>
              <a:rPr lang="en-US"/>
              <a:t>)</a:t>
            </a:r>
          </a:p>
          <a:p>
            <a:endParaRPr lang="en-US"/>
          </a:p>
          <a:p>
            <a:r>
              <a:rPr lang="en-US"/>
              <a:t>This model has a representation as this Forney-style factor-graph, where the nodes denote the factors and the edges denote the variables. The conditional independencies are made vividly clear. This is a simple model and you may argue the algebraic form is just as clear.</a:t>
            </a:r>
          </a:p>
          <a:p>
            <a:endParaRPr lang="en-US"/>
          </a:p>
          <a:p>
            <a:r>
              <a:rPr lang="en-US"/>
              <a:t>However, when we consider a loopy model with arbitrary non-negative factors/potentials f such as p(</a:t>
            </a:r>
            <a:r>
              <a:rPr lang="en-US" err="1"/>
              <a:t>a,b,c,d</a:t>
            </a:r>
            <a:r>
              <a:rPr lang="en-US"/>
              <a:t>) </a:t>
            </a:r>
            <a:r>
              <a:rPr lang="en-US" err="1"/>
              <a:t>propto</a:t>
            </a:r>
            <a:r>
              <a:rPr lang="en-US"/>
              <a:t> 1/Z f_1(</a:t>
            </a:r>
            <a:r>
              <a:rPr lang="en-US" err="1"/>
              <a:t>a,b</a:t>
            </a:r>
            <a:r>
              <a:rPr lang="en-US"/>
              <a:t>) f_2(</a:t>
            </a:r>
            <a:r>
              <a:rPr lang="en-US" err="1"/>
              <a:t>b,c</a:t>
            </a:r>
            <a:r>
              <a:rPr lang="en-US"/>
              <a:t>) f_3(</a:t>
            </a:r>
            <a:r>
              <a:rPr lang="en-US" err="1"/>
              <a:t>c,d</a:t>
            </a:r>
            <a:r>
              <a:rPr lang="en-US"/>
              <a:t>) f_4(</a:t>
            </a:r>
            <a:r>
              <a:rPr lang="en-US" err="1"/>
              <a:t>d,a</a:t>
            </a:r>
            <a:r>
              <a:rPr lang="en-US"/>
              <a:t>) and this corresponding factor graph, and we see that the loop is readily apparent, whereas in the algebraic form, it is less so, and in more complicated models, model structure can be quite difficult to understand.</a:t>
            </a:r>
          </a:p>
          <a:p>
            <a:endParaRPr lang="en-US"/>
          </a:p>
          <a:p>
            <a:r>
              <a:rPr lang="en-US"/>
              <a:t>And so a [factor-graph is a convenient visual representation of a probabilistic model], useful for understanding model structure and formulating message-passing algorithms. </a:t>
            </a:r>
          </a:p>
          <a:p>
            <a:endParaRPr lang="en-US"/>
          </a:p>
          <a:p>
            <a:r>
              <a:rPr lang="en-US"/>
              <a:t>(pass) Its use becomes even more apparent as we begin to utilize hybrid message-passing approaches, where we apply variational constraints to the variables around specific nodes [highlight a node and show a variational factorization]</a:t>
            </a:r>
          </a:p>
          <a:p>
            <a:endParaRPr lang="en-US"/>
          </a:p>
          <a:p>
            <a:r>
              <a:rPr lang="en-US"/>
              <a:t>(pass) , and in cases of non-</a:t>
            </a:r>
            <a:r>
              <a:rPr lang="en-US" err="1"/>
              <a:t>conjugacies</a:t>
            </a:r>
            <a:r>
              <a:rPr lang="en-US"/>
              <a:t>, where we may need to apply form-constraints to certain variables that perform projections into conjugate families [highlight an edge and write “</a:t>
            </a:r>
            <a:r>
              <a:rPr lang="en-US" err="1"/>
              <a:t>ProjectTo</a:t>
            </a:r>
            <a:r>
              <a:rPr lang="en-US"/>
              <a:t> Gamma”]. </a:t>
            </a:r>
          </a:p>
          <a:p>
            <a:endParaRPr lang="en-US"/>
          </a:p>
          <a:p>
            <a:r>
              <a:rPr lang="en-US"/>
              <a:t>(pass) For now, we use Gaussian-conjugate factors without variational or form constraints. </a:t>
            </a:r>
          </a:p>
          <a:p>
            <a:endParaRPr lang="en-US"/>
          </a:p>
          <a:p>
            <a:r>
              <a:rPr lang="en-US"/>
              <a:t>We can also encode linear probabilistic models described algebraically, such as y = </a:t>
            </a:r>
            <a:r>
              <a:rPr lang="en-US" err="1"/>
              <a:t>Hx</a:t>
            </a:r>
            <a:r>
              <a:rPr lang="en-US"/>
              <a:t> + w, where y, x, and w are random variables, and A is a constant matrix, transpose vector, or scalar [ show equation, arrow, FFG ]</a:t>
            </a:r>
          </a:p>
          <a:p>
            <a:endParaRPr lang="en-US"/>
          </a:p>
          <a:p>
            <a:r>
              <a:rPr lang="en-US"/>
              <a:t>This highlights the presence of multiplication and summation nodes, where inverse and negated terms provide division and subtraction via the same factors.</a:t>
            </a:r>
          </a:p>
          <a:p>
            <a:endParaRPr lang="en-US"/>
          </a:p>
          <a:p>
            <a:r>
              <a:rPr lang="en-US"/>
              <a:t>Here we pause to review a few more factors that show up frequently in linear Gaussian models. Each have closed-form message rules.</a:t>
            </a:r>
          </a:p>
          <a:p>
            <a:endParaRPr lang="en-US"/>
          </a:p>
          <a:p>
            <a:r>
              <a:rPr lang="en-US"/>
              <a:t>When a variable connects to more than two factors, it gets duplicated via an equality node like this with these rules</a:t>
            </a:r>
          </a:p>
          <a:p>
            <a:endParaRPr lang="en-US"/>
          </a:p>
          <a:p>
            <a:r>
              <a:rPr lang="en-US"/>
              <a:t>Then we have point-mass factors used commonly for measured data, and encode </a:t>
            </a:r>
            <a:r>
              <a:rPr lang="en-US" err="1"/>
              <a:t>dirac</a:t>
            </a:r>
            <a:endParaRPr lang="en-US"/>
          </a:p>
          <a:p>
            <a:endParaRPr lang="en-US"/>
          </a:p>
          <a:p>
            <a:r>
              <a:rPr lang="en-US"/>
              <a:t>We have multiplication nodes for multiplication of a variable by a vector or matrix…</a:t>
            </a:r>
          </a:p>
          <a:p>
            <a:endParaRPr lang="en-US"/>
          </a:p>
          <a:p>
            <a:r>
              <a:rPr lang="en-US"/>
              <a:t>We have summation nodes to add or subtract two variables…</a:t>
            </a:r>
          </a:p>
          <a:p>
            <a:endParaRPr lang="en-US"/>
          </a:p>
          <a:p>
            <a:r>
              <a:rPr lang="en-US"/>
              <a:t>And we have a Normal distribution node that forms a Gaussian potential for the output from an input random mean and variance …</a:t>
            </a:r>
            <a:endParaRPr lang="LID4096"/>
          </a:p>
        </p:txBody>
      </p:sp>
      <p:sp>
        <p:nvSpPr>
          <p:cNvPr id="4" name="Slide Number Placeholder 3">
            <a:extLst>
              <a:ext uri="{FF2B5EF4-FFF2-40B4-BE49-F238E27FC236}">
                <a16:creationId xmlns:a16="http://schemas.microsoft.com/office/drawing/2014/main" id="{C34D4ADA-4657-2D74-6B81-E1C473B64766}"/>
              </a:ext>
            </a:extLst>
          </p:cNvPr>
          <p:cNvSpPr>
            <a:spLocks noGrp="1"/>
          </p:cNvSpPr>
          <p:nvPr>
            <p:ph type="sldNum" sz="quarter" idx="5"/>
          </p:nvPr>
        </p:nvSpPr>
        <p:spPr/>
        <p:txBody>
          <a:bodyPr/>
          <a:lstStyle/>
          <a:p>
            <a:fld id="{E05A9740-BD37-4DCA-BDC4-7DBBAE15FA30}" type="slidenum">
              <a:rPr lang="nl-NL" smtClean="0"/>
              <a:t>30</a:t>
            </a:fld>
            <a:endParaRPr lang="nl-NL"/>
          </a:p>
        </p:txBody>
      </p:sp>
    </p:spTree>
    <p:extLst>
      <p:ext uri="{BB962C8B-B14F-4D97-AF65-F5344CB8AC3E}">
        <p14:creationId xmlns:p14="http://schemas.microsoft.com/office/powerpoint/2010/main" val="156962391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D66ADC-04C7-AA87-9248-AAF3D3C26D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E092B1-9AE5-893C-9FD3-ADCB9B91552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76FB693-CA3D-BA35-B610-4C891B8E6874}"/>
              </a:ext>
            </a:extLst>
          </p:cNvPr>
          <p:cNvSpPr>
            <a:spLocks noGrp="1"/>
          </p:cNvSpPr>
          <p:nvPr>
            <p:ph type="body" sz="quarter" idx="3"/>
          </p:nvPr>
        </p:nvSpPr>
        <p:spPr/>
        <p:txBody>
          <a:bodyPr/>
          <a:lstStyle/>
          <a:p>
            <a:r>
              <a:rPr lang="en-US"/>
              <a:t>Outline</a:t>
            </a:r>
          </a:p>
          <a:p>
            <a:endParaRPr lang="en-US"/>
          </a:p>
          <a:p>
            <a:endParaRPr lang="en-US"/>
          </a:p>
          <a:p>
            <a:endParaRPr lang="en-US"/>
          </a:p>
          <a:p>
            <a:endParaRPr lang="en-US"/>
          </a:p>
          <a:p>
            <a:endParaRPr lang="en-US"/>
          </a:p>
          <a:p>
            <a:endParaRPr lang="en-US"/>
          </a:p>
          <a:p>
            <a:endParaRPr lang="en-US"/>
          </a:p>
          <a:p>
            <a:endParaRPr lang="en-US"/>
          </a:p>
        </p:txBody>
      </p:sp>
      <p:sp>
        <p:nvSpPr>
          <p:cNvPr id="4" name="Slide Number Placeholder 3">
            <a:extLst>
              <a:ext uri="{FF2B5EF4-FFF2-40B4-BE49-F238E27FC236}">
                <a16:creationId xmlns:a16="http://schemas.microsoft.com/office/drawing/2014/main" id="{F6358465-6E41-25CB-D34C-8F3DFF928D0E}"/>
              </a:ext>
            </a:extLst>
          </p:cNvPr>
          <p:cNvSpPr>
            <a:spLocks noGrp="1"/>
          </p:cNvSpPr>
          <p:nvPr>
            <p:ph type="sldNum" sz="quarter" idx="5"/>
          </p:nvPr>
        </p:nvSpPr>
        <p:spPr/>
      </p:sp>
    </p:spTree>
    <p:extLst>
      <p:ext uri="{BB962C8B-B14F-4D97-AF65-F5344CB8AC3E}">
        <p14:creationId xmlns:p14="http://schemas.microsoft.com/office/powerpoint/2010/main" val="76682223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***Belief Propagation***</a:t>
            </a:r>
          </a:p>
          <a:p>
            <a:endParaRPr lang="en-US"/>
          </a:p>
          <a:p>
            <a:r>
              <a:rPr lang="en-US"/>
              <a:t>In addition to considering a simple factor graph, we also consider the simplest message-passing formulation, called alternatively Belief-propagation and Sum-product message-passing. Additionally, we perform simple asynchronous message-passing, and I’ll explain what that means.</a:t>
            </a:r>
          </a:p>
          <a:p>
            <a:endParaRPr lang="en-US"/>
          </a:p>
          <a:p>
            <a:r>
              <a:rPr lang="en-US"/>
              <a:t>There are really just two steps to belief propagation that we repeat iteratively until convergence.</a:t>
            </a:r>
          </a:p>
          <a:p>
            <a:endParaRPr lang="en-US"/>
          </a:p>
          <a:p>
            <a:r>
              <a:rPr lang="en-US"/>
              <a:t>The first step is computation of messages, and the second is computation of marginals.</a:t>
            </a:r>
          </a:p>
          <a:p>
            <a:endParaRPr lang="en-US"/>
          </a:p>
          <a:p>
            <a:r>
              <a:rPr lang="en-US"/>
              <a:t>Messages are the local information content about a variable that is sent out from a factor along the edge for that variable, considering that factor’s inputs and factor function. They are functions or potentials of the output variable and need not be normalized, though they often are. </a:t>
            </a:r>
          </a:p>
          <a:p>
            <a:endParaRPr lang="en-US"/>
          </a:p>
          <a:p>
            <a:r>
              <a:rPr lang="en-US"/>
              <a:t>For belief-propagation, the an output message is computed as the integral of the factor function multiplied by all input messages, from variables besides the one for whom we are computing the message. This is shown as so… For Gaussian-conjugate factors and Gaussian messages, these message computations are available in closed-form.</a:t>
            </a:r>
          </a:p>
          <a:p>
            <a:endParaRPr lang="en-US"/>
          </a:p>
          <a:p>
            <a:r>
              <a:rPr lang="en-US"/>
              <a:t>These messages then serve as input to the other factor along that edge.</a:t>
            </a:r>
          </a:p>
          <a:p>
            <a:endParaRPr lang="en-US"/>
          </a:p>
          <a:p>
            <a:r>
              <a:rPr lang="en-US"/>
              <a:t>Asynchronous message-passing then implies that when a factors inputs have changed, it sends out a new message. That’s it.</a:t>
            </a:r>
          </a:p>
          <a:p>
            <a:endParaRPr lang="en-US"/>
          </a:p>
          <a:p>
            <a:r>
              <a:rPr lang="en-US"/>
              <a:t>Second, we compute marginals. We note that the two connected factors both send messages along a variable’s edge. The current iteration’s approximate marginal belief for that variable is the normalized product of those two messages. This is shown as so…</a:t>
            </a:r>
          </a:p>
          <a:p>
            <a:endParaRPr lang="en-US"/>
          </a:p>
          <a:p>
            <a:r>
              <a:rPr lang="en-US"/>
              <a:t>So, factors send messages whenever inputs change, and marginals are computed whenever messages along an edge change.</a:t>
            </a:r>
          </a:p>
          <a:p>
            <a:endParaRPr lang="en-US"/>
          </a:p>
          <a:p>
            <a:r>
              <a:rPr lang="en-US"/>
              <a:t>In a probabilistic model with loops, convergence is not guaranteed, but when it does as it often does in practice, means correspond to the exact posterior marginal means, while covariances are found to be in general, not exact, and often over-confident.</a:t>
            </a:r>
          </a:p>
          <a:p>
            <a:endParaRPr lang="en-US"/>
          </a:p>
          <a:p>
            <a:r>
              <a:rPr lang="en-US"/>
              <a:t>Now we return to our factorized Gaussian model and we showcase the message computation rules for both factors.</a:t>
            </a:r>
          </a:p>
          <a:p>
            <a:endParaRPr lang="en-US"/>
          </a:p>
          <a:p>
            <a:r>
              <a:rPr lang="en-US"/>
              <a:t>For Phi(</a:t>
            </a:r>
            <a:r>
              <a:rPr lang="en-US" err="1"/>
              <a:t>x_i</a:t>
            </a:r>
            <a:r>
              <a:rPr lang="en-US"/>
              <a:t>), only a single message is computed, and as it has no other inputs that might change, it’s outgoing message is computed only once. Evaluating this integral, we find the message to be so…</a:t>
            </a:r>
          </a:p>
          <a:p>
            <a:endParaRPr lang="en-US"/>
          </a:p>
          <a:p>
            <a:r>
              <a:rPr lang="en-US"/>
              <a:t>For Psi(</a:t>
            </a:r>
            <a:r>
              <a:rPr lang="en-US" err="1"/>
              <a:t>x_i</a:t>
            </a:r>
            <a:r>
              <a:rPr lang="en-US"/>
              <a:t>, </a:t>
            </a:r>
            <a:r>
              <a:rPr lang="en-US" err="1"/>
              <a:t>x_j</a:t>
            </a:r>
            <a:r>
              <a:rPr lang="en-US"/>
              <a:t>), the factor is symmetric about </a:t>
            </a:r>
            <a:r>
              <a:rPr lang="en-US" err="1"/>
              <a:t>x_i</a:t>
            </a:r>
            <a:r>
              <a:rPr lang="en-US"/>
              <a:t> and </a:t>
            </a:r>
            <a:r>
              <a:rPr lang="en-US" err="1"/>
              <a:t>x_j</a:t>
            </a:r>
            <a:r>
              <a:rPr lang="en-US"/>
              <a:t>, and so the same message rule is used in either case. It takes the form of this integral, with this closed-form solution… It gets recomputed for </a:t>
            </a:r>
            <a:r>
              <a:rPr lang="en-US" err="1"/>
              <a:t>x_j</a:t>
            </a:r>
            <a:r>
              <a:rPr lang="en-US"/>
              <a:t> whenever the incoming message for </a:t>
            </a:r>
            <a:r>
              <a:rPr lang="en-US" err="1"/>
              <a:t>x_i</a:t>
            </a:r>
            <a:r>
              <a:rPr lang="en-US"/>
              <a:t> changes, and vice-versa.</a:t>
            </a:r>
          </a:p>
          <a:p>
            <a:endParaRPr lang="en-US"/>
          </a:p>
          <a:p>
            <a:r>
              <a:rPr lang="en-US"/>
              <a:t>Finally, for completeness, we display the closed-form product of the two messages along any of these edges that computes the current iterative marginal. That is simply the sum of precision-weighted means and precisions, also known as information vectors and matrices, respectively. </a:t>
            </a:r>
            <a:endParaRPr lang="LID4096"/>
          </a:p>
        </p:txBody>
      </p:sp>
      <p:sp>
        <p:nvSpPr>
          <p:cNvPr id="4" name="Slide Number Placeholder 3"/>
          <p:cNvSpPr>
            <a:spLocks noGrp="1"/>
          </p:cNvSpPr>
          <p:nvPr>
            <p:ph type="sldNum" sz="quarter" idx="5"/>
          </p:nvPr>
        </p:nvSpPr>
        <p:spPr/>
        <p:txBody>
          <a:bodyPr/>
          <a:lstStyle/>
          <a:p>
            <a:fld id="{E05A9740-BD37-4DCA-BDC4-7DBBAE15FA30}" type="slidenum">
              <a:rPr lang="nl-NL" smtClean="0"/>
              <a:t>32</a:t>
            </a:fld>
            <a:endParaRPr lang="nl-NL"/>
          </a:p>
        </p:txBody>
      </p:sp>
    </p:spTree>
    <p:extLst>
      <p:ext uri="{BB962C8B-B14F-4D97-AF65-F5344CB8AC3E}">
        <p14:creationId xmlns:p14="http://schemas.microsoft.com/office/powerpoint/2010/main" val="286327532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42AA7-12D9-290B-C078-B33D9AE0E2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94F349-FDD6-8857-449F-CB319F0A2F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426E59-4E33-52A9-9C88-BF5563765DEE}"/>
              </a:ext>
            </a:extLst>
          </p:cNvPr>
          <p:cNvSpPr>
            <a:spLocks noGrp="1"/>
          </p:cNvSpPr>
          <p:nvPr>
            <p:ph type="body" idx="1"/>
          </p:nvPr>
        </p:nvSpPr>
        <p:spPr/>
        <p:txBody>
          <a:bodyPr/>
          <a:lstStyle/>
          <a:p>
            <a:r>
              <a:rPr lang="en-US"/>
              <a:t>***Belief Propagation***</a:t>
            </a:r>
          </a:p>
          <a:p>
            <a:endParaRPr lang="en-US"/>
          </a:p>
          <a:p>
            <a:r>
              <a:rPr lang="en-US"/>
              <a:t>In addition to considering a simple factor graph, we also consider the simplest message-passing formulation, called alternatively Belief-propagation and Sum-product message-passing. Additionally, we perform simple asynchronous message-passing, and I’ll explain what that means.</a:t>
            </a:r>
          </a:p>
          <a:p>
            <a:endParaRPr lang="en-US"/>
          </a:p>
          <a:p>
            <a:r>
              <a:rPr lang="en-US"/>
              <a:t>There are really just two steps to belief propagation that we repeat iteratively until convergence.</a:t>
            </a:r>
          </a:p>
          <a:p>
            <a:endParaRPr lang="en-US"/>
          </a:p>
          <a:p>
            <a:r>
              <a:rPr lang="en-US"/>
              <a:t>The first step is computation of messages, and the second is computation of marginals.</a:t>
            </a:r>
          </a:p>
          <a:p>
            <a:endParaRPr lang="en-US"/>
          </a:p>
          <a:p>
            <a:r>
              <a:rPr lang="en-US"/>
              <a:t>Messages are the local information content about a variable that is sent out from a factor along the edge for that variable, considering that factor’s inputs and factor function. They are functions or potentials of the output variable and need not be normalized, though they often are. </a:t>
            </a:r>
          </a:p>
          <a:p>
            <a:endParaRPr lang="en-US"/>
          </a:p>
          <a:p>
            <a:r>
              <a:rPr lang="en-US"/>
              <a:t>For belief-propagation, the an output message is computed as the integral of the factor function multiplied by all input messages, from variables besides the one for whom we are computing the message. This is shown as so… For Gaussian-conjugate factors and Gaussian messages, these message computations are available in closed-form.</a:t>
            </a:r>
          </a:p>
          <a:p>
            <a:endParaRPr lang="en-US"/>
          </a:p>
          <a:p>
            <a:r>
              <a:rPr lang="en-US"/>
              <a:t>These messages then serve as input to the other factor along that edge.</a:t>
            </a:r>
          </a:p>
          <a:p>
            <a:endParaRPr lang="en-US"/>
          </a:p>
          <a:p>
            <a:r>
              <a:rPr lang="en-US"/>
              <a:t>Asynchronous message-passing then implies that when a factors inputs have changed, it sends out a new message. That’s it.</a:t>
            </a:r>
          </a:p>
          <a:p>
            <a:endParaRPr lang="en-US"/>
          </a:p>
          <a:p>
            <a:r>
              <a:rPr lang="en-US"/>
              <a:t>Second, we compute marginals. We note that the two connected factors both send messages along a variable’s edge. The current iteration’s approximate marginal belief for that variable is the normalized product of those two messages. This is shown as so…</a:t>
            </a:r>
          </a:p>
          <a:p>
            <a:endParaRPr lang="en-US"/>
          </a:p>
          <a:p>
            <a:r>
              <a:rPr lang="en-US"/>
              <a:t>So, factors send messages whenever inputs change, and marginals are computed whenever messages along an edge change.</a:t>
            </a:r>
          </a:p>
          <a:p>
            <a:endParaRPr lang="en-US"/>
          </a:p>
          <a:p>
            <a:r>
              <a:rPr lang="en-US"/>
              <a:t>In a probabilistic model with loops, convergence is not guaranteed, but when it does as it often does in practice, means correspond to the exact posterior marginal means, while covariances are found to be in general, not exact, and often over-confident.</a:t>
            </a:r>
          </a:p>
          <a:p>
            <a:endParaRPr lang="en-US"/>
          </a:p>
          <a:p>
            <a:r>
              <a:rPr lang="en-US"/>
              <a:t>Now we return to our factorized Gaussian model and we showcase the message computation rules for both factors.</a:t>
            </a:r>
          </a:p>
          <a:p>
            <a:endParaRPr lang="en-US"/>
          </a:p>
          <a:p>
            <a:r>
              <a:rPr lang="en-US"/>
              <a:t>For Phi(</a:t>
            </a:r>
            <a:r>
              <a:rPr lang="en-US" err="1"/>
              <a:t>x_i</a:t>
            </a:r>
            <a:r>
              <a:rPr lang="en-US"/>
              <a:t>), only a single message is computed, and as it has no other inputs that might change, it’s outgoing message is computed only once. Evaluating this integral, we find the message to be so…</a:t>
            </a:r>
          </a:p>
          <a:p>
            <a:endParaRPr lang="en-US"/>
          </a:p>
          <a:p>
            <a:r>
              <a:rPr lang="en-US"/>
              <a:t>For Psi(</a:t>
            </a:r>
            <a:r>
              <a:rPr lang="en-US" err="1"/>
              <a:t>x_i</a:t>
            </a:r>
            <a:r>
              <a:rPr lang="en-US"/>
              <a:t>, </a:t>
            </a:r>
            <a:r>
              <a:rPr lang="en-US" err="1"/>
              <a:t>x_j</a:t>
            </a:r>
            <a:r>
              <a:rPr lang="en-US"/>
              <a:t>), the factor is symmetric about </a:t>
            </a:r>
            <a:r>
              <a:rPr lang="en-US" err="1"/>
              <a:t>x_i</a:t>
            </a:r>
            <a:r>
              <a:rPr lang="en-US"/>
              <a:t> and </a:t>
            </a:r>
            <a:r>
              <a:rPr lang="en-US" err="1"/>
              <a:t>x_j</a:t>
            </a:r>
            <a:r>
              <a:rPr lang="en-US"/>
              <a:t>, and so the same message rule is used in either case. It takes the form of this integral, with this closed-form solution… It gets recomputed for </a:t>
            </a:r>
            <a:r>
              <a:rPr lang="en-US" err="1"/>
              <a:t>x_j</a:t>
            </a:r>
            <a:r>
              <a:rPr lang="en-US"/>
              <a:t> whenever the incoming message for </a:t>
            </a:r>
            <a:r>
              <a:rPr lang="en-US" err="1"/>
              <a:t>x_i</a:t>
            </a:r>
            <a:r>
              <a:rPr lang="en-US"/>
              <a:t> changes, and vice-versa.</a:t>
            </a:r>
          </a:p>
          <a:p>
            <a:endParaRPr lang="en-US"/>
          </a:p>
          <a:p>
            <a:r>
              <a:rPr lang="en-US"/>
              <a:t>Finally, for completeness, we display the closed-form product of the two messages along any of these edges that computes the current iterative marginal. That is simply the sum of precision-weighted means and precisions, also known as information vectors and matrices, respectively. </a:t>
            </a:r>
            <a:endParaRPr lang="LID4096"/>
          </a:p>
        </p:txBody>
      </p:sp>
      <p:sp>
        <p:nvSpPr>
          <p:cNvPr id="4" name="Slide Number Placeholder 3">
            <a:extLst>
              <a:ext uri="{FF2B5EF4-FFF2-40B4-BE49-F238E27FC236}">
                <a16:creationId xmlns:a16="http://schemas.microsoft.com/office/drawing/2014/main" id="{E7FC166F-7094-BB8F-43A6-FF8E0087139A}"/>
              </a:ext>
            </a:extLst>
          </p:cNvPr>
          <p:cNvSpPr>
            <a:spLocks noGrp="1"/>
          </p:cNvSpPr>
          <p:nvPr>
            <p:ph type="sldNum" sz="quarter" idx="5"/>
          </p:nvPr>
        </p:nvSpPr>
        <p:spPr/>
        <p:txBody>
          <a:bodyPr/>
          <a:lstStyle/>
          <a:p>
            <a:fld id="{E05A9740-BD37-4DCA-BDC4-7DBBAE15FA30}" type="slidenum">
              <a:rPr lang="nl-NL" smtClean="0"/>
              <a:t>33</a:t>
            </a:fld>
            <a:endParaRPr lang="nl-NL"/>
          </a:p>
        </p:txBody>
      </p:sp>
    </p:spTree>
    <p:extLst>
      <p:ext uri="{BB962C8B-B14F-4D97-AF65-F5344CB8AC3E}">
        <p14:creationId xmlns:p14="http://schemas.microsoft.com/office/powerpoint/2010/main" val="21895835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74A069-F4AA-3C24-FD9F-9A0F73E0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FE3B1F-1CFF-C0F8-1248-46551C7DA7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B19E4F-257D-E7CE-B366-82EA4B2EACC6}"/>
              </a:ext>
            </a:extLst>
          </p:cNvPr>
          <p:cNvSpPr>
            <a:spLocks noGrp="1"/>
          </p:cNvSpPr>
          <p:nvPr>
            <p:ph type="body" idx="1"/>
          </p:nvPr>
        </p:nvSpPr>
        <p:spPr/>
        <p:txBody>
          <a:bodyPr/>
          <a:lstStyle/>
          <a:p>
            <a:r>
              <a:rPr lang="en-US"/>
              <a:t>***Belief Propagation***</a:t>
            </a:r>
          </a:p>
          <a:p>
            <a:endParaRPr lang="en-US"/>
          </a:p>
          <a:p>
            <a:r>
              <a:rPr lang="en-US"/>
              <a:t>In addition to considering a simple factor graph, we also consider the simplest message-passing formulation, called alternatively Belief-propagation and Sum-product message-passing. Additionally, we perform simple asynchronous message-passing, and I’ll explain what that means.</a:t>
            </a:r>
          </a:p>
          <a:p>
            <a:endParaRPr lang="en-US"/>
          </a:p>
          <a:p>
            <a:r>
              <a:rPr lang="en-US"/>
              <a:t>There are really just two steps to belief propagation that we repeat iteratively until convergence.</a:t>
            </a:r>
          </a:p>
          <a:p>
            <a:endParaRPr lang="en-US"/>
          </a:p>
          <a:p>
            <a:r>
              <a:rPr lang="en-US"/>
              <a:t>The first step is computation of messages, and the second is computation of marginals.</a:t>
            </a:r>
          </a:p>
          <a:p>
            <a:endParaRPr lang="en-US"/>
          </a:p>
          <a:p>
            <a:r>
              <a:rPr lang="en-US"/>
              <a:t>Messages are the local information content about a variable that is sent out from a factor along the edge for that variable, considering that factor’s inputs and factor function. They are functions or potentials of the output variable and need not be normalized, though they often are. </a:t>
            </a:r>
          </a:p>
          <a:p>
            <a:endParaRPr lang="en-US"/>
          </a:p>
          <a:p>
            <a:r>
              <a:rPr lang="en-US"/>
              <a:t>For belief-propagation, the an output message is computed as the integral of the factor function multiplied by all input messages, from variables besides the one for whom we are computing the message. This is shown as so… For Gaussian-conjugate factors and Gaussian messages, these message computations are available in closed-form.</a:t>
            </a:r>
          </a:p>
          <a:p>
            <a:endParaRPr lang="en-US"/>
          </a:p>
          <a:p>
            <a:r>
              <a:rPr lang="en-US"/>
              <a:t>These messages then serve as input to the other factor along that edge.</a:t>
            </a:r>
          </a:p>
          <a:p>
            <a:endParaRPr lang="en-US"/>
          </a:p>
          <a:p>
            <a:r>
              <a:rPr lang="en-US"/>
              <a:t>Asynchronous message-passing then implies that when a factors inputs have changed, it sends out a new message. That’s it.</a:t>
            </a:r>
          </a:p>
          <a:p>
            <a:endParaRPr lang="en-US"/>
          </a:p>
          <a:p>
            <a:r>
              <a:rPr lang="en-US"/>
              <a:t>Second, we compute marginals. We note that the two connected factors both send messages along a variable’s edge. The current iteration’s approximate marginal belief for that variable is the normalized product of those two messages. This is shown as so…</a:t>
            </a:r>
          </a:p>
          <a:p>
            <a:endParaRPr lang="en-US"/>
          </a:p>
          <a:p>
            <a:r>
              <a:rPr lang="en-US"/>
              <a:t>So, factors send messages whenever inputs change, and marginals are computed whenever messages along an edge change.</a:t>
            </a:r>
          </a:p>
          <a:p>
            <a:endParaRPr lang="en-US"/>
          </a:p>
          <a:p>
            <a:r>
              <a:rPr lang="en-US"/>
              <a:t>In a probabilistic model with loops, convergence is not guaranteed, but when it does as it often does in practice, means correspond to the exact posterior marginal means, while covariances are found to be in general, not exact, and often over-confident.</a:t>
            </a:r>
          </a:p>
          <a:p>
            <a:endParaRPr lang="en-US"/>
          </a:p>
          <a:p>
            <a:r>
              <a:rPr lang="en-US"/>
              <a:t>Now we return to our factorized Gaussian model and we showcase the message computation rules for both factors.</a:t>
            </a:r>
          </a:p>
          <a:p>
            <a:endParaRPr lang="en-US"/>
          </a:p>
          <a:p>
            <a:r>
              <a:rPr lang="en-US"/>
              <a:t>For Phi(</a:t>
            </a:r>
            <a:r>
              <a:rPr lang="en-US" err="1"/>
              <a:t>x_i</a:t>
            </a:r>
            <a:r>
              <a:rPr lang="en-US"/>
              <a:t>), only a single message is computed, and as it has no other inputs that might change, it’s outgoing message is computed only once. Evaluating this integral, we find the message to be so…</a:t>
            </a:r>
          </a:p>
          <a:p>
            <a:endParaRPr lang="en-US"/>
          </a:p>
          <a:p>
            <a:r>
              <a:rPr lang="en-US"/>
              <a:t>For Psi(</a:t>
            </a:r>
            <a:r>
              <a:rPr lang="en-US" err="1"/>
              <a:t>x_i</a:t>
            </a:r>
            <a:r>
              <a:rPr lang="en-US"/>
              <a:t>, </a:t>
            </a:r>
            <a:r>
              <a:rPr lang="en-US" err="1"/>
              <a:t>x_j</a:t>
            </a:r>
            <a:r>
              <a:rPr lang="en-US"/>
              <a:t>), the factor is symmetric about </a:t>
            </a:r>
            <a:r>
              <a:rPr lang="en-US" err="1"/>
              <a:t>x_i</a:t>
            </a:r>
            <a:r>
              <a:rPr lang="en-US"/>
              <a:t> and </a:t>
            </a:r>
            <a:r>
              <a:rPr lang="en-US" err="1"/>
              <a:t>x_j</a:t>
            </a:r>
            <a:r>
              <a:rPr lang="en-US"/>
              <a:t>, and so the same message rule is used in either case. It takes the form of this integral, with this closed-form solution… It gets recomputed for </a:t>
            </a:r>
            <a:r>
              <a:rPr lang="en-US" err="1"/>
              <a:t>x_j</a:t>
            </a:r>
            <a:r>
              <a:rPr lang="en-US"/>
              <a:t> whenever the incoming message for </a:t>
            </a:r>
            <a:r>
              <a:rPr lang="en-US" err="1"/>
              <a:t>x_i</a:t>
            </a:r>
            <a:r>
              <a:rPr lang="en-US"/>
              <a:t> changes, and vice-versa.</a:t>
            </a:r>
          </a:p>
          <a:p>
            <a:endParaRPr lang="en-US"/>
          </a:p>
          <a:p>
            <a:r>
              <a:rPr lang="en-US"/>
              <a:t>Finally, for completeness, we display the closed-form product of the two messages along any of these edges that computes the current iterative marginal. That is simply the sum of precision-weighted means and precisions, also known as information vectors and matrices, respectively. </a:t>
            </a:r>
            <a:endParaRPr lang="LID4096"/>
          </a:p>
        </p:txBody>
      </p:sp>
      <p:sp>
        <p:nvSpPr>
          <p:cNvPr id="4" name="Slide Number Placeholder 3">
            <a:extLst>
              <a:ext uri="{FF2B5EF4-FFF2-40B4-BE49-F238E27FC236}">
                <a16:creationId xmlns:a16="http://schemas.microsoft.com/office/drawing/2014/main" id="{21DBE159-BBCC-5802-653C-D73352B60C79}"/>
              </a:ext>
            </a:extLst>
          </p:cNvPr>
          <p:cNvSpPr>
            <a:spLocks noGrp="1"/>
          </p:cNvSpPr>
          <p:nvPr>
            <p:ph type="sldNum" sz="quarter" idx="5"/>
          </p:nvPr>
        </p:nvSpPr>
        <p:spPr/>
        <p:txBody>
          <a:bodyPr/>
          <a:lstStyle/>
          <a:p>
            <a:fld id="{E05A9740-BD37-4DCA-BDC4-7DBBAE15FA30}" type="slidenum">
              <a:rPr lang="nl-NL" smtClean="0"/>
              <a:t>34</a:t>
            </a:fld>
            <a:endParaRPr lang="nl-NL"/>
          </a:p>
        </p:txBody>
      </p:sp>
    </p:spTree>
    <p:extLst>
      <p:ext uri="{BB962C8B-B14F-4D97-AF65-F5344CB8AC3E}">
        <p14:creationId xmlns:p14="http://schemas.microsoft.com/office/powerpoint/2010/main" val="4492962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94DAD-9D25-517D-2DD4-39E3D630DA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A387F4-2099-FB9A-DE2A-BE008A127B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7F8361-6EDB-2769-8DFC-83BC463E016E}"/>
              </a:ext>
            </a:extLst>
          </p:cNvPr>
          <p:cNvSpPr>
            <a:spLocks noGrp="1"/>
          </p:cNvSpPr>
          <p:nvPr>
            <p:ph type="body" idx="1"/>
          </p:nvPr>
        </p:nvSpPr>
        <p:spPr/>
        <p:txBody>
          <a:bodyPr/>
          <a:lstStyle/>
          <a:p>
            <a:r>
              <a:rPr lang="en-US"/>
              <a:t>***Belief Propagation***</a:t>
            </a:r>
          </a:p>
          <a:p>
            <a:endParaRPr lang="en-US"/>
          </a:p>
          <a:p>
            <a:r>
              <a:rPr lang="en-US"/>
              <a:t>In addition to considering a simple factor graph, we also consider the simplest message-passing formulation, called alternatively Belief-propagation and Sum-product message-passing. Additionally, we perform simple asynchronous message-passing, and I’ll explain what that means.</a:t>
            </a:r>
          </a:p>
          <a:p>
            <a:endParaRPr lang="en-US"/>
          </a:p>
          <a:p>
            <a:r>
              <a:rPr lang="en-US"/>
              <a:t>There are really just two steps to belief propagation that we repeat iteratively until convergence.</a:t>
            </a:r>
          </a:p>
          <a:p>
            <a:endParaRPr lang="en-US"/>
          </a:p>
          <a:p>
            <a:r>
              <a:rPr lang="en-US"/>
              <a:t>The first step is computation of messages, and the second is computation of marginals.</a:t>
            </a:r>
          </a:p>
          <a:p>
            <a:endParaRPr lang="en-US"/>
          </a:p>
          <a:p>
            <a:r>
              <a:rPr lang="en-US"/>
              <a:t>Messages are the local information content about a variable that is sent out from a factor along the edge for that variable, considering that factor’s inputs and factor function. They are functions or potentials of the output variable and need not be normalized, though they often are. </a:t>
            </a:r>
          </a:p>
          <a:p>
            <a:endParaRPr lang="en-US"/>
          </a:p>
          <a:p>
            <a:r>
              <a:rPr lang="en-US"/>
              <a:t>For belief-propagation, the an output message is computed as the integral of the factor function multiplied by all input messages, from variables besides the one for whom we are computing the message. This is shown as so… For Gaussian-conjugate factors and Gaussian messages, these message computations are available in closed-form.</a:t>
            </a:r>
          </a:p>
          <a:p>
            <a:endParaRPr lang="en-US"/>
          </a:p>
          <a:p>
            <a:r>
              <a:rPr lang="en-US"/>
              <a:t>These messages then serve as input to the other factor along that edge.</a:t>
            </a:r>
          </a:p>
          <a:p>
            <a:endParaRPr lang="en-US"/>
          </a:p>
          <a:p>
            <a:r>
              <a:rPr lang="en-US"/>
              <a:t>Asynchronous message-passing then implies that when a factors inputs have changed, it sends out a new message. That’s it.</a:t>
            </a:r>
          </a:p>
          <a:p>
            <a:endParaRPr lang="en-US"/>
          </a:p>
          <a:p>
            <a:r>
              <a:rPr lang="en-US"/>
              <a:t>Second, we compute marginals. We note that the two connected factors both send messages along a variable’s edge. The current iteration’s approximate marginal belief for that variable is the normalized product of those two messages. This is shown as so…</a:t>
            </a:r>
          </a:p>
          <a:p>
            <a:endParaRPr lang="en-US"/>
          </a:p>
          <a:p>
            <a:r>
              <a:rPr lang="en-US"/>
              <a:t>So, factors send messages whenever inputs change, and marginals are computed whenever messages along an edge change.</a:t>
            </a:r>
          </a:p>
          <a:p>
            <a:endParaRPr lang="en-US"/>
          </a:p>
          <a:p>
            <a:r>
              <a:rPr lang="en-US"/>
              <a:t>In a probabilistic model with loops, convergence is not guaranteed, but when it does as it often does in practice, means correspond to the exact posterior marginal means, while covariances are found to be in general, not exact, and often over-confident.</a:t>
            </a:r>
          </a:p>
          <a:p>
            <a:endParaRPr lang="en-US"/>
          </a:p>
          <a:p>
            <a:r>
              <a:rPr lang="en-US"/>
              <a:t>Now we return to our factorized Gaussian model and we showcase the message computation rules for both factors.</a:t>
            </a:r>
          </a:p>
          <a:p>
            <a:endParaRPr lang="en-US"/>
          </a:p>
          <a:p>
            <a:r>
              <a:rPr lang="en-US"/>
              <a:t>For Phi(</a:t>
            </a:r>
            <a:r>
              <a:rPr lang="en-US" err="1"/>
              <a:t>x_i</a:t>
            </a:r>
            <a:r>
              <a:rPr lang="en-US"/>
              <a:t>), only a single message is computed, and as it has no other inputs that might change, it’s outgoing message is computed only once. Evaluating this integral, we find the message to be so…</a:t>
            </a:r>
          </a:p>
          <a:p>
            <a:endParaRPr lang="en-US"/>
          </a:p>
          <a:p>
            <a:r>
              <a:rPr lang="en-US"/>
              <a:t>For Psi(</a:t>
            </a:r>
            <a:r>
              <a:rPr lang="en-US" err="1"/>
              <a:t>x_i</a:t>
            </a:r>
            <a:r>
              <a:rPr lang="en-US"/>
              <a:t>, </a:t>
            </a:r>
            <a:r>
              <a:rPr lang="en-US" err="1"/>
              <a:t>x_j</a:t>
            </a:r>
            <a:r>
              <a:rPr lang="en-US"/>
              <a:t>), the factor is symmetric about </a:t>
            </a:r>
            <a:r>
              <a:rPr lang="en-US" err="1"/>
              <a:t>x_i</a:t>
            </a:r>
            <a:r>
              <a:rPr lang="en-US"/>
              <a:t> and </a:t>
            </a:r>
            <a:r>
              <a:rPr lang="en-US" err="1"/>
              <a:t>x_j</a:t>
            </a:r>
            <a:r>
              <a:rPr lang="en-US"/>
              <a:t>, and so the same message rule is used in either case. It takes the form of this integral, with this closed-form solution… It gets recomputed for </a:t>
            </a:r>
            <a:r>
              <a:rPr lang="en-US" err="1"/>
              <a:t>x_j</a:t>
            </a:r>
            <a:r>
              <a:rPr lang="en-US"/>
              <a:t> whenever the incoming message for </a:t>
            </a:r>
            <a:r>
              <a:rPr lang="en-US" err="1"/>
              <a:t>x_i</a:t>
            </a:r>
            <a:r>
              <a:rPr lang="en-US"/>
              <a:t> changes, and vice-versa.</a:t>
            </a:r>
          </a:p>
          <a:p>
            <a:endParaRPr lang="en-US"/>
          </a:p>
          <a:p>
            <a:r>
              <a:rPr lang="en-US"/>
              <a:t>Finally, for completeness, we display the closed-form product of the two messages along any of these edges that computes the current iterative marginal. That is simply the sum of precision-weighted means and precisions, also known as information vectors and matrices, respectively. </a:t>
            </a:r>
            <a:endParaRPr lang="LID4096"/>
          </a:p>
        </p:txBody>
      </p:sp>
      <p:sp>
        <p:nvSpPr>
          <p:cNvPr id="4" name="Slide Number Placeholder 3">
            <a:extLst>
              <a:ext uri="{FF2B5EF4-FFF2-40B4-BE49-F238E27FC236}">
                <a16:creationId xmlns:a16="http://schemas.microsoft.com/office/drawing/2014/main" id="{55B8DAA6-392A-6F24-06D5-9403007C8C32}"/>
              </a:ext>
            </a:extLst>
          </p:cNvPr>
          <p:cNvSpPr>
            <a:spLocks noGrp="1"/>
          </p:cNvSpPr>
          <p:nvPr>
            <p:ph type="sldNum" sz="quarter" idx="5"/>
          </p:nvPr>
        </p:nvSpPr>
        <p:spPr/>
        <p:txBody>
          <a:bodyPr/>
          <a:lstStyle/>
          <a:p>
            <a:fld id="{E05A9740-BD37-4DCA-BDC4-7DBBAE15FA30}" type="slidenum">
              <a:rPr lang="nl-NL" smtClean="0"/>
              <a:t>35</a:t>
            </a:fld>
            <a:endParaRPr lang="nl-NL"/>
          </a:p>
        </p:txBody>
      </p:sp>
    </p:spTree>
    <p:extLst>
      <p:ext uri="{BB962C8B-B14F-4D97-AF65-F5344CB8AC3E}">
        <p14:creationId xmlns:p14="http://schemas.microsoft.com/office/powerpoint/2010/main" val="357089864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05661-0262-2C9B-3D34-D23760AB1C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BA40ED-FEA1-7267-156C-E14983573C1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BC67865-7599-5157-3A7C-DE497B3C0BC9}"/>
              </a:ext>
            </a:extLst>
          </p:cNvPr>
          <p:cNvSpPr>
            <a:spLocks noGrp="1"/>
          </p:cNvSpPr>
          <p:nvPr>
            <p:ph type="body" sz="quarter" idx="3"/>
          </p:nvPr>
        </p:nvSpPr>
        <p:spPr/>
        <p:txBody>
          <a:bodyPr/>
          <a:lstStyle/>
          <a:p>
            <a:r>
              <a:rPr lang="en-US"/>
              <a:t>Outline</a:t>
            </a:r>
          </a:p>
          <a:p>
            <a:endParaRPr lang="en-US"/>
          </a:p>
          <a:p>
            <a:endParaRPr lang="en-US"/>
          </a:p>
          <a:p>
            <a:endParaRPr lang="en-US"/>
          </a:p>
          <a:p>
            <a:endParaRPr lang="en-US"/>
          </a:p>
          <a:p>
            <a:endParaRPr lang="en-US"/>
          </a:p>
          <a:p>
            <a:endParaRPr lang="en-US"/>
          </a:p>
          <a:p>
            <a:endParaRPr lang="en-US"/>
          </a:p>
          <a:p>
            <a:endParaRPr lang="en-US"/>
          </a:p>
        </p:txBody>
      </p:sp>
      <p:sp>
        <p:nvSpPr>
          <p:cNvPr id="4" name="Slide Number Placeholder 3">
            <a:extLst>
              <a:ext uri="{FF2B5EF4-FFF2-40B4-BE49-F238E27FC236}">
                <a16:creationId xmlns:a16="http://schemas.microsoft.com/office/drawing/2014/main" id="{CC73ED2B-090C-5F8D-00C5-81BC98ECDD7B}"/>
              </a:ext>
            </a:extLst>
          </p:cNvPr>
          <p:cNvSpPr>
            <a:spLocks noGrp="1"/>
          </p:cNvSpPr>
          <p:nvPr>
            <p:ph type="sldNum" sz="quarter" idx="5"/>
          </p:nvPr>
        </p:nvSpPr>
        <p:spPr/>
      </p:sp>
    </p:spTree>
    <p:extLst>
      <p:ext uri="{BB962C8B-B14F-4D97-AF65-F5344CB8AC3E}">
        <p14:creationId xmlns:p14="http://schemas.microsoft.com/office/powerpoint/2010/main" val="228186350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FC1BE-0471-804B-972D-9F668BB510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C43E4B-A0ED-F804-F3EA-6895589561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3019A6-5DD0-5395-8128-689500720B3F}"/>
              </a:ext>
            </a:extLst>
          </p:cNvPr>
          <p:cNvSpPr>
            <a:spLocks noGrp="1"/>
          </p:cNvSpPr>
          <p:nvPr>
            <p:ph type="body" idx="1"/>
          </p:nvPr>
        </p:nvSpPr>
        <p:spPr/>
        <p:txBody>
          <a:bodyPr/>
          <a:lstStyle/>
          <a:p>
            <a:r>
              <a:rPr lang="en-US"/>
              <a:t>***Belief Propagation***</a:t>
            </a:r>
          </a:p>
          <a:p>
            <a:endParaRPr lang="en-US"/>
          </a:p>
          <a:p>
            <a:r>
              <a:rPr lang="en-US"/>
              <a:t>In addition to considering a simple factor graph, we also consider the simplest message-passing formulation, called alternatively Belief-propagation and Sum-product message-passing. Additionally, we perform simple asynchronous message-passing, and I’ll explain what that means.</a:t>
            </a:r>
          </a:p>
          <a:p>
            <a:endParaRPr lang="en-US"/>
          </a:p>
          <a:p>
            <a:r>
              <a:rPr lang="en-US"/>
              <a:t>There are really just two steps to belief propagation that we repeat iteratively until convergence.</a:t>
            </a:r>
          </a:p>
          <a:p>
            <a:endParaRPr lang="en-US"/>
          </a:p>
          <a:p>
            <a:r>
              <a:rPr lang="en-US"/>
              <a:t>The first step is computation of messages, and the second is computation of marginals.</a:t>
            </a:r>
          </a:p>
          <a:p>
            <a:endParaRPr lang="en-US"/>
          </a:p>
          <a:p>
            <a:r>
              <a:rPr lang="en-US"/>
              <a:t>Messages are the local information content about a variable that is sent out from a factor along the edge for that variable, considering that factor’s inputs and factor function. They are functions or potentials of the output variable and need not be normalized, though they often are. </a:t>
            </a:r>
          </a:p>
          <a:p>
            <a:endParaRPr lang="en-US"/>
          </a:p>
          <a:p>
            <a:r>
              <a:rPr lang="en-US"/>
              <a:t>For belief-propagation, the an output message is computed as the integral of the factor function multiplied by all input messages, from variables besides the one for whom we are computing the message. This is shown as so… For Gaussian-conjugate factors and Gaussian messages, these message computations are available in closed-form.</a:t>
            </a:r>
          </a:p>
          <a:p>
            <a:endParaRPr lang="en-US"/>
          </a:p>
          <a:p>
            <a:r>
              <a:rPr lang="en-US"/>
              <a:t>These messages then serve as input to the other factor along that edge.</a:t>
            </a:r>
          </a:p>
          <a:p>
            <a:endParaRPr lang="en-US"/>
          </a:p>
          <a:p>
            <a:r>
              <a:rPr lang="en-US"/>
              <a:t>Asynchronous message-passing then implies that when a factors inputs have changed, it sends out a new message. That’s it.</a:t>
            </a:r>
          </a:p>
          <a:p>
            <a:endParaRPr lang="en-US"/>
          </a:p>
          <a:p>
            <a:r>
              <a:rPr lang="en-US"/>
              <a:t>Second, we compute marginals. We note that the two connected factors both send messages along a variable’s edge. The current iteration’s approximate marginal belief for that variable is the normalized product of those two messages. This is shown as so…</a:t>
            </a:r>
          </a:p>
          <a:p>
            <a:endParaRPr lang="en-US"/>
          </a:p>
          <a:p>
            <a:r>
              <a:rPr lang="en-US"/>
              <a:t>So, factors send messages whenever inputs change, and marginals are computed whenever messages along an edge change.</a:t>
            </a:r>
          </a:p>
          <a:p>
            <a:endParaRPr lang="en-US"/>
          </a:p>
          <a:p>
            <a:r>
              <a:rPr lang="en-US"/>
              <a:t>In a probabilistic model with loops, convergence is not guaranteed, but when it does as it often does in practice, means correspond to the exact posterior marginal means, while covariances are found to be in general, not exact, and often over-confident.</a:t>
            </a:r>
          </a:p>
          <a:p>
            <a:endParaRPr lang="en-US"/>
          </a:p>
          <a:p>
            <a:r>
              <a:rPr lang="en-US"/>
              <a:t>Now we return to our factorized Gaussian model and we showcase the message computation rules for both factors.</a:t>
            </a:r>
          </a:p>
          <a:p>
            <a:endParaRPr lang="en-US"/>
          </a:p>
          <a:p>
            <a:r>
              <a:rPr lang="en-US"/>
              <a:t>For Phi(</a:t>
            </a:r>
            <a:r>
              <a:rPr lang="en-US" err="1"/>
              <a:t>x_i</a:t>
            </a:r>
            <a:r>
              <a:rPr lang="en-US"/>
              <a:t>), only a single message is computed, and as it has no other inputs that might change, it’s outgoing message is computed only once. Evaluating this integral, we find the message to be so…</a:t>
            </a:r>
          </a:p>
          <a:p>
            <a:endParaRPr lang="en-US"/>
          </a:p>
          <a:p>
            <a:r>
              <a:rPr lang="en-US"/>
              <a:t>For Psi(</a:t>
            </a:r>
            <a:r>
              <a:rPr lang="en-US" err="1"/>
              <a:t>x_i</a:t>
            </a:r>
            <a:r>
              <a:rPr lang="en-US"/>
              <a:t>, </a:t>
            </a:r>
            <a:r>
              <a:rPr lang="en-US" err="1"/>
              <a:t>x_j</a:t>
            </a:r>
            <a:r>
              <a:rPr lang="en-US"/>
              <a:t>), the factor is symmetric about </a:t>
            </a:r>
            <a:r>
              <a:rPr lang="en-US" err="1"/>
              <a:t>x_i</a:t>
            </a:r>
            <a:r>
              <a:rPr lang="en-US"/>
              <a:t> and </a:t>
            </a:r>
            <a:r>
              <a:rPr lang="en-US" err="1"/>
              <a:t>x_j</a:t>
            </a:r>
            <a:r>
              <a:rPr lang="en-US"/>
              <a:t>, and so the same message rule is used in either case. It takes the form of this integral, with this closed-form solution… It gets recomputed for </a:t>
            </a:r>
            <a:r>
              <a:rPr lang="en-US" err="1"/>
              <a:t>x_j</a:t>
            </a:r>
            <a:r>
              <a:rPr lang="en-US"/>
              <a:t> whenever the incoming message for </a:t>
            </a:r>
            <a:r>
              <a:rPr lang="en-US" err="1"/>
              <a:t>x_i</a:t>
            </a:r>
            <a:r>
              <a:rPr lang="en-US"/>
              <a:t> changes, and vice-versa.</a:t>
            </a:r>
          </a:p>
          <a:p>
            <a:endParaRPr lang="en-US"/>
          </a:p>
          <a:p>
            <a:r>
              <a:rPr lang="en-US"/>
              <a:t>Finally, for completeness, we display the closed-form product of the two messages along any of these edges that computes the current iterative marginal. That is simply the sum of precision-weighted means and precisions, also known as information vectors and matrices, respectively. </a:t>
            </a:r>
            <a:endParaRPr lang="LID4096"/>
          </a:p>
        </p:txBody>
      </p:sp>
      <p:sp>
        <p:nvSpPr>
          <p:cNvPr id="4" name="Slide Number Placeholder 3">
            <a:extLst>
              <a:ext uri="{FF2B5EF4-FFF2-40B4-BE49-F238E27FC236}">
                <a16:creationId xmlns:a16="http://schemas.microsoft.com/office/drawing/2014/main" id="{5B86054F-B549-F5FB-1E72-739B76177E5B}"/>
              </a:ext>
            </a:extLst>
          </p:cNvPr>
          <p:cNvSpPr>
            <a:spLocks noGrp="1"/>
          </p:cNvSpPr>
          <p:nvPr>
            <p:ph type="sldNum" sz="quarter" idx="5"/>
          </p:nvPr>
        </p:nvSpPr>
        <p:spPr/>
        <p:txBody>
          <a:bodyPr/>
          <a:lstStyle/>
          <a:p>
            <a:fld id="{E05A9740-BD37-4DCA-BDC4-7DBBAE15FA30}" type="slidenum">
              <a:rPr lang="nl-NL" smtClean="0"/>
              <a:t>37</a:t>
            </a:fld>
            <a:endParaRPr lang="nl-NL"/>
          </a:p>
        </p:txBody>
      </p:sp>
    </p:spTree>
    <p:extLst>
      <p:ext uri="{BB962C8B-B14F-4D97-AF65-F5344CB8AC3E}">
        <p14:creationId xmlns:p14="http://schemas.microsoft.com/office/powerpoint/2010/main" val="253760596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84F18F-7E21-F3CB-8113-1924E22973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79E33E-1C69-3641-9701-9EC2E6396C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5E45E7-E3D9-FDCD-1543-5FC3F654FF97}"/>
              </a:ext>
            </a:extLst>
          </p:cNvPr>
          <p:cNvSpPr>
            <a:spLocks noGrp="1"/>
          </p:cNvSpPr>
          <p:nvPr>
            <p:ph type="body" idx="1"/>
          </p:nvPr>
        </p:nvSpPr>
        <p:spPr/>
        <p:txBody>
          <a:bodyPr/>
          <a:lstStyle/>
          <a:p>
            <a:r>
              <a:rPr lang="en-US"/>
              <a:t>***Belief Propagation***</a:t>
            </a:r>
          </a:p>
          <a:p>
            <a:endParaRPr lang="en-US"/>
          </a:p>
          <a:p>
            <a:r>
              <a:rPr lang="en-US"/>
              <a:t>In addition to considering a simple factor graph, we also consider the simplest message-passing formulation, called alternatively Belief-propagation and Sum-product message-passing. Additionally, we perform simple asynchronous message-passing, and I’ll explain what that means.</a:t>
            </a:r>
          </a:p>
          <a:p>
            <a:endParaRPr lang="en-US"/>
          </a:p>
          <a:p>
            <a:r>
              <a:rPr lang="en-US"/>
              <a:t>There are really just two steps to belief propagation that we repeat iteratively until convergence.</a:t>
            </a:r>
          </a:p>
          <a:p>
            <a:endParaRPr lang="en-US"/>
          </a:p>
          <a:p>
            <a:r>
              <a:rPr lang="en-US"/>
              <a:t>The first step is computation of messages, and the second is computation of marginals.</a:t>
            </a:r>
          </a:p>
          <a:p>
            <a:endParaRPr lang="en-US"/>
          </a:p>
          <a:p>
            <a:r>
              <a:rPr lang="en-US"/>
              <a:t>Messages are the local information content about a variable that is sent out from a factor along the edge for that variable, considering that factor’s inputs and factor function. They are functions or potentials of the output variable and need not be normalized, though they often are. </a:t>
            </a:r>
          </a:p>
          <a:p>
            <a:endParaRPr lang="en-US"/>
          </a:p>
          <a:p>
            <a:r>
              <a:rPr lang="en-US"/>
              <a:t>For belief-propagation, the an output message is computed as the integral of the factor function multiplied by all input messages, from variables besides the one for whom we are computing the message. This is shown as so… For Gaussian-conjugate factors and Gaussian messages, these message computations are available in closed-form.</a:t>
            </a:r>
          </a:p>
          <a:p>
            <a:endParaRPr lang="en-US"/>
          </a:p>
          <a:p>
            <a:r>
              <a:rPr lang="en-US"/>
              <a:t>These messages then serve as input to the other factor along that edge.</a:t>
            </a:r>
          </a:p>
          <a:p>
            <a:endParaRPr lang="en-US"/>
          </a:p>
          <a:p>
            <a:r>
              <a:rPr lang="en-US"/>
              <a:t>Asynchronous message-passing then implies that when a factors inputs have changed, it sends out a new message. That’s it.</a:t>
            </a:r>
          </a:p>
          <a:p>
            <a:endParaRPr lang="en-US"/>
          </a:p>
          <a:p>
            <a:r>
              <a:rPr lang="en-US"/>
              <a:t>Second, we compute marginals. We note that the two connected factors both send messages along a variable’s edge. The current iteration’s approximate marginal belief for that variable is the normalized product of those two messages. This is shown as so…</a:t>
            </a:r>
          </a:p>
          <a:p>
            <a:endParaRPr lang="en-US"/>
          </a:p>
          <a:p>
            <a:r>
              <a:rPr lang="en-US"/>
              <a:t>So, factors send messages whenever inputs change, and marginals are computed whenever messages along an edge change.</a:t>
            </a:r>
          </a:p>
          <a:p>
            <a:endParaRPr lang="en-US"/>
          </a:p>
          <a:p>
            <a:r>
              <a:rPr lang="en-US"/>
              <a:t>In a probabilistic model with loops, convergence is not guaranteed, but when it does as it often does in practice, means correspond to the exact posterior marginal means, while covariances are found to be in general, not exact, and often over-confident.</a:t>
            </a:r>
          </a:p>
          <a:p>
            <a:endParaRPr lang="en-US"/>
          </a:p>
          <a:p>
            <a:r>
              <a:rPr lang="en-US"/>
              <a:t>Now we return to our factorized Gaussian model and we showcase the message computation rules for both factors.</a:t>
            </a:r>
          </a:p>
          <a:p>
            <a:endParaRPr lang="en-US"/>
          </a:p>
          <a:p>
            <a:r>
              <a:rPr lang="en-US"/>
              <a:t>For Phi(</a:t>
            </a:r>
            <a:r>
              <a:rPr lang="en-US" err="1"/>
              <a:t>x_i</a:t>
            </a:r>
            <a:r>
              <a:rPr lang="en-US"/>
              <a:t>), only a single message is computed, and as it has no other inputs that might change, it’s outgoing message is computed only once. Evaluating this integral, we find the message to be so…</a:t>
            </a:r>
          </a:p>
          <a:p>
            <a:endParaRPr lang="en-US"/>
          </a:p>
          <a:p>
            <a:r>
              <a:rPr lang="en-US"/>
              <a:t>For Psi(</a:t>
            </a:r>
            <a:r>
              <a:rPr lang="en-US" err="1"/>
              <a:t>x_i</a:t>
            </a:r>
            <a:r>
              <a:rPr lang="en-US"/>
              <a:t>, </a:t>
            </a:r>
            <a:r>
              <a:rPr lang="en-US" err="1"/>
              <a:t>x_j</a:t>
            </a:r>
            <a:r>
              <a:rPr lang="en-US"/>
              <a:t>), the factor is symmetric about </a:t>
            </a:r>
            <a:r>
              <a:rPr lang="en-US" err="1"/>
              <a:t>x_i</a:t>
            </a:r>
            <a:r>
              <a:rPr lang="en-US"/>
              <a:t> and </a:t>
            </a:r>
            <a:r>
              <a:rPr lang="en-US" err="1"/>
              <a:t>x_j</a:t>
            </a:r>
            <a:r>
              <a:rPr lang="en-US"/>
              <a:t>, and so the same message rule is used in either case. It takes the form of this integral, with this closed-form solution… It gets recomputed for </a:t>
            </a:r>
            <a:r>
              <a:rPr lang="en-US" err="1"/>
              <a:t>x_j</a:t>
            </a:r>
            <a:r>
              <a:rPr lang="en-US"/>
              <a:t> whenever the incoming message for </a:t>
            </a:r>
            <a:r>
              <a:rPr lang="en-US" err="1"/>
              <a:t>x_i</a:t>
            </a:r>
            <a:r>
              <a:rPr lang="en-US"/>
              <a:t> changes, and vice-versa.</a:t>
            </a:r>
          </a:p>
          <a:p>
            <a:endParaRPr lang="en-US"/>
          </a:p>
          <a:p>
            <a:r>
              <a:rPr lang="en-US"/>
              <a:t>Finally, for completeness, we display the closed-form product of the two messages along any of these edges that computes the current iterative marginal. That is simply the sum of precision-weighted means and precisions, also known as information vectors and matrices, respectively. </a:t>
            </a:r>
            <a:endParaRPr lang="LID4096"/>
          </a:p>
        </p:txBody>
      </p:sp>
      <p:sp>
        <p:nvSpPr>
          <p:cNvPr id="4" name="Slide Number Placeholder 3">
            <a:extLst>
              <a:ext uri="{FF2B5EF4-FFF2-40B4-BE49-F238E27FC236}">
                <a16:creationId xmlns:a16="http://schemas.microsoft.com/office/drawing/2014/main" id="{A8A7FEA5-96BD-D02C-0588-C64B42AE8B77}"/>
              </a:ext>
            </a:extLst>
          </p:cNvPr>
          <p:cNvSpPr>
            <a:spLocks noGrp="1"/>
          </p:cNvSpPr>
          <p:nvPr>
            <p:ph type="sldNum" sz="quarter" idx="5"/>
          </p:nvPr>
        </p:nvSpPr>
        <p:spPr/>
        <p:txBody>
          <a:bodyPr/>
          <a:lstStyle/>
          <a:p>
            <a:fld id="{E05A9740-BD37-4DCA-BDC4-7DBBAE15FA30}" type="slidenum">
              <a:rPr lang="nl-NL" smtClean="0"/>
              <a:t>38</a:t>
            </a:fld>
            <a:endParaRPr lang="nl-NL"/>
          </a:p>
        </p:txBody>
      </p:sp>
    </p:spTree>
    <p:extLst>
      <p:ext uri="{BB962C8B-B14F-4D97-AF65-F5344CB8AC3E}">
        <p14:creationId xmlns:p14="http://schemas.microsoft.com/office/powerpoint/2010/main" val="5333960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5BB9A-EA9B-22EF-2B3B-3DCA9C979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EF1AB1-7DFE-811A-757E-B59B9173E96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23C5A12-05DE-03E7-A1F3-88ED6B85C0C1}"/>
              </a:ext>
            </a:extLst>
          </p:cNvPr>
          <p:cNvSpPr>
            <a:spLocks noGrp="1"/>
          </p:cNvSpPr>
          <p:nvPr>
            <p:ph type="body" sz="quarter" idx="3"/>
          </p:nvPr>
        </p:nvSpPr>
        <p:spPr/>
        <p:txBody>
          <a:bodyPr/>
          <a:lstStyle/>
          <a:p>
            <a:endParaRPr/>
          </a:p>
        </p:txBody>
      </p:sp>
      <p:sp>
        <p:nvSpPr>
          <p:cNvPr id="4" name="Slide Number Placeholder 3">
            <a:extLst>
              <a:ext uri="{FF2B5EF4-FFF2-40B4-BE49-F238E27FC236}">
                <a16:creationId xmlns:a16="http://schemas.microsoft.com/office/drawing/2014/main" id="{84E2B105-B80D-FA9E-6D99-D4DBDA11A2E2}"/>
              </a:ext>
            </a:extLst>
          </p:cNvPr>
          <p:cNvSpPr>
            <a:spLocks noGrp="1"/>
          </p:cNvSpPr>
          <p:nvPr>
            <p:ph type="sldNum" sz="quarter" idx="5"/>
          </p:nvPr>
        </p:nvSpPr>
        <p:spPr/>
      </p:sp>
    </p:spTree>
    <p:extLst>
      <p:ext uri="{BB962C8B-B14F-4D97-AF65-F5344CB8AC3E}">
        <p14:creationId xmlns:p14="http://schemas.microsoft.com/office/powerpoint/2010/main" val="334250788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AFA50-D7EE-DC46-315E-D83CDBC45F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352A2E-C9F6-0AB1-66F2-EA063575FDE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F785973-8FD7-1FED-B0F1-B547848A1888}"/>
              </a:ext>
            </a:extLst>
          </p:cNvPr>
          <p:cNvSpPr>
            <a:spLocks noGrp="1"/>
          </p:cNvSpPr>
          <p:nvPr>
            <p:ph type="body" sz="quarter" idx="3"/>
          </p:nvPr>
        </p:nvSpPr>
        <p:spPr/>
        <p:txBody>
          <a:bodyPr/>
          <a:lstStyle/>
          <a:p>
            <a:endParaRPr/>
          </a:p>
        </p:txBody>
      </p:sp>
      <p:sp>
        <p:nvSpPr>
          <p:cNvPr id="4" name="Slide Number Placeholder 3">
            <a:extLst>
              <a:ext uri="{FF2B5EF4-FFF2-40B4-BE49-F238E27FC236}">
                <a16:creationId xmlns:a16="http://schemas.microsoft.com/office/drawing/2014/main" id="{43626FA2-6FFD-1536-7331-49036FBE6E90}"/>
              </a:ext>
            </a:extLst>
          </p:cNvPr>
          <p:cNvSpPr>
            <a:spLocks noGrp="1"/>
          </p:cNvSpPr>
          <p:nvPr>
            <p:ph type="sldNum" sz="quarter" idx="5"/>
          </p:nvPr>
        </p:nvSpPr>
        <p:spPr/>
      </p:sp>
    </p:spTree>
    <p:extLst>
      <p:ext uri="{BB962C8B-B14F-4D97-AF65-F5344CB8AC3E}">
        <p14:creationId xmlns:p14="http://schemas.microsoft.com/office/powerpoint/2010/main" val="66220066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US">
                <a:solidFill>
                  <a:srgbClr val="6E6E76"/>
                </a:solidFill>
              </a:rPr>
              <a:t>Rounds to 10⁻¹⁰ on the 24×24 die, c = 0.4:  Jacobi 203 · </a:t>
            </a:r>
            <a:r>
              <a:rPr lang="en-US" err="1">
                <a:solidFill>
                  <a:srgbClr val="6E6E76"/>
                </a:solidFill>
              </a:rPr>
              <a:t>GaBP</a:t>
            </a:r>
            <a:r>
              <a:rPr lang="en-US">
                <a:solidFill>
                  <a:srgbClr val="6E6E76"/>
                </a:solidFill>
              </a:rPr>
              <a:t> flooding 112 · Gauss–Seidel 110 · </a:t>
            </a:r>
            <a:r>
              <a:rPr lang="en-US" err="1">
                <a:solidFill>
                  <a:srgbClr val="6E6E76"/>
                </a:solidFill>
              </a:rPr>
              <a:t>GaBP</a:t>
            </a:r>
            <a:r>
              <a:rPr lang="en-US">
                <a:solidFill>
                  <a:srgbClr val="6E6E76"/>
                </a:solidFill>
              </a:rPr>
              <a:t> serial 67 · CG 41.</a:t>
            </a:r>
            <a:endParaRPr lang="en-US"/>
          </a:p>
          <a:p>
            <a:r>
              <a:rPr lang="en-US"/>
              <a:t>Same die as Wouter's section: 24×24 lattice, screening 0.4, same right-hand side, same target 1e-10. Jacobi needs 203 iterations. </a:t>
            </a:r>
            <a:r>
              <a:rPr lang="en-US" err="1"/>
              <a:t>GaBP</a:t>
            </a:r>
            <a:r>
              <a:rPr lang="en-US"/>
              <a:t> with the flooding schedule — every node sends every round, exactly Jacobi's communication pattern — needs 112. So the second moment that Jacobi throws away is worth a factor two in rounds. </a:t>
            </a:r>
            <a:r>
              <a:rPr lang="en-US" err="1"/>
              <a:t>GaBP</a:t>
            </a:r>
            <a:r>
              <a:rPr lang="en-US"/>
              <a:t> serial is the same algorithm with a Gauss–Seidel schedule: sweep the nodes in order and let each node use whatever is in its inbox right now, so messages from lower-numbered </a:t>
            </a:r>
            <a:r>
              <a:rPr lang="en-US" err="1"/>
              <a:t>neighbours</a:t>
            </a:r>
            <a:r>
              <a:rPr lang="en-US"/>
              <a:t> are already fresh this sweep. That gets 67 — the same trick Gauss–Seidel plays on Jacobi (110), for the same reason; red–black </a:t>
            </a:r>
            <a:r>
              <a:rPr lang="en-US" err="1"/>
              <a:t>colouring</a:t>
            </a:r>
            <a:r>
              <a:rPr lang="en-US"/>
              <a:t> gives it back at full parallelism, two half-sweeps per round. One round of serial costs the same number of message updates as one round of flooding; only the freshness differs. Say it unprompted: CG is still faster, 41. CG </a:t>
            </a:r>
            <a:r>
              <a:rPr lang="en-US" err="1"/>
              <a:t>minimises</a:t>
            </a:r>
            <a:r>
              <a:rPr lang="en-US"/>
              <a:t> the error over a growing global subspace; a local method has no global object to </a:t>
            </a:r>
            <a:r>
              <a:rPr lang="en-US" err="1"/>
              <a:t>minimise</a:t>
            </a:r>
            <a:r>
              <a:rPr lang="en-US"/>
              <a:t> over. On this problem that is a constant factor, not a change of order — the next two slides make the comparison fair. Also point at the tree: on the chain, </a:t>
            </a:r>
            <a:r>
              <a:rPr lang="en-US" err="1"/>
              <a:t>GaBP</a:t>
            </a:r>
            <a:r>
              <a:rPr lang="en-US"/>
              <a:t> terminates exactly after the diameter; CG does not.</a:t>
            </a:r>
          </a:p>
          <a:p>
            <a:endParaRPr lang="en-US">
              <a:ea typeface="Calibri"/>
              <a:cs typeface="Calibri"/>
            </a:endParaRPr>
          </a:p>
        </p:txBody>
      </p:sp>
      <p:sp>
        <p:nvSpPr>
          <p:cNvPr id="4" name="Slide Number Placeholder 3"/>
          <p:cNvSpPr>
            <a:spLocks noGrp="1"/>
          </p:cNvSpPr>
          <p:nvPr>
            <p:ph type="sldNum" sz="quarter" idx="5"/>
          </p:nvPr>
        </p:nvSpPr>
        <p:spPr/>
        <p:txBody>
          <a:bodyPr/>
          <a:lstStyle/>
          <a:p>
            <a:fld id="{E05A9740-BD37-4DCA-BDC4-7DBBAE15FA30}" type="slidenum">
              <a:rPr lang="nl-NL" smtClean="0"/>
              <a:t>44</a:t>
            </a:fld>
            <a:endParaRPr lang="nl-NL"/>
          </a:p>
        </p:txBody>
      </p:sp>
    </p:spTree>
    <p:extLst>
      <p:ext uri="{BB962C8B-B14F-4D97-AF65-F5344CB8AC3E}">
        <p14:creationId xmlns:p14="http://schemas.microsoft.com/office/powerpoint/2010/main" val="74794008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ECBB0-1D72-61F6-DE68-42C7161FD6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D14E58-33E6-2A51-CCA8-87308CCDC61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C4929D1-81C0-9334-1564-649EDFE2706C}"/>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C6C47372-B581-7527-D67A-133C916636BD}"/>
              </a:ext>
            </a:extLst>
          </p:cNvPr>
          <p:cNvSpPr>
            <a:spLocks noGrp="1"/>
          </p:cNvSpPr>
          <p:nvPr>
            <p:ph type="sldNum" sz="quarter" idx="5"/>
          </p:nvPr>
        </p:nvSpPr>
        <p:spPr/>
      </p:sp>
    </p:spTree>
    <p:extLst>
      <p:ext uri="{BB962C8B-B14F-4D97-AF65-F5344CB8AC3E}">
        <p14:creationId xmlns:p14="http://schemas.microsoft.com/office/powerpoint/2010/main" val="377118428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932442-6CA4-0631-F93D-405616B910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AC3515-6701-D007-3F73-4B9CB4EBF1F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BD26D0D-0232-BA4F-ED5D-C1D5CAED8ECC}"/>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6F88699A-8FDD-B439-9A28-E76D42939DBE}"/>
              </a:ext>
            </a:extLst>
          </p:cNvPr>
          <p:cNvSpPr>
            <a:spLocks noGrp="1"/>
          </p:cNvSpPr>
          <p:nvPr>
            <p:ph type="sldNum" sz="quarter" idx="5"/>
          </p:nvPr>
        </p:nvSpPr>
        <p:spPr/>
      </p:sp>
    </p:spTree>
    <p:extLst>
      <p:ext uri="{BB962C8B-B14F-4D97-AF65-F5344CB8AC3E}">
        <p14:creationId xmlns:p14="http://schemas.microsoft.com/office/powerpoint/2010/main" val="305640501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69BDF-F6CA-413E-65CD-E9728BEB2A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C6B1AB-6CBA-65DA-C3BD-5B46D13F673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F688CC3-F717-A15A-74B6-E3CDC632B5D1}"/>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38ADD8BD-E0A3-F6CD-4794-5BDDF5966F98}"/>
              </a:ext>
            </a:extLst>
          </p:cNvPr>
          <p:cNvSpPr>
            <a:spLocks noGrp="1"/>
          </p:cNvSpPr>
          <p:nvPr>
            <p:ph type="sldNum" sz="quarter" idx="5"/>
          </p:nvPr>
        </p:nvSpPr>
        <p:spPr/>
      </p:sp>
    </p:spTree>
    <p:extLst>
      <p:ext uri="{BB962C8B-B14F-4D97-AF65-F5344CB8AC3E}">
        <p14:creationId xmlns:p14="http://schemas.microsoft.com/office/powerpoint/2010/main" val="11232504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A677F-DC07-3C24-746B-3257CB6F82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55E68B-AAC5-802F-6EBD-10909FBD758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1F7EFE8-7D7B-B606-F588-C44CD7BFA2FA}"/>
              </a:ext>
            </a:extLst>
          </p:cNvPr>
          <p:cNvSpPr>
            <a:spLocks noGrp="1"/>
          </p:cNvSpPr>
          <p:nvPr>
            <p:ph type="body" sz="quarter" idx="3"/>
          </p:nvPr>
        </p:nvSpPr>
        <p:spPr/>
        <p:txBody>
          <a:bodyPr/>
          <a:lstStyle/>
          <a:p>
            <a:endParaRPr/>
          </a:p>
        </p:txBody>
      </p:sp>
      <p:sp>
        <p:nvSpPr>
          <p:cNvPr id="4" name="Slide Number Placeholder 3">
            <a:extLst>
              <a:ext uri="{FF2B5EF4-FFF2-40B4-BE49-F238E27FC236}">
                <a16:creationId xmlns:a16="http://schemas.microsoft.com/office/drawing/2014/main" id="{8ACE6509-ADA5-18C2-186F-A73C80445C41}"/>
              </a:ext>
            </a:extLst>
          </p:cNvPr>
          <p:cNvSpPr>
            <a:spLocks noGrp="1"/>
          </p:cNvSpPr>
          <p:nvPr>
            <p:ph type="sldNum" sz="quarter" idx="5"/>
          </p:nvPr>
        </p:nvSpPr>
        <p:spPr/>
      </p:sp>
    </p:spTree>
    <p:extLst>
      <p:ext uri="{BB962C8B-B14F-4D97-AF65-F5344CB8AC3E}">
        <p14:creationId xmlns:p14="http://schemas.microsoft.com/office/powerpoint/2010/main" val="320359939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ED7E1-6562-EED1-6EBE-D1C0000FD6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7C7BF2-1BD8-A5ED-8173-328F327C1F5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0BC59F1-7090-DC9B-3577-DBD397A78EF5}"/>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A879103F-5E17-BBCB-EB20-3F6D17313902}"/>
              </a:ext>
            </a:extLst>
          </p:cNvPr>
          <p:cNvSpPr>
            <a:spLocks noGrp="1"/>
          </p:cNvSpPr>
          <p:nvPr>
            <p:ph type="sldNum" sz="quarter" idx="5"/>
          </p:nvPr>
        </p:nvSpPr>
        <p:spPr/>
      </p:sp>
    </p:spTree>
    <p:extLst>
      <p:ext uri="{BB962C8B-B14F-4D97-AF65-F5344CB8AC3E}">
        <p14:creationId xmlns:p14="http://schemas.microsoft.com/office/powerpoint/2010/main" val="411166697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93036-AA21-36C9-2C0C-FAC9E681DD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0E31B5-9339-A5A8-9807-A10D5C0F172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5A85CE2-70CE-B750-4D02-79BC36F378BD}"/>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DD37FD6E-1E03-A74A-BE8B-46B536D027DC}"/>
              </a:ext>
            </a:extLst>
          </p:cNvPr>
          <p:cNvSpPr>
            <a:spLocks noGrp="1"/>
          </p:cNvSpPr>
          <p:nvPr>
            <p:ph type="sldNum" sz="quarter" idx="5"/>
          </p:nvPr>
        </p:nvSpPr>
        <p:spPr/>
      </p:sp>
    </p:spTree>
    <p:extLst>
      <p:ext uri="{BB962C8B-B14F-4D97-AF65-F5344CB8AC3E}">
        <p14:creationId xmlns:p14="http://schemas.microsoft.com/office/powerpoint/2010/main" val="167654598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C874B9-2EF9-73FC-BF20-85CB09A9B5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6443A4-29F0-9372-FC09-76995550CB5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EAC1762-4911-E8B8-F013-FD97C3B97256}"/>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D560A821-1E0F-E063-328B-693882F43616}"/>
              </a:ext>
            </a:extLst>
          </p:cNvPr>
          <p:cNvSpPr>
            <a:spLocks noGrp="1"/>
          </p:cNvSpPr>
          <p:nvPr>
            <p:ph type="sldNum" sz="quarter" idx="5"/>
          </p:nvPr>
        </p:nvSpPr>
        <p:spPr/>
      </p:sp>
    </p:spTree>
    <p:extLst>
      <p:ext uri="{BB962C8B-B14F-4D97-AF65-F5344CB8AC3E}">
        <p14:creationId xmlns:p14="http://schemas.microsoft.com/office/powerpoint/2010/main" val="373097352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99F71E-7199-3C21-F890-ADAAB4F424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EAC01A-6767-1289-DE9E-D58C90DD0F6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0B157F8-FC70-16DA-B374-C3AA2C1B403B}"/>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7B2EB1E8-F1DC-891B-322B-77E2D0335972}"/>
              </a:ext>
            </a:extLst>
          </p:cNvPr>
          <p:cNvSpPr>
            <a:spLocks noGrp="1"/>
          </p:cNvSpPr>
          <p:nvPr>
            <p:ph type="sldNum" sz="quarter" idx="5"/>
          </p:nvPr>
        </p:nvSpPr>
        <p:spPr/>
      </p:sp>
    </p:spTree>
    <p:extLst>
      <p:ext uri="{BB962C8B-B14F-4D97-AF65-F5344CB8AC3E}">
        <p14:creationId xmlns:p14="http://schemas.microsoft.com/office/powerpoint/2010/main" val="141182125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27C30-5C6F-160D-B045-621187B0EB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7A8112-8FB5-44CE-1C01-804B110CDEA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FAA09B0-9B27-1B19-C422-7FB1E7EA7F41}"/>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EA74841C-0869-AA46-81E3-EAF2707DF1CF}"/>
              </a:ext>
            </a:extLst>
          </p:cNvPr>
          <p:cNvSpPr>
            <a:spLocks noGrp="1"/>
          </p:cNvSpPr>
          <p:nvPr>
            <p:ph type="sldNum" sz="quarter" idx="5"/>
          </p:nvPr>
        </p:nvSpPr>
        <p:spPr/>
      </p:sp>
    </p:spTree>
    <p:extLst>
      <p:ext uri="{BB962C8B-B14F-4D97-AF65-F5344CB8AC3E}">
        <p14:creationId xmlns:p14="http://schemas.microsoft.com/office/powerpoint/2010/main" val="376576512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1C53EC-ED4D-68C7-8912-25EBAA435C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32163B-49EA-7FAD-51AE-B7686A2DA88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D00093B-8499-F792-B1BC-113BA0580458}"/>
              </a:ext>
            </a:extLst>
          </p:cNvPr>
          <p:cNvSpPr>
            <a:spLocks noGrp="1"/>
          </p:cNvSpPr>
          <p:nvPr>
            <p:ph type="body" sz="quarter" idx="3"/>
          </p:nvPr>
        </p:nvSpPr>
        <p:spPr/>
        <p:txBody>
          <a:bodyPr/>
          <a:lstStyle/>
          <a:p>
            <a:r>
              <a:t>The textbook bound: the A-norm error contracts by (sqrt(kappa)-1)/(sqrt(kappa)+1) per step. For our die kappa = 19.4, which predicts 51 iterations to 1e-10; the measured number is 41. The bound is loose because the spectrum is clustered -- say that, because someone will know it. The honest problem is the second bullet: kappa and ||x*|| are as unknown as the solution, so the bound is not something you can evaluate at run time. And the cost per step is one local matvec plus two global reductions: on P processors that is 2 log2 P barriers per iteration, times 41.</a:t>
            </a:r>
          </a:p>
        </p:txBody>
      </p:sp>
      <p:sp>
        <p:nvSpPr>
          <p:cNvPr id="4" name="Slide Number Placeholder 3">
            <a:extLst>
              <a:ext uri="{FF2B5EF4-FFF2-40B4-BE49-F238E27FC236}">
                <a16:creationId xmlns:a16="http://schemas.microsoft.com/office/drawing/2014/main" id="{CC44709C-DC8A-CE97-C82D-919B85C1286D}"/>
              </a:ext>
            </a:extLst>
          </p:cNvPr>
          <p:cNvSpPr>
            <a:spLocks noGrp="1"/>
          </p:cNvSpPr>
          <p:nvPr>
            <p:ph type="sldNum" sz="quarter" idx="5"/>
          </p:nvPr>
        </p:nvSpPr>
        <p:spPr/>
      </p:sp>
    </p:spTree>
    <p:extLst>
      <p:ext uri="{BB962C8B-B14F-4D97-AF65-F5344CB8AC3E}">
        <p14:creationId xmlns:p14="http://schemas.microsoft.com/office/powerpoint/2010/main" val="168335644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9D8FBB-81C2-270A-CDFD-9CD141595C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5E28DD-B6A3-A681-CEDA-8128412C4E3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54E6C67-9812-506D-40D2-84EBB271CE32}"/>
              </a:ext>
            </a:extLst>
          </p:cNvPr>
          <p:cNvSpPr>
            <a:spLocks noGrp="1"/>
          </p:cNvSpPr>
          <p:nvPr>
            <p:ph type="body" sz="quarter" idx="3"/>
          </p:nvPr>
        </p:nvSpPr>
        <p:spPr/>
        <p:txBody>
          <a:bodyPr/>
          <a:lstStyle/>
          <a:p>
            <a:endParaRPr/>
          </a:p>
        </p:txBody>
      </p:sp>
      <p:sp>
        <p:nvSpPr>
          <p:cNvPr id="4" name="Slide Number Placeholder 3">
            <a:extLst>
              <a:ext uri="{FF2B5EF4-FFF2-40B4-BE49-F238E27FC236}">
                <a16:creationId xmlns:a16="http://schemas.microsoft.com/office/drawing/2014/main" id="{A8B5320F-22E0-93CF-3820-22E9480F08EC}"/>
              </a:ext>
            </a:extLst>
          </p:cNvPr>
          <p:cNvSpPr>
            <a:spLocks noGrp="1"/>
          </p:cNvSpPr>
          <p:nvPr>
            <p:ph type="sldNum" sz="quarter" idx="5"/>
          </p:nvPr>
        </p:nvSpPr>
        <p:spPr/>
      </p:sp>
    </p:spTree>
    <p:extLst>
      <p:ext uri="{BB962C8B-B14F-4D97-AF65-F5344CB8AC3E}">
        <p14:creationId xmlns:p14="http://schemas.microsoft.com/office/powerpoint/2010/main" val="134867068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1_Titel en object">
    <p:bg>
      <p:bgRef idx="1001">
        <a:schemeClr val="bg1"/>
      </p:bgRef>
    </p:bg>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lvl1pPr>
              <a:defRPr>
                <a:solidFill>
                  <a:schemeClr val="tx1"/>
                </a:solidFill>
              </a:defRPr>
            </a:lvl1pPr>
          </a:lstStyle>
          <a:p>
            <a:r>
              <a:rPr lang="en-US"/>
              <a:t>Slide title</a:t>
            </a:r>
          </a:p>
        </p:txBody>
      </p:sp>
      <p:sp>
        <p:nvSpPr>
          <p:cNvPr id="3" name="Tijdelijke aanduiding voor inhoud 2"/>
          <p:cNvSpPr>
            <a:spLocks noGrp="1"/>
          </p:cNvSpPr>
          <p:nvPr>
            <p:ph idx="1" hasCustomPrompt="1"/>
          </p:nvPr>
        </p:nvSpPr>
        <p:spPr>
          <a:xfrm>
            <a:off x="610100" y="1260000"/>
            <a:ext cx="7922712" cy="3310413"/>
          </a:xfrm>
        </p:spPr>
        <p:txBody>
          <a:bodyPr/>
          <a:lstStyle>
            <a:lvl1pPr>
              <a:defRPr sz="1600">
                <a:solidFill>
                  <a:schemeClr val="tx1"/>
                </a:solidFill>
              </a:defRPr>
            </a:lvl1pPr>
            <a:lvl2pPr>
              <a:defRPr sz="1600">
                <a:solidFill>
                  <a:schemeClr val="tx1"/>
                </a:solidFill>
              </a:defRPr>
            </a:lvl2pPr>
            <a:lvl3pPr>
              <a:defRPr sz="1400">
                <a:solidFill>
                  <a:schemeClr val="tx1"/>
                </a:solidFill>
              </a:defRPr>
            </a:lvl3pPr>
            <a:lvl4pPr>
              <a:defRPr sz="1200">
                <a:solidFill>
                  <a:schemeClr val="tx1"/>
                </a:solidFill>
              </a:defRPr>
            </a:lvl4pPr>
            <a:lvl5pPr>
              <a:defRPr sz="1100">
                <a:solidFill>
                  <a:schemeClr val="tx1"/>
                </a:solidFill>
              </a:defRPr>
            </a:lvl5pPr>
          </a:lstStyle>
          <a:p>
            <a:pPr lvl="0"/>
            <a:r>
              <a:rPr lang="en-US"/>
              <a:t>Slide text</a:t>
            </a:r>
          </a:p>
          <a:p>
            <a:pPr lvl="1"/>
            <a:r>
              <a:rPr lang="en-US" err="1"/>
              <a:t>Tweede</a:t>
            </a:r>
            <a:r>
              <a:rPr lang="en-US"/>
              <a:t> </a:t>
            </a:r>
            <a:r>
              <a:rPr lang="en-US" err="1"/>
              <a:t>niveau</a:t>
            </a:r>
            <a:endParaRPr lang="en-US"/>
          </a:p>
          <a:p>
            <a:pPr lvl="2"/>
            <a:r>
              <a:rPr lang="en-US" err="1"/>
              <a:t>Derde</a:t>
            </a:r>
            <a:r>
              <a:rPr lang="en-US"/>
              <a:t> </a:t>
            </a:r>
            <a:r>
              <a:rPr lang="en-US" err="1"/>
              <a:t>niveau</a:t>
            </a:r>
            <a:endParaRPr lang="en-US"/>
          </a:p>
          <a:p>
            <a:pPr lvl="3"/>
            <a:r>
              <a:rPr lang="en-US" err="1"/>
              <a:t>Vierde</a:t>
            </a:r>
            <a:r>
              <a:rPr lang="en-US"/>
              <a:t> </a:t>
            </a:r>
            <a:r>
              <a:rPr lang="en-US" err="1"/>
              <a:t>niveau</a:t>
            </a:r>
            <a:endParaRPr lang="en-US"/>
          </a:p>
          <a:p>
            <a:pPr lvl="4"/>
            <a:r>
              <a:rPr lang="en-US" err="1"/>
              <a:t>Vijfde</a:t>
            </a:r>
            <a:r>
              <a:rPr lang="en-US"/>
              <a:t> </a:t>
            </a:r>
            <a:r>
              <a:rPr lang="en-US" err="1"/>
              <a:t>niveau</a:t>
            </a:r>
            <a:endParaRPr lang="en-US"/>
          </a:p>
        </p:txBody>
      </p:sp>
      <p:sp>
        <p:nvSpPr>
          <p:cNvPr id="5" name="Tijdelijke aanduiding voor voettekst 4"/>
          <p:cNvSpPr>
            <a:spLocks noGrp="1"/>
          </p:cNvSpPr>
          <p:nvPr>
            <p:ph type="ftr" sz="quarter" idx="11"/>
          </p:nvPr>
        </p:nvSpPr>
        <p:spPr/>
        <p:txBody>
          <a:bodyPr/>
          <a:lstStyle>
            <a:lvl1pPr>
              <a:defRPr>
                <a:solidFill>
                  <a:schemeClr val="tx1"/>
                </a:solidFill>
              </a:defRPr>
            </a:lvl1pPr>
          </a:lstStyle>
          <a:p>
            <a:r>
              <a:rPr lang="en-US"/>
              <a:t>Title of the presentation – by tab Insert -&gt; Header text and Footer text</a:t>
            </a:r>
          </a:p>
        </p:txBody>
      </p:sp>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a:t>
            </a:fld>
            <a:endParaRPr lang="en-US"/>
          </a:p>
        </p:txBody>
      </p:sp>
      <p:pic>
        <p:nvPicPr>
          <p:cNvPr id="7" name="FooterLogoTUe">
            <a:extLst>
              <a:ext uri="{FF2B5EF4-FFF2-40B4-BE49-F238E27FC236}">
                <a16:creationId xmlns:a16="http://schemas.microsoft.com/office/drawing/2014/main" id="{1846CF66-6C09-6C81-4515-2425EFF1510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149920" y="4628189"/>
            <a:ext cx="921122" cy="459000"/>
          </a:xfrm>
          <a:prstGeom prst="rect">
            <a:avLst/>
          </a:prstGeom>
        </p:spPr>
      </p:pic>
    </p:spTree>
    <p:extLst>
      <p:ext uri="{BB962C8B-B14F-4D97-AF65-F5344CB8AC3E}">
        <p14:creationId xmlns:p14="http://schemas.microsoft.com/office/powerpoint/2010/main" val="401365003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ekst in 2 kolommen">
    <p:bg>
      <p:bgRef idx="1001">
        <a:schemeClr val="bg1"/>
      </p:bgRef>
    </p:bg>
    <p:spTree>
      <p:nvGrpSpPr>
        <p:cNvPr id="1" name=""/>
        <p:cNvGrpSpPr/>
        <p:nvPr/>
      </p:nvGrpSpPr>
      <p:grpSpPr>
        <a:xfrm>
          <a:off x="0" y="0"/>
          <a:ext cx="0" cy="0"/>
          <a:chOff x="0" y="0"/>
          <a:chExt cx="0" cy="0"/>
        </a:xfrm>
      </p:grpSpPr>
      <p:sp>
        <p:nvSpPr>
          <p:cNvPr id="3" name="Tijdelijke aanduiding voor inhoud 2"/>
          <p:cNvSpPr>
            <a:spLocks noGrp="1"/>
          </p:cNvSpPr>
          <p:nvPr>
            <p:ph sz="half" idx="1" hasCustomPrompt="1"/>
          </p:nvPr>
        </p:nvSpPr>
        <p:spPr>
          <a:xfrm>
            <a:off x="612000" y="626165"/>
            <a:ext cx="3600000" cy="3943454"/>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Slide text</a:t>
            </a:r>
          </a:p>
          <a:p>
            <a:pPr lvl="1"/>
            <a:r>
              <a:rPr lang="en-US"/>
              <a:t>Tweede </a:t>
            </a:r>
            <a:r>
              <a:rPr lang="en-US" err="1"/>
              <a:t>niveau</a:t>
            </a:r>
            <a:endParaRPr lang="en-US"/>
          </a:p>
          <a:p>
            <a:pPr lvl="2"/>
            <a:r>
              <a:rPr lang="en-US" err="1"/>
              <a:t>Derde</a:t>
            </a:r>
            <a:r>
              <a:rPr lang="en-US"/>
              <a:t> </a:t>
            </a:r>
            <a:r>
              <a:rPr lang="en-US" err="1"/>
              <a:t>niveau</a:t>
            </a:r>
            <a:endParaRPr lang="en-US"/>
          </a:p>
          <a:p>
            <a:pPr lvl="3"/>
            <a:r>
              <a:rPr lang="en-US" err="1"/>
              <a:t>Vierde</a:t>
            </a:r>
            <a:r>
              <a:rPr lang="en-US"/>
              <a:t> </a:t>
            </a:r>
            <a:r>
              <a:rPr lang="en-US" err="1"/>
              <a:t>niveau</a:t>
            </a:r>
            <a:endParaRPr lang="en-US"/>
          </a:p>
          <a:p>
            <a:pPr lvl="4"/>
            <a:r>
              <a:rPr lang="en-US" err="1"/>
              <a:t>Vijfde</a:t>
            </a:r>
            <a:r>
              <a:rPr lang="en-US"/>
              <a:t> </a:t>
            </a:r>
            <a:r>
              <a:rPr lang="en-US" err="1"/>
              <a:t>niveau</a:t>
            </a:r>
            <a:endParaRPr lang="en-US"/>
          </a:p>
        </p:txBody>
      </p:sp>
      <p:sp>
        <p:nvSpPr>
          <p:cNvPr id="4" name="Tijdelijke aanduiding voor inhoud 3"/>
          <p:cNvSpPr>
            <a:spLocks noGrp="1"/>
          </p:cNvSpPr>
          <p:nvPr>
            <p:ph sz="half" idx="2" hasCustomPrompt="1"/>
          </p:nvPr>
        </p:nvSpPr>
        <p:spPr>
          <a:xfrm>
            <a:off x="4629150" y="626165"/>
            <a:ext cx="3600000" cy="3943454"/>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Slide text</a:t>
            </a:r>
          </a:p>
          <a:p>
            <a:pPr lvl="1"/>
            <a:r>
              <a:rPr lang="en-US"/>
              <a:t>Tweede </a:t>
            </a:r>
            <a:r>
              <a:rPr lang="en-US" err="1"/>
              <a:t>niveau</a:t>
            </a:r>
            <a:endParaRPr lang="en-US"/>
          </a:p>
          <a:p>
            <a:pPr lvl="2"/>
            <a:r>
              <a:rPr lang="en-US" err="1"/>
              <a:t>Derde</a:t>
            </a:r>
            <a:r>
              <a:rPr lang="en-US"/>
              <a:t> </a:t>
            </a:r>
            <a:r>
              <a:rPr lang="en-US" err="1"/>
              <a:t>niveau</a:t>
            </a:r>
            <a:endParaRPr lang="en-US"/>
          </a:p>
          <a:p>
            <a:pPr lvl="3"/>
            <a:r>
              <a:rPr lang="en-US" err="1"/>
              <a:t>Vierde</a:t>
            </a:r>
            <a:r>
              <a:rPr lang="en-US"/>
              <a:t> </a:t>
            </a:r>
            <a:r>
              <a:rPr lang="en-US" err="1"/>
              <a:t>niveau</a:t>
            </a:r>
            <a:endParaRPr lang="en-US"/>
          </a:p>
          <a:p>
            <a:pPr lvl="4"/>
            <a:r>
              <a:rPr lang="en-US" err="1"/>
              <a:t>Vijfde</a:t>
            </a:r>
            <a:r>
              <a:rPr lang="en-US"/>
              <a:t> </a:t>
            </a:r>
            <a:r>
              <a:rPr lang="en-US" err="1"/>
              <a:t>niveau</a:t>
            </a:r>
            <a:endParaRPr lang="en-US"/>
          </a:p>
        </p:txBody>
      </p:sp>
      <p:sp>
        <p:nvSpPr>
          <p:cNvPr id="6" name="Tijdelijke aanduiding voor voettekst 5"/>
          <p:cNvSpPr>
            <a:spLocks noGrp="1"/>
          </p:cNvSpPr>
          <p:nvPr>
            <p:ph type="ftr" sz="quarter" idx="11"/>
          </p:nvPr>
        </p:nvSpPr>
        <p:spPr/>
        <p:txBody>
          <a:bodyPr/>
          <a:lstStyle>
            <a:lvl1pPr>
              <a:defRPr>
                <a:solidFill>
                  <a:schemeClr val="tx1"/>
                </a:solidFill>
              </a:defRPr>
            </a:lvl1pPr>
          </a:lstStyle>
          <a:p>
            <a:r>
              <a:rPr lang="en-US"/>
              <a:t>Title of the presentation – by tab Insert -&gt; Header text and Footer text</a:t>
            </a:r>
            <a:endParaRPr lang="en-US">
              <a:solidFill>
                <a:schemeClr val="tx1"/>
              </a:solidFill>
            </a:endParaRPr>
          </a:p>
        </p:txBody>
      </p:sp>
      <p:sp>
        <p:nvSpPr>
          <p:cNvPr id="7" name="Tijdelijke aanduiding voor dianummer 6"/>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a:t>
            </a:fld>
            <a:endParaRPr lang="en-US"/>
          </a:p>
        </p:txBody>
      </p:sp>
      <p:pic>
        <p:nvPicPr>
          <p:cNvPr id="5" name="FooterLogoTUe">
            <a:extLst>
              <a:ext uri="{FF2B5EF4-FFF2-40B4-BE49-F238E27FC236}">
                <a16:creationId xmlns:a16="http://schemas.microsoft.com/office/drawing/2014/main" id="{BD446003-0937-BFD6-65D1-FA86F8368BA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149920" y="4628189"/>
            <a:ext cx="921122" cy="459000"/>
          </a:xfrm>
          <a:prstGeom prst="rect">
            <a:avLst/>
          </a:prstGeom>
        </p:spPr>
      </p:pic>
    </p:spTree>
    <p:extLst>
      <p:ext uri="{BB962C8B-B14F-4D97-AF65-F5344CB8AC3E}">
        <p14:creationId xmlns:p14="http://schemas.microsoft.com/office/powerpoint/2010/main" val="294204723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en object Blauwe achtergrond">
    <p:bg>
      <p:bgPr>
        <a:solidFill>
          <a:schemeClr val="tx1"/>
        </a:solidFill>
        <a:effectLst/>
      </p:bgPr>
    </p:bg>
    <p:spTree>
      <p:nvGrpSpPr>
        <p:cNvPr id="1" name=""/>
        <p:cNvGrpSpPr/>
        <p:nvPr/>
      </p:nvGrpSpPr>
      <p:grpSpPr>
        <a:xfrm>
          <a:off x="0" y="0"/>
          <a:ext cx="0" cy="0"/>
          <a:chOff x="0" y="0"/>
          <a:chExt cx="0" cy="0"/>
        </a:xfrm>
      </p:grpSpPr>
      <p:sp>
        <p:nvSpPr>
          <p:cNvPr id="3" name="Tijdelijke aanduiding voor voettekst 2"/>
          <p:cNvSpPr>
            <a:spLocks noGrp="1"/>
          </p:cNvSpPr>
          <p:nvPr>
            <p:ph type="ftr" sz="quarter" idx="10"/>
          </p:nvPr>
        </p:nvSpPr>
        <p:spPr/>
        <p:txBody>
          <a:bodyPr/>
          <a:lstStyle/>
          <a:p>
            <a:r>
              <a:rPr lang="en-US"/>
              <a:t>Title of the presentation – by tab Insert -&gt; Header text and Footer text</a:t>
            </a:r>
          </a:p>
        </p:txBody>
      </p:sp>
      <p:sp>
        <p:nvSpPr>
          <p:cNvPr id="4" name="Tijdelijke aanduiding voor dianummer 3"/>
          <p:cNvSpPr>
            <a:spLocks noGrp="1"/>
          </p:cNvSpPr>
          <p:nvPr>
            <p:ph type="sldNum" sz="quarter" idx="11"/>
          </p:nvPr>
        </p:nvSpPr>
        <p:spPr/>
        <p:txBody>
          <a:bodyPr/>
          <a:lstStyle/>
          <a:p>
            <a:fld id="{B7CEC10D-CD46-426F-915E-6C78530279CB}" type="slidenum">
              <a:rPr lang="en-US" smtClean="0"/>
              <a:pPr/>
              <a:t>‹#›</a:t>
            </a:fld>
            <a:endParaRPr lang="en-US"/>
          </a:p>
        </p:txBody>
      </p:sp>
      <p:sp>
        <p:nvSpPr>
          <p:cNvPr id="13" name="Titel 1"/>
          <p:cNvSpPr>
            <a:spLocks noGrp="1"/>
          </p:cNvSpPr>
          <p:nvPr>
            <p:ph type="title" hasCustomPrompt="1"/>
          </p:nvPr>
        </p:nvSpPr>
        <p:spPr>
          <a:xfrm>
            <a:off x="612000" y="544228"/>
            <a:ext cx="7923213" cy="394448"/>
          </a:xfrm>
        </p:spPr>
        <p:txBody>
          <a:bodyPr/>
          <a:lstStyle>
            <a:lvl1pPr>
              <a:defRPr>
                <a:solidFill>
                  <a:schemeClr val="bg1"/>
                </a:solidFill>
              </a:defRPr>
            </a:lvl1pPr>
          </a:lstStyle>
          <a:p>
            <a:r>
              <a:rPr lang="en-US"/>
              <a:t>Slide title</a:t>
            </a:r>
          </a:p>
        </p:txBody>
      </p:sp>
      <p:sp>
        <p:nvSpPr>
          <p:cNvPr id="14" name="Tijdelijke aanduiding voor inhoud 2"/>
          <p:cNvSpPr>
            <a:spLocks noGrp="1"/>
          </p:cNvSpPr>
          <p:nvPr>
            <p:ph idx="1" hasCustomPrompt="1"/>
          </p:nvPr>
        </p:nvSpPr>
        <p:spPr>
          <a:xfrm>
            <a:off x="610100" y="1260000"/>
            <a:ext cx="7922712" cy="3310413"/>
          </a:xfrm>
        </p:spPr>
        <p:txBody>
          <a:bodyPr/>
          <a:lstStyle>
            <a:lvl1pPr>
              <a:defRPr>
                <a:solidFill>
                  <a:schemeClr val="bg1"/>
                </a:solidFill>
              </a:defRPr>
            </a:lvl1pPr>
            <a:lvl2pP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defRPr>
                <a:solidFill>
                  <a:schemeClr val="bg1"/>
                </a:solidFill>
              </a:defRPr>
            </a:lvl5pPr>
          </a:lstStyle>
          <a:p>
            <a:pPr lvl="0"/>
            <a:r>
              <a:rPr lang="en-US"/>
              <a:t>Slide text</a:t>
            </a:r>
          </a:p>
          <a:p>
            <a:pPr lvl="1"/>
            <a:r>
              <a:rPr lang="en-US" err="1"/>
              <a:t>Tweede</a:t>
            </a:r>
            <a:r>
              <a:rPr lang="en-US"/>
              <a:t> </a:t>
            </a:r>
            <a:r>
              <a:rPr lang="en-US" err="1"/>
              <a:t>niveau</a:t>
            </a:r>
            <a:endParaRPr lang="en-US"/>
          </a:p>
          <a:p>
            <a:pPr lvl="2"/>
            <a:r>
              <a:rPr lang="en-US" err="1"/>
              <a:t>Derde</a:t>
            </a:r>
            <a:r>
              <a:rPr lang="en-US"/>
              <a:t> </a:t>
            </a:r>
            <a:r>
              <a:rPr lang="en-US" err="1"/>
              <a:t>niveau</a:t>
            </a:r>
            <a:endParaRPr lang="en-US"/>
          </a:p>
          <a:p>
            <a:pPr lvl="3"/>
            <a:r>
              <a:rPr lang="en-US" err="1"/>
              <a:t>Vierde</a:t>
            </a:r>
            <a:r>
              <a:rPr lang="en-US"/>
              <a:t> </a:t>
            </a:r>
            <a:r>
              <a:rPr lang="en-US" err="1"/>
              <a:t>niveau</a:t>
            </a:r>
            <a:endParaRPr lang="en-US"/>
          </a:p>
          <a:p>
            <a:pPr lvl="4"/>
            <a:r>
              <a:rPr lang="en-US" err="1"/>
              <a:t>Vijfde</a:t>
            </a:r>
            <a:r>
              <a:rPr lang="en-US"/>
              <a:t> </a:t>
            </a:r>
            <a:r>
              <a:rPr lang="en-US" err="1"/>
              <a:t>niveau</a:t>
            </a:r>
            <a:endParaRPr lang="en-US"/>
          </a:p>
        </p:txBody>
      </p:sp>
      <p:pic>
        <p:nvPicPr>
          <p:cNvPr id="5" name="FooterLogoTUe">
            <a:extLst>
              <a:ext uri="{FF2B5EF4-FFF2-40B4-BE49-F238E27FC236}">
                <a16:creationId xmlns:a16="http://schemas.microsoft.com/office/drawing/2014/main" id="{02C32F5D-DEFD-12A4-4A71-5EA33F2DD5E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149920" y="4628189"/>
            <a:ext cx="921122" cy="459000"/>
          </a:xfrm>
          <a:prstGeom prst="rect">
            <a:avLst/>
          </a:prstGeom>
        </p:spPr>
      </p:pic>
    </p:spTree>
    <p:extLst>
      <p:ext uri="{BB962C8B-B14F-4D97-AF65-F5344CB8AC3E}">
        <p14:creationId xmlns:p14="http://schemas.microsoft.com/office/powerpoint/2010/main" val="23273256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el en object">
    <p:bg>
      <p:bgRef idx="1001">
        <a:schemeClr val="bg1"/>
      </p:bgRef>
    </p:bg>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0" y="1832397"/>
            <a:ext cx="9144000" cy="1224502"/>
          </a:xfrm>
        </p:spPr>
        <p:txBody>
          <a:bodyPr anchor="ctr"/>
          <a:lstStyle>
            <a:lvl1pPr algn="ctr">
              <a:defRPr>
                <a:solidFill>
                  <a:schemeClr val="tx1"/>
                </a:solidFill>
              </a:defRPr>
            </a:lvl1pPr>
          </a:lstStyle>
          <a:p>
            <a:r>
              <a:rPr lang="en-US"/>
              <a:t>Slide title</a:t>
            </a:r>
          </a:p>
        </p:txBody>
      </p:sp>
      <p:sp>
        <p:nvSpPr>
          <p:cNvPr id="3" name="Tijdelijke aanduiding voor inhoud 2"/>
          <p:cNvSpPr>
            <a:spLocks noGrp="1"/>
          </p:cNvSpPr>
          <p:nvPr>
            <p:ph idx="1" hasCustomPrompt="1"/>
          </p:nvPr>
        </p:nvSpPr>
        <p:spPr>
          <a:xfrm>
            <a:off x="0" y="3056899"/>
            <a:ext cx="9144000" cy="1513514"/>
          </a:xfrm>
        </p:spPr>
        <p:txBody>
          <a:bodyPr/>
          <a:lstStyle>
            <a:lvl1pPr algn="ctr">
              <a:defRPr sz="1600">
                <a:solidFill>
                  <a:schemeClr val="tx1"/>
                </a:solidFill>
              </a:defRPr>
            </a:lvl1pPr>
            <a:lvl2pPr algn="ctr">
              <a:defRPr sz="1600">
                <a:solidFill>
                  <a:schemeClr val="tx1"/>
                </a:solidFill>
              </a:defRPr>
            </a:lvl2pPr>
            <a:lvl3pPr algn="ctr">
              <a:defRPr sz="1400">
                <a:solidFill>
                  <a:schemeClr val="tx1"/>
                </a:solidFill>
              </a:defRPr>
            </a:lvl3pPr>
            <a:lvl4pPr algn="ctr">
              <a:defRPr sz="1200">
                <a:solidFill>
                  <a:schemeClr val="tx1"/>
                </a:solidFill>
              </a:defRPr>
            </a:lvl4pPr>
            <a:lvl5pPr algn="ctr">
              <a:defRPr sz="1100">
                <a:solidFill>
                  <a:schemeClr val="tx1"/>
                </a:solidFill>
              </a:defRPr>
            </a:lvl5pPr>
          </a:lstStyle>
          <a:p>
            <a:pPr lvl="0"/>
            <a:r>
              <a:rPr lang="en-US"/>
              <a:t>Slide text</a:t>
            </a:r>
          </a:p>
          <a:p>
            <a:pPr lvl="1"/>
            <a:r>
              <a:rPr lang="en-US"/>
              <a:t>Tweede </a:t>
            </a:r>
            <a:r>
              <a:rPr lang="en-US" err="1"/>
              <a:t>niveau</a:t>
            </a:r>
            <a:endParaRPr lang="en-US"/>
          </a:p>
          <a:p>
            <a:pPr lvl="2"/>
            <a:r>
              <a:rPr lang="en-US" err="1"/>
              <a:t>Derde</a:t>
            </a:r>
            <a:r>
              <a:rPr lang="en-US"/>
              <a:t> </a:t>
            </a:r>
            <a:r>
              <a:rPr lang="en-US" err="1"/>
              <a:t>niveau</a:t>
            </a:r>
            <a:endParaRPr lang="en-US"/>
          </a:p>
          <a:p>
            <a:pPr lvl="3"/>
            <a:r>
              <a:rPr lang="en-US" err="1"/>
              <a:t>Vierde</a:t>
            </a:r>
            <a:r>
              <a:rPr lang="en-US"/>
              <a:t> </a:t>
            </a:r>
            <a:r>
              <a:rPr lang="en-US" err="1"/>
              <a:t>niveau</a:t>
            </a:r>
            <a:endParaRPr lang="en-US"/>
          </a:p>
          <a:p>
            <a:pPr lvl="4"/>
            <a:r>
              <a:rPr lang="en-US" err="1"/>
              <a:t>Vijfde</a:t>
            </a:r>
            <a:r>
              <a:rPr lang="en-US"/>
              <a:t> </a:t>
            </a:r>
            <a:r>
              <a:rPr lang="en-US" err="1"/>
              <a:t>niveau</a:t>
            </a:r>
            <a:endParaRPr lang="en-US"/>
          </a:p>
        </p:txBody>
      </p:sp>
    </p:spTree>
    <p:extLst>
      <p:ext uri="{BB962C8B-B14F-4D97-AF65-F5344CB8AC3E}">
        <p14:creationId xmlns:p14="http://schemas.microsoft.com/office/powerpoint/2010/main" val="30845883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Afbeelding 6" hidden="1"/>
          <p:cNvPicPr>
            <a:picLocks noChangeAspect="1"/>
          </p:cNvPicPr>
          <p:nvPr userDrawn="1"/>
        </p:nvPicPr>
        <p:blipFill>
          <a:blip r:embed="rId6"/>
          <a:stretch>
            <a:fillRect/>
          </a:stretch>
        </p:blipFill>
        <p:spPr>
          <a:xfrm>
            <a:off x="1523999" y="0"/>
            <a:ext cx="9144000" cy="5143500"/>
          </a:xfrm>
          <a:prstGeom prst="rect">
            <a:avLst/>
          </a:prstGeom>
        </p:spPr>
      </p:pic>
      <p:sp>
        <p:nvSpPr>
          <p:cNvPr id="2" name="Tijdelijke aanduiding voor titel 1"/>
          <p:cNvSpPr>
            <a:spLocks noGrp="1"/>
          </p:cNvSpPr>
          <p:nvPr>
            <p:ph type="title"/>
          </p:nvPr>
        </p:nvSpPr>
        <p:spPr>
          <a:xfrm>
            <a:off x="612000" y="544228"/>
            <a:ext cx="7923213" cy="394448"/>
          </a:xfrm>
          <a:prstGeom prst="rect">
            <a:avLst/>
          </a:prstGeom>
        </p:spPr>
        <p:txBody>
          <a:bodyPr vert="horz" lIns="0" tIns="0" rIns="0" bIns="0" rtlCol="0" anchor="t" anchorCtr="0">
            <a:noAutofit/>
          </a:bodyPr>
          <a:lstStyle/>
          <a:p>
            <a:r>
              <a:rPr lang="en-US"/>
              <a:t>Slide title</a:t>
            </a:r>
          </a:p>
        </p:txBody>
      </p:sp>
      <p:sp>
        <p:nvSpPr>
          <p:cNvPr id="3" name="Tijdelijke aanduiding voor tekst 2"/>
          <p:cNvSpPr>
            <a:spLocks noGrp="1"/>
          </p:cNvSpPr>
          <p:nvPr>
            <p:ph type="body" idx="1"/>
          </p:nvPr>
        </p:nvSpPr>
        <p:spPr>
          <a:xfrm>
            <a:off x="610100" y="1260000"/>
            <a:ext cx="7922712" cy="3310413"/>
          </a:xfrm>
          <a:prstGeom prst="rect">
            <a:avLst/>
          </a:prstGeom>
        </p:spPr>
        <p:txBody>
          <a:bodyPr vert="horz" lIns="0" tIns="0" rIns="0" bIns="0" rtlCol="0">
            <a:noAutofit/>
          </a:bodyPr>
          <a:lstStyle/>
          <a:p>
            <a:pPr lvl="0"/>
            <a:r>
              <a:rPr lang="en-US"/>
              <a:t>Slide text</a:t>
            </a:r>
          </a:p>
          <a:p>
            <a:pPr lvl="1"/>
            <a:r>
              <a:rPr lang="en-US"/>
              <a:t>Tweede </a:t>
            </a:r>
            <a:r>
              <a:rPr lang="en-US" err="1"/>
              <a:t>niveau</a:t>
            </a:r>
            <a:endParaRPr lang="en-US"/>
          </a:p>
          <a:p>
            <a:pPr lvl="2"/>
            <a:r>
              <a:rPr lang="en-US" err="1"/>
              <a:t>Derde</a:t>
            </a:r>
            <a:r>
              <a:rPr lang="en-US"/>
              <a:t> </a:t>
            </a:r>
            <a:r>
              <a:rPr lang="en-US" err="1"/>
              <a:t>niveau</a:t>
            </a:r>
            <a:endParaRPr lang="en-US"/>
          </a:p>
          <a:p>
            <a:pPr lvl="3"/>
            <a:r>
              <a:rPr lang="en-US" err="1"/>
              <a:t>Vierde</a:t>
            </a:r>
            <a:r>
              <a:rPr lang="en-US"/>
              <a:t> </a:t>
            </a:r>
            <a:r>
              <a:rPr lang="en-US" err="1"/>
              <a:t>niveau</a:t>
            </a:r>
            <a:endParaRPr lang="en-US"/>
          </a:p>
          <a:p>
            <a:pPr lvl="4"/>
            <a:r>
              <a:rPr lang="en-US" err="1"/>
              <a:t>Vijfde</a:t>
            </a:r>
            <a:r>
              <a:rPr lang="en-US"/>
              <a:t> </a:t>
            </a:r>
            <a:r>
              <a:rPr lang="en-US" err="1"/>
              <a:t>niveau</a:t>
            </a:r>
            <a:endParaRPr lang="en-US"/>
          </a:p>
        </p:txBody>
      </p:sp>
      <p:sp>
        <p:nvSpPr>
          <p:cNvPr id="10" name="Rechthoek 9"/>
          <p:cNvSpPr/>
          <p:nvPr userDrawn="1"/>
        </p:nvSpPr>
        <p:spPr>
          <a:xfrm>
            <a:off x="0" y="4569619"/>
            <a:ext cx="9144000" cy="57388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 name="Tijdelijke aanduiding voor voettekst 4"/>
          <p:cNvSpPr>
            <a:spLocks noGrp="1"/>
          </p:cNvSpPr>
          <p:nvPr>
            <p:ph type="ftr" sz="quarter" idx="3"/>
          </p:nvPr>
        </p:nvSpPr>
        <p:spPr>
          <a:xfrm>
            <a:off x="989178" y="4772381"/>
            <a:ext cx="6728631" cy="351000"/>
          </a:xfrm>
          <a:prstGeom prst="rect">
            <a:avLst/>
          </a:prstGeom>
        </p:spPr>
        <p:txBody>
          <a:bodyPr vert="horz" lIns="0" tIns="0" rIns="0" bIns="0" rtlCol="0" anchor="t" anchorCtr="0"/>
          <a:lstStyle>
            <a:lvl1pPr algn="l">
              <a:defRPr sz="1200">
                <a:solidFill>
                  <a:schemeClr val="tx1"/>
                </a:solidFill>
              </a:defRPr>
            </a:lvl1pPr>
          </a:lstStyle>
          <a:p>
            <a:r>
              <a:rPr lang="en-US"/>
              <a:t>Title of the presentation – by tab Insert -&gt; Header text and Footer text</a:t>
            </a:r>
            <a:endParaRPr lang="en-US">
              <a:solidFill>
                <a:schemeClr val="tx1"/>
              </a:solidFill>
            </a:endParaRPr>
          </a:p>
        </p:txBody>
      </p:sp>
      <p:sp>
        <p:nvSpPr>
          <p:cNvPr id="6" name="Tijdelijke aanduiding voor dianummer 5"/>
          <p:cNvSpPr>
            <a:spLocks noGrp="1"/>
          </p:cNvSpPr>
          <p:nvPr>
            <p:ph type="sldNum" sz="quarter" idx="4"/>
          </p:nvPr>
        </p:nvSpPr>
        <p:spPr>
          <a:xfrm>
            <a:off x="612000" y="4773600"/>
            <a:ext cx="601313" cy="351000"/>
          </a:xfrm>
          <a:prstGeom prst="rect">
            <a:avLst/>
          </a:prstGeom>
        </p:spPr>
        <p:txBody>
          <a:bodyPr vert="horz" lIns="0" tIns="0" rIns="0" bIns="0" rtlCol="0" anchor="t" anchorCtr="0"/>
          <a:lstStyle>
            <a:lvl1pPr algn="l">
              <a:defRPr sz="1200">
                <a:solidFill>
                  <a:schemeClr val="tx1"/>
                </a:solidFill>
              </a:defRPr>
            </a:lvl1pPr>
          </a:lstStyle>
          <a:p>
            <a:fld id="{B7CEC10D-CD46-426F-915E-6C78530279CB}" type="slidenum">
              <a:rPr lang="en-US" smtClean="0"/>
              <a:pPr/>
              <a:t>‹#›</a:t>
            </a:fld>
            <a:endParaRPr lang="en-US"/>
          </a:p>
        </p:txBody>
      </p:sp>
    </p:spTree>
    <p:extLst>
      <p:ext uri="{BB962C8B-B14F-4D97-AF65-F5344CB8AC3E}">
        <p14:creationId xmlns:p14="http://schemas.microsoft.com/office/powerpoint/2010/main" val="2825351473"/>
      </p:ext>
    </p:extLst>
  </p:cSld>
  <p:clrMap bg1="lt1" tx1="dk1" bg2="lt2" tx2="dk2" accent1="accent1" accent2="accent2" accent3="accent3" accent4="accent4" accent5="accent5" accent6="accent6" hlink="hlink" folHlink="folHlink"/>
  <p:sldLayoutIdLst>
    <p:sldLayoutId id="2147483663" r:id="rId1"/>
    <p:sldLayoutId id="2147483652" r:id="rId2"/>
    <p:sldLayoutId id="2147483662" r:id="rId3"/>
    <p:sldLayoutId id="2147483650" r:id="rId4"/>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514350" rtl="0" eaLnBrk="1" latinLnBrk="0" hangingPunct="1">
        <a:lnSpc>
          <a:spcPts val="2700"/>
        </a:lnSpc>
        <a:spcBef>
          <a:spcPct val="0"/>
        </a:spcBef>
        <a:buNone/>
        <a:defRPr sz="2700" b="1" kern="1200">
          <a:solidFill>
            <a:schemeClr val="tx1"/>
          </a:solidFill>
          <a:latin typeface="+mj-lt"/>
          <a:ea typeface="+mj-ea"/>
          <a:cs typeface="+mj-cs"/>
        </a:defRPr>
      </a:lvl1pPr>
    </p:titleStyle>
    <p:bodyStyle>
      <a:lvl1pPr marL="0" indent="0" algn="l" defTabSz="514350" rtl="0" eaLnBrk="1" latinLnBrk="0" hangingPunct="1">
        <a:lnSpc>
          <a:spcPct val="100000"/>
        </a:lnSpc>
        <a:spcBef>
          <a:spcPts val="413"/>
        </a:spcBef>
        <a:spcAft>
          <a:spcPts val="413"/>
        </a:spcAft>
        <a:buFont typeface="Arial" panose="020B0604020202020204" pitchFamily="34" charset="0"/>
        <a:buNone/>
        <a:defRPr sz="1650" kern="1200">
          <a:solidFill>
            <a:schemeClr val="tx1"/>
          </a:solidFill>
          <a:latin typeface="+mn-lt"/>
          <a:ea typeface="+mn-ea"/>
          <a:cs typeface="+mn-cs"/>
        </a:defRPr>
      </a:lvl1pPr>
      <a:lvl2pPr marL="0" indent="0" algn="l" defTabSz="514350" rtl="0" eaLnBrk="1" latinLnBrk="0" hangingPunct="1">
        <a:lnSpc>
          <a:spcPct val="100000"/>
        </a:lnSpc>
        <a:spcBef>
          <a:spcPts val="413"/>
        </a:spcBef>
        <a:spcAft>
          <a:spcPts val="413"/>
        </a:spcAft>
        <a:buFont typeface="Arial" panose="020B0604020202020204" pitchFamily="34" charset="0"/>
        <a:buNone/>
        <a:defRPr sz="1950" kern="1200">
          <a:solidFill>
            <a:schemeClr val="tx1"/>
          </a:solidFill>
          <a:latin typeface="+mn-lt"/>
          <a:ea typeface="+mn-ea"/>
          <a:cs typeface="+mn-cs"/>
        </a:defRPr>
      </a:lvl2pPr>
      <a:lvl3pPr marL="202500" indent="-202500" algn="l" defTabSz="514350" rtl="0" eaLnBrk="1" latinLnBrk="0" hangingPunct="1">
        <a:lnSpc>
          <a:spcPct val="100000"/>
        </a:lnSpc>
        <a:spcBef>
          <a:spcPts val="413"/>
        </a:spcBef>
        <a:buClr>
          <a:schemeClr val="bg2"/>
        </a:buClr>
        <a:buSzPct val="100000"/>
        <a:buFont typeface="Arial" panose="020B0604020202020204" pitchFamily="34" charset="0"/>
        <a:buChar char="•"/>
        <a:defRPr sz="1650" kern="1200">
          <a:solidFill>
            <a:schemeClr val="tx1"/>
          </a:solidFill>
          <a:latin typeface="+mn-lt"/>
          <a:ea typeface="+mn-ea"/>
          <a:cs typeface="+mn-cs"/>
        </a:defRPr>
      </a:lvl3pPr>
      <a:lvl4pPr marL="405000" indent="-202500" algn="l" defTabSz="514350" rtl="0" eaLnBrk="1" latinLnBrk="0" hangingPunct="1">
        <a:lnSpc>
          <a:spcPct val="100000"/>
        </a:lnSpc>
        <a:spcBef>
          <a:spcPts val="0"/>
        </a:spcBef>
        <a:buClr>
          <a:schemeClr val="bg2"/>
        </a:buClr>
        <a:buFont typeface="Arial" panose="020B0604020202020204" pitchFamily="34" charset="0"/>
        <a:buChar char="•"/>
        <a:defRPr sz="1500" kern="1200">
          <a:solidFill>
            <a:schemeClr val="tx1"/>
          </a:solidFill>
          <a:latin typeface="+mn-lt"/>
          <a:ea typeface="+mn-ea"/>
          <a:cs typeface="+mn-cs"/>
        </a:defRPr>
      </a:lvl4pPr>
      <a:lvl5pPr marL="607500" indent="-202500" algn="l" defTabSz="514350" rtl="0" eaLnBrk="1" latinLnBrk="0" hangingPunct="1">
        <a:lnSpc>
          <a:spcPct val="100000"/>
        </a:lnSpc>
        <a:spcBef>
          <a:spcPts val="0"/>
        </a:spcBef>
        <a:buFont typeface="Arial" panose="020B0604020202020204" pitchFamily="34" charset="0"/>
        <a:buChar char="•"/>
        <a:defRPr sz="1350" kern="1200">
          <a:solidFill>
            <a:schemeClr val="tx1"/>
          </a:solidFill>
          <a:latin typeface="+mn-lt"/>
          <a:ea typeface="+mn-ea"/>
          <a:cs typeface="+mn-cs"/>
        </a:defRPr>
      </a:lvl5pPr>
      <a:lvl6pPr marL="1414463"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6pPr>
      <a:lvl7pPr marL="1671638"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7pPr>
      <a:lvl8pPr marL="1928813"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8pPr>
      <a:lvl9pPr marL="2185988"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9pPr>
    </p:bodyStyle>
    <p:otherStyle>
      <a:defPPr>
        <a:defRPr lang="nl-NL"/>
      </a:defPPr>
      <a:lvl1pPr marL="0" algn="l" defTabSz="514350" rtl="0" eaLnBrk="1" latinLnBrk="0" hangingPunct="1">
        <a:defRPr sz="1013" kern="1200">
          <a:solidFill>
            <a:schemeClr val="tx1"/>
          </a:solidFill>
          <a:latin typeface="+mn-lt"/>
          <a:ea typeface="+mn-ea"/>
          <a:cs typeface="+mn-cs"/>
        </a:defRPr>
      </a:lvl1pPr>
      <a:lvl2pPr marL="257175" algn="l" defTabSz="514350" rtl="0" eaLnBrk="1" latinLnBrk="0" hangingPunct="1">
        <a:defRPr sz="1013" kern="1200">
          <a:solidFill>
            <a:schemeClr val="tx1"/>
          </a:solidFill>
          <a:latin typeface="+mn-lt"/>
          <a:ea typeface="+mn-ea"/>
          <a:cs typeface="+mn-cs"/>
        </a:defRPr>
      </a:lvl2pPr>
      <a:lvl3pPr marL="514350" algn="l" defTabSz="514350" rtl="0" eaLnBrk="1" latinLnBrk="0" hangingPunct="1">
        <a:defRPr sz="1013" kern="1200">
          <a:solidFill>
            <a:schemeClr val="tx1"/>
          </a:solidFill>
          <a:latin typeface="+mn-lt"/>
          <a:ea typeface="+mn-ea"/>
          <a:cs typeface="+mn-cs"/>
        </a:defRPr>
      </a:lvl3pPr>
      <a:lvl4pPr marL="771525" algn="l" defTabSz="514350" rtl="0" eaLnBrk="1" latinLnBrk="0" hangingPunct="1">
        <a:defRPr sz="1013" kern="1200">
          <a:solidFill>
            <a:schemeClr val="tx1"/>
          </a:solidFill>
          <a:latin typeface="+mn-lt"/>
          <a:ea typeface="+mn-ea"/>
          <a:cs typeface="+mn-cs"/>
        </a:defRPr>
      </a:lvl4pPr>
      <a:lvl5pPr marL="1028700" algn="l" defTabSz="514350" rtl="0" eaLnBrk="1" latinLnBrk="0" hangingPunct="1">
        <a:defRPr sz="1013" kern="1200">
          <a:solidFill>
            <a:schemeClr val="tx1"/>
          </a:solidFill>
          <a:latin typeface="+mn-lt"/>
          <a:ea typeface="+mn-ea"/>
          <a:cs typeface="+mn-cs"/>
        </a:defRPr>
      </a:lvl5pPr>
      <a:lvl6pPr marL="1285875" algn="l" defTabSz="514350" rtl="0" eaLnBrk="1" latinLnBrk="0" hangingPunct="1">
        <a:defRPr sz="1013" kern="1200">
          <a:solidFill>
            <a:schemeClr val="tx1"/>
          </a:solidFill>
          <a:latin typeface="+mn-lt"/>
          <a:ea typeface="+mn-ea"/>
          <a:cs typeface="+mn-cs"/>
        </a:defRPr>
      </a:lvl6pPr>
      <a:lvl7pPr marL="1543050" algn="l" defTabSz="514350" rtl="0" eaLnBrk="1" latinLnBrk="0" hangingPunct="1">
        <a:defRPr sz="1013" kern="1200">
          <a:solidFill>
            <a:schemeClr val="tx1"/>
          </a:solidFill>
          <a:latin typeface="+mn-lt"/>
          <a:ea typeface="+mn-ea"/>
          <a:cs typeface="+mn-cs"/>
        </a:defRPr>
      </a:lvl7pPr>
      <a:lvl8pPr marL="1800225" algn="l" defTabSz="514350" rtl="0" eaLnBrk="1" latinLnBrk="0" hangingPunct="1">
        <a:defRPr sz="1013" kern="1200">
          <a:solidFill>
            <a:schemeClr val="tx1"/>
          </a:solidFill>
          <a:latin typeface="+mn-lt"/>
          <a:ea typeface="+mn-ea"/>
          <a:cs typeface="+mn-cs"/>
        </a:defRPr>
      </a:lvl8pPr>
      <a:lvl9pPr marL="2057400" algn="l" defTabSz="514350" rtl="0" eaLnBrk="1" latinLnBrk="0" hangingPunct="1">
        <a:defRPr sz="1013"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879" userDrawn="1">
          <p15:clr>
            <a:srgbClr val="F26B43"/>
          </p15:clr>
        </p15:guide>
        <p15:guide id="2" pos="383" userDrawn="1">
          <p15:clr>
            <a:srgbClr val="F26B43"/>
          </p15:clr>
        </p15:guide>
        <p15:guide id="3" pos="5375"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0.png"/><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3.png"/><Relationship Id="rId4"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14.png"/><Relationship Id="rId5" Type="http://schemas.openxmlformats.org/officeDocument/2006/relationships/image" Target="../media/image15.png"/><Relationship Id="rId4"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16.png"/><Relationship Id="rId5" Type="http://schemas.openxmlformats.org/officeDocument/2006/relationships/image" Target="../media/image18.png"/><Relationship Id="rId4"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5.mp4"/><Relationship Id="rId1" Type="http://schemas.microsoft.com/office/2007/relationships/media" Target="../media/media5.mp4"/><Relationship Id="rId5" Type="http://schemas.openxmlformats.org/officeDocument/2006/relationships/image" Target="../media/image21.png"/><Relationship Id="rId4"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20.xml.rels><?xml version="1.0" encoding="UTF-8" standalone="yes"?>
<Relationships xmlns="http://schemas.openxmlformats.org/package/2006/relationships"><Relationship Id="rId8" Type="http://schemas.openxmlformats.org/officeDocument/2006/relationships/image" Target="../media/image27.svg"/><Relationship Id="rId13" Type="http://schemas.openxmlformats.org/officeDocument/2006/relationships/image" Target="../media/image32.svg"/><Relationship Id="rId18" Type="http://schemas.openxmlformats.org/officeDocument/2006/relationships/image" Target="../media/image37.svg"/><Relationship Id="rId3" Type="http://schemas.openxmlformats.org/officeDocument/2006/relationships/image" Target="../media/image22.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 Type="http://schemas.openxmlformats.org/officeDocument/2006/relationships/notesSlide" Target="../notesSlides/notesSlide18.xml"/><Relationship Id="rId16" Type="http://schemas.openxmlformats.org/officeDocument/2006/relationships/image" Target="../media/image35.svg"/><Relationship Id="rId1" Type="http://schemas.openxmlformats.org/officeDocument/2006/relationships/slideLayout" Target="../slideLayouts/slideLayout1.xml"/><Relationship Id="rId6" Type="http://schemas.openxmlformats.org/officeDocument/2006/relationships/image" Target="../media/image25.svg"/><Relationship Id="rId11" Type="http://schemas.openxmlformats.org/officeDocument/2006/relationships/image" Target="../media/image30.svg"/><Relationship Id="rId5" Type="http://schemas.openxmlformats.org/officeDocument/2006/relationships/image" Target="../media/image24.svg"/><Relationship Id="rId15" Type="http://schemas.openxmlformats.org/officeDocument/2006/relationships/image" Target="../media/image34.svg"/><Relationship Id="rId10" Type="http://schemas.openxmlformats.org/officeDocument/2006/relationships/image" Target="../media/image29.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s>
</file>

<file path=ppt/slides/_rels/slide21.xml.rels><?xml version="1.0" encoding="UTF-8" standalone="yes"?>
<Relationships xmlns="http://schemas.openxmlformats.org/package/2006/relationships"><Relationship Id="rId8" Type="http://schemas.openxmlformats.org/officeDocument/2006/relationships/image" Target="../media/image43.svg"/><Relationship Id="rId13" Type="http://schemas.openxmlformats.org/officeDocument/2006/relationships/image" Target="../media/image48.svg"/><Relationship Id="rId18" Type="http://schemas.openxmlformats.org/officeDocument/2006/relationships/image" Target="../media/image53.svg"/><Relationship Id="rId3" Type="http://schemas.openxmlformats.org/officeDocument/2006/relationships/image" Target="../media/image38.png"/><Relationship Id="rId21" Type="http://schemas.openxmlformats.org/officeDocument/2006/relationships/image" Target="../media/image55.svg"/><Relationship Id="rId7" Type="http://schemas.openxmlformats.org/officeDocument/2006/relationships/image" Target="../media/image42.svg"/><Relationship Id="rId12" Type="http://schemas.openxmlformats.org/officeDocument/2006/relationships/image" Target="../media/image47.svg"/><Relationship Id="rId17" Type="http://schemas.openxmlformats.org/officeDocument/2006/relationships/image" Target="../media/image52.svg"/><Relationship Id="rId2" Type="http://schemas.openxmlformats.org/officeDocument/2006/relationships/notesSlide" Target="../notesSlides/notesSlide19.xml"/><Relationship Id="rId16" Type="http://schemas.openxmlformats.org/officeDocument/2006/relationships/image" Target="../media/image51.svg"/><Relationship Id="rId20" Type="http://schemas.openxmlformats.org/officeDocument/2006/relationships/image" Target="../media/image60.png"/><Relationship Id="rId1" Type="http://schemas.openxmlformats.org/officeDocument/2006/relationships/slideLayout" Target="../slideLayouts/slideLayout1.xml"/><Relationship Id="rId6" Type="http://schemas.openxmlformats.org/officeDocument/2006/relationships/image" Target="../media/image41.svg"/><Relationship Id="rId11" Type="http://schemas.openxmlformats.org/officeDocument/2006/relationships/image" Target="../media/image46.svg"/><Relationship Id="rId5" Type="http://schemas.openxmlformats.org/officeDocument/2006/relationships/image" Target="../media/image40.svg"/><Relationship Id="rId15" Type="http://schemas.openxmlformats.org/officeDocument/2006/relationships/image" Target="../media/image50.svg"/><Relationship Id="rId10" Type="http://schemas.openxmlformats.org/officeDocument/2006/relationships/image" Target="../media/image45.svg"/><Relationship Id="rId19" Type="http://schemas.openxmlformats.org/officeDocument/2006/relationships/image" Target="../media/image54.svg"/><Relationship Id="rId4" Type="http://schemas.openxmlformats.org/officeDocument/2006/relationships/image" Target="../media/image39.svg"/><Relationship Id="rId9" Type="http://schemas.openxmlformats.org/officeDocument/2006/relationships/image" Target="../media/image44.svg"/><Relationship Id="rId14" Type="http://schemas.openxmlformats.org/officeDocument/2006/relationships/image" Target="../media/image49.svg"/><Relationship Id="rId22" Type="http://schemas.openxmlformats.org/officeDocument/2006/relationships/image" Target="../media/image56.png"/></Relationships>
</file>

<file path=ppt/slides/_rels/slide22.xml.rels><?xml version="1.0" encoding="UTF-8" standalone="yes"?>
<Relationships xmlns="http://schemas.openxmlformats.org/package/2006/relationships"><Relationship Id="rId8" Type="http://schemas.openxmlformats.org/officeDocument/2006/relationships/image" Target="../media/image32.svg"/><Relationship Id="rId13" Type="http://schemas.openxmlformats.org/officeDocument/2006/relationships/image" Target="../media/image57.svg"/><Relationship Id="rId18" Type="http://schemas.openxmlformats.org/officeDocument/2006/relationships/image" Target="../media/image61.svg"/><Relationship Id="rId3" Type="http://schemas.openxmlformats.org/officeDocument/2006/relationships/image" Target="../media/image25.svg"/><Relationship Id="rId7" Type="http://schemas.openxmlformats.org/officeDocument/2006/relationships/image" Target="../media/image29.svg"/><Relationship Id="rId12" Type="http://schemas.openxmlformats.org/officeDocument/2006/relationships/image" Target="../media/image36.svg"/><Relationship Id="rId17" Type="http://schemas.openxmlformats.org/officeDocument/2006/relationships/image" Target="../media/image60.svg"/><Relationship Id="rId2" Type="http://schemas.openxmlformats.org/officeDocument/2006/relationships/notesSlide" Target="../notesSlides/notesSlide20.xml"/><Relationship Id="rId16" Type="http://schemas.openxmlformats.org/officeDocument/2006/relationships/image" Target="../media/image59.svg"/><Relationship Id="rId1" Type="http://schemas.openxmlformats.org/officeDocument/2006/relationships/slideLayout" Target="../slideLayouts/slideLayout1.xml"/><Relationship Id="rId6" Type="http://schemas.openxmlformats.org/officeDocument/2006/relationships/image" Target="../media/image28.svg"/><Relationship Id="rId11" Type="http://schemas.openxmlformats.org/officeDocument/2006/relationships/image" Target="../media/image35.svg"/><Relationship Id="rId5" Type="http://schemas.openxmlformats.org/officeDocument/2006/relationships/image" Target="../media/image27.svg"/><Relationship Id="rId15" Type="http://schemas.openxmlformats.org/officeDocument/2006/relationships/image" Target="../media/image58.svg"/><Relationship Id="rId10" Type="http://schemas.openxmlformats.org/officeDocument/2006/relationships/image" Target="../media/image34.svg"/><Relationship Id="rId4" Type="http://schemas.openxmlformats.org/officeDocument/2006/relationships/image" Target="../media/image26.svg"/><Relationship Id="rId9" Type="http://schemas.openxmlformats.org/officeDocument/2006/relationships/image" Target="../media/image33.svg"/><Relationship Id="rId14" Type="http://schemas.openxmlformats.org/officeDocument/2006/relationships/image" Target="../media/image30.svg"/></Relationships>
</file>

<file path=ppt/slides/_rels/slide23.xml.rels><?xml version="1.0" encoding="UTF-8" standalone="yes"?>
<Relationships xmlns="http://schemas.openxmlformats.org/package/2006/relationships"><Relationship Id="rId8" Type="http://schemas.openxmlformats.org/officeDocument/2006/relationships/image" Target="../media/image35.svg"/><Relationship Id="rId13" Type="http://schemas.openxmlformats.org/officeDocument/2006/relationships/image" Target="../media/image29.svg"/><Relationship Id="rId3" Type="http://schemas.openxmlformats.org/officeDocument/2006/relationships/image" Target="../media/image25.svg"/><Relationship Id="rId7" Type="http://schemas.openxmlformats.org/officeDocument/2006/relationships/image" Target="../media/image34.svg"/><Relationship Id="rId12" Type="http://schemas.openxmlformats.org/officeDocument/2006/relationships/image" Target="../media/image28.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33.svg"/><Relationship Id="rId11" Type="http://schemas.openxmlformats.org/officeDocument/2006/relationships/image" Target="../media/image27.svg"/><Relationship Id="rId5" Type="http://schemas.openxmlformats.org/officeDocument/2006/relationships/image" Target="../media/image32.svg"/><Relationship Id="rId10" Type="http://schemas.openxmlformats.org/officeDocument/2006/relationships/image" Target="../media/image62.svg"/><Relationship Id="rId4" Type="http://schemas.openxmlformats.org/officeDocument/2006/relationships/image" Target="../media/image26.svg"/><Relationship Id="rId9" Type="http://schemas.openxmlformats.org/officeDocument/2006/relationships/image" Target="../media/image36.svg"/></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25.xml.rels><?xml version="1.0" encoding="UTF-8" standalone="yes"?>
<Relationships xmlns="http://schemas.openxmlformats.org/package/2006/relationships"><Relationship Id="rId8" Type="http://schemas.openxmlformats.org/officeDocument/2006/relationships/image" Target="../media/image32.svg"/><Relationship Id="rId13" Type="http://schemas.openxmlformats.org/officeDocument/2006/relationships/image" Target="../media/image68.png"/><Relationship Id="rId3" Type="http://schemas.openxmlformats.org/officeDocument/2006/relationships/image" Target="../media/image25.svg"/><Relationship Id="rId7" Type="http://schemas.openxmlformats.org/officeDocument/2006/relationships/image" Target="../media/image29.svg"/><Relationship Id="rId12" Type="http://schemas.openxmlformats.org/officeDocument/2006/relationships/image" Target="../media/image36.sv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28.svg"/><Relationship Id="rId11" Type="http://schemas.openxmlformats.org/officeDocument/2006/relationships/image" Target="../media/image35.svg"/><Relationship Id="rId5" Type="http://schemas.openxmlformats.org/officeDocument/2006/relationships/image" Target="../media/image27.svg"/><Relationship Id="rId10" Type="http://schemas.openxmlformats.org/officeDocument/2006/relationships/image" Target="../media/image34.svg"/><Relationship Id="rId4" Type="http://schemas.openxmlformats.org/officeDocument/2006/relationships/image" Target="../media/image26.svg"/><Relationship Id="rId9" Type="http://schemas.openxmlformats.org/officeDocument/2006/relationships/image" Target="../media/image33.svg"/></Relationships>
</file>

<file path=ppt/slides/_rels/slide26.xml.rels><?xml version="1.0" encoding="UTF-8" standalone="yes"?>
<Relationships xmlns="http://schemas.openxmlformats.org/package/2006/relationships"><Relationship Id="rId8" Type="http://schemas.openxmlformats.org/officeDocument/2006/relationships/image" Target="../media/image29.svg"/><Relationship Id="rId3" Type="http://schemas.openxmlformats.org/officeDocument/2006/relationships/image" Target="../media/image63.svg"/><Relationship Id="rId7" Type="http://schemas.openxmlformats.org/officeDocument/2006/relationships/image" Target="../media/image28.svg"/><Relationship Id="rId12" Type="http://schemas.openxmlformats.org/officeDocument/2006/relationships/image" Target="../media/image66.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27.svg"/><Relationship Id="rId11" Type="http://schemas.openxmlformats.org/officeDocument/2006/relationships/image" Target="../media/image65.png"/><Relationship Id="rId5" Type="http://schemas.openxmlformats.org/officeDocument/2006/relationships/image" Target="../media/image26.svg"/><Relationship Id="rId10" Type="http://schemas.openxmlformats.org/officeDocument/2006/relationships/image" Target="../media/image64.svg"/><Relationship Id="rId4" Type="http://schemas.openxmlformats.org/officeDocument/2006/relationships/image" Target="../media/image25.svg"/><Relationship Id="rId9" Type="http://schemas.openxmlformats.org/officeDocument/2006/relationships/image" Target="../media/image33.svg"/></Relationships>
</file>

<file path=ppt/slides/_rels/slide27.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28.svg"/><Relationship Id="rId11" Type="http://schemas.openxmlformats.org/officeDocument/2006/relationships/image" Target="../media/image68.svg"/><Relationship Id="rId5" Type="http://schemas.openxmlformats.org/officeDocument/2006/relationships/image" Target="../media/image27.svg"/><Relationship Id="rId10" Type="http://schemas.openxmlformats.org/officeDocument/2006/relationships/image" Target="../media/image66.png"/><Relationship Id="rId4" Type="http://schemas.openxmlformats.org/officeDocument/2006/relationships/image" Target="../media/image26.svg"/><Relationship Id="rId9" Type="http://schemas.openxmlformats.org/officeDocument/2006/relationships/image" Target="../media/image67.svg"/></Relationships>
</file>

<file path=ppt/slides/_rels/slide28.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 Id="rId9" Type="http://schemas.openxmlformats.org/officeDocument/2006/relationships/image" Target="../media/image69.svg"/></Relationships>
</file>

<file path=ppt/slides/_rels/slide29.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 Id="rId9" Type="http://schemas.openxmlformats.org/officeDocument/2006/relationships/image" Target="../media/image70.svg"/></Relationships>
</file>

<file path=ppt/slides/_rels/slide30.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28.svg"/><Relationship Id="rId5" Type="http://schemas.openxmlformats.org/officeDocument/2006/relationships/image" Target="../media/image27.svg"/><Relationship Id="rId10" Type="http://schemas.openxmlformats.org/officeDocument/2006/relationships/image" Target="../media/image72.svg"/><Relationship Id="rId4" Type="http://schemas.openxmlformats.org/officeDocument/2006/relationships/image" Target="../media/image26.svg"/><Relationship Id="rId9" Type="http://schemas.openxmlformats.org/officeDocument/2006/relationships/image" Target="../media/image71.png"/></Relationships>
</file>

<file path=ppt/slides/_rels/slide3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9.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73.sv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81.png"/><Relationship Id="rId4" Type="http://schemas.openxmlformats.org/officeDocument/2006/relationships/image" Target="../media/image80.png"/></Relationships>
</file>

<file path=ppt/slides/_rels/slide34.xml.rels><?xml version="1.0" encoding="UTF-8" standalone="yes"?>
<Relationships xmlns="http://schemas.openxmlformats.org/package/2006/relationships"><Relationship Id="rId3" Type="http://schemas.openxmlformats.org/officeDocument/2006/relationships/image" Target="../media/image74.svg"/><Relationship Id="rId2" Type="http://schemas.openxmlformats.org/officeDocument/2006/relationships/notesSlide" Target="../notesSlides/notesSlide32.xml"/><Relationship Id="rId1" Type="http://schemas.openxmlformats.org/officeDocument/2006/relationships/slideLayout" Target="../slideLayouts/slideLayout1.xml"/><Relationship Id="rId5" Type="http://schemas.openxmlformats.org/officeDocument/2006/relationships/image" Target="../media/image84.png"/><Relationship Id="rId4" Type="http://schemas.openxmlformats.org/officeDocument/2006/relationships/image" Target="../media/image83.png"/></Relationships>
</file>

<file path=ppt/slides/_rels/slide3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33.xml"/><Relationship Id="rId1" Type="http://schemas.openxmlformats.org/officeDocument/2006/relationships/slideLayout" Target="../slideLayouts/slideLayout1.xml"/><Relationship Id="rId5" Type="http://schemas.openxmlformats.org/officeDocument/2006/relationships/image" Target="../media/image77.svg"/><Relationship Id="rId4" Type="http://schemas.openxmlformats.org/officeDocument/2006/relationships/image" Target="../media/image76.svg"/></Relationships>
</file>

<file path=ppt/slides/_rels/slide3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4.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37.xml.rels><?xml version="1.0" encoding="UTF-8" standalone="yes"?>
<Relationships xmlns="http://schemas.openxmlformats.org/package/2006/relationships"><Relationship Id="rId8" Type="http://schemas.openxmlformats.org/officeDocument/2006/relationships/image" Target="../media/image52.svg"/><Relationship Id="rId3" Type="http://schemas.openxmlformats.org/officeDocument/2006/relationships/image" Target="../media/image88.png"/><Relationship Id="rId7" Type="http://schemas.openxmlformats.org/officeDocument/2006/relationships/image" Target="../media/image79.sv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4.svg"/><Relationship Id="rId11" Type="http://schemas.openxmlformats.org/officeDocument/2006/relationships/image" Target="../media/image56.png"/><Relationship Id="rId5" Type="http://schemas.openxmlformats.org/officeDocument/2006/relationships/image" Target="../media/image78.svg"/><Relationship Id="rId10" Type="http://schemas.openxmlformats.org/officeDocument/2006/relationships/image" Target="../media/image55.svg"/><Relationship Id="rId4" Type="http://schemas.openxmlformats.org/officeDocument/2006/relationships/image" Target="../media/image53.svg"/><Relationship Id="rId9" Type="http://schemas.openxmlformats.org/officeDocument/2006/relationships/image" Target="../media/image91.png"/></Relationships>
</file>

<file path=ppt/slides/_rels/slide38.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image" Target="../media/image88.png"/><Relationship Id="rId7" Type="http://schemas.openxmlformats.org/officeDocument/2006/relationships/image" Target="../media/image30.svg"/><Relationship Id="rId12" Type="http://schemas.openxmlformats.org/officeDocument/2006/relationships/image" Target="../media/image56.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23.svg"/><Relationship Id="rId11" Type="http://schemas.openxmlformats.org/officeDocument/2006/relationships/image" Target="../media/image61.svg"/><Relationship Id="rId5" Type="http://schemas.openxmlformats.org/officeDocument/2006/relationships/image" Target="../media/image60.svg"/><Relationship Id="rId10" Type="http://schemas.openxmlformats.org/officeDocument/2006/relationships/image" Target="../media/image91.png"/><Relationship Id="rId4" Type="http://schemas.openxmlformats.org/officeDocument/2006/relationships/image" Target="../media/image59.svg"/><Relationship Id="rId9" Type="http://schemas.openxmlformats.org/officeDocument/2006/relationships/image" Target="../media/image85.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87.svg"/><Relationship Id="rId2" Type="http://schemas.openxmlformats.org/officeDocument/2006/relationships/image" Target="../media/image86.svg"/><Relationship Id="rId1" Type="http://schemas.openxmlformats.org/officeDocument/2006/relationships/slideLayout" Target="../slideLayouts/slideLayout1.xml"/><Relationship Id="rId5" Type="http://schemas.openxmlformats.org/officeDocument/2006/relationships/image" Target="../media/image89.svg"/><Relationship Id="rId4" Type="http://schemas.openxmlformats.org/officeDocument/2006/relationships/image" Target="../media/image88.svg"/></Relationships>
</file>

<file path=ppt/slides/_rels/slide42.xml.rels><?xml version="1.0" encoding="UTF-8" standalone="yes"?>
<Relationships xmlns="http://schemas.openxmlformats.org/package/2006/relationships"><Relationship Id="rId2" Type="http://schemas.openxmlformats.org/officeDocument/2006/relationships/image" Target="../media/image90.gif"/><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image" Target="../media/image91.gif"/><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44.xml"/><Relationship Id="rId1" Type="http://schemas.openxmlformats.org/officeDocument/2006/relationships/slideLayout" Target="../slideLayouts/slideLayout1.xml"/><Relationship Id="rId5" Type="http://schemas.openxmlformats.org/officeDocument/2006/relationships/image" Target="../media/image97.png"/><Relationship Id="rId4" Type="http://schemas.openxmlformats.org/officeDocument/2006/relationships/image" Target="../media/image8.png"/></Relationships>
</file>

<file path=ppt/slides/_rels/slide50.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98.png"/></Relationships>
</file>

<file path=ppt/slides/_rels/slide51.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100.png"/></Relationships>
</file>

<file path=ppt/slides/_rels/slide53.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102.png"/></Relationships>
</file>

<file path=ppt/slides/_rels/slide5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6.mp4"/><Relationship Id="rId1" Type="http://schemas.microsoft.com/office/2007/relationships/media" Target="../media/media6.mp4"/><Relationship Id="rId5" Type="http://schemas.openxmlformats.org/officeDocument/2006/relationships/image" Target="../media/image103.png"/><Relationship Id="rId4"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7.png"/><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p:cNvSpPr>
            <a:spLocks noGrp="1"/>
          </p:cNvSpPr>
          <p:nvPr>
            <p:ph type="title"/>
          </p:nvPr>
        </p:nvSpPr>
        <p:spPr>
          <a:xfrm>
            <a:off x="0" y="2237508"/>
            <a:ext cx="9144000" cy="1017755"/>
          </a:xfrm>
          <a:solidFill>
            <a:schemeClr val="tx2"/>
          </a:solidFill>
        </p:spPr>
        <p:txBody>
          <a:bodyPr anchor="ctr"/>
          <a:lstStyle/>
          <a:p>
            <a:pPr algn="ctr"/>
            <a:r>
              <a:rPr lang="en-US" sz="2600">
                <a:solidFill>
                  <a:schemeClr val="bg1"/>
                </a:solidFill>
              </a:rPr>
              <a:t>Probabilistic </a:t>
            </a:r>
            <a:r>
              <a:rPr lang="en-US" sz="2600" err="1">
                <a:solidFill>
                  <a:schemeClr val="bg1"/>
                </a:solidFill>
              </a:rPr>
              <a:t>numerics</a:t>
            </a:r>
            <a:r>
              <a:rPr lang="en-US" sz="2600">
                <a:solidFill>
                  <a:schemeClr val="bg1"/>
                </a:solidFill>
              </a:rPr>
              <a:t> at scale by distributed inference</a:t>
            </a:r>
          </a:p>
        </p:txBody>
      </p:sp>
      <p:sp>
        <p:nvSpPr>
          <p:cNvPr id="6" name="Tijdelijke aanduiding voor tekst 5"/>
          <p:cNvSpPr>
            <a:spLocks noGrp="1"/>
          </p:cNvSpPr>
          <p:nvPr>
            <p:ph idx="1"/>
          </p:nvPr>
        </p:nvSpPr>
        <p:spPr>
          <a:xfrm>
            <a:off x="0" y="3255264"/>
            <a:ext cx="9144000" cy="894172"/>
          </a:xfrm>
          <a:solidFill>
            <a:schemeClr val="tx2"/>
          </a:solidFill>
        </p:spPr>
        <p:txBody>
          <a:bodyPr anchor="ctr" anchorCtr="0"/>
          <a:lstStyle/>
          <a:p>
            <a:pPr algn="ctr">
              <a:spcAft>
                <a:spcPts val="0"/>
              </a:spcAft>
            </a:pPr>
            <a:r>
              <a:rPr lang="nl-NL" sz="1600" b="1">
                <a:solidFill>
                  <a:schemeClr val="bg1"/>
                </a:solidFill>
              </a:rPr>
              <a:t>Alex </a:t>
            </a:r>
            <a:r>
              <a:rPr lang="nl-NL" sz="1600" b="1" err="1">
                <a:solidFill>
                  <a:schemeClr val="bg1"/>
                </a:solidFill>
              </a:rPr>
              <a:t>Ledbetter</a:t>
            </a:r>
            <a:r>
              <a:rPr lang="nl-NL" sz="1600" b="1">
                <a:solidFill>
                  <a:schemeClr val="bg1"/>
                </a:solidFill>
              </a:rPr>
              <a:t>, </a:t>
            </a:r>
            <a:r>
              <a:rPr lang="nl-NL" sz="1600" b="1" err="1">
                <a:solidFill>
                  <a:schemeClr val="bg1"/>
                </a:solidFill>
              </a:rPr>
              <a:t>Mykola</a:t>
            </a:r>
            <a:r>
              <a:rPr lang="nl-NL" sz="1600" b="1">
                <a:solidFill>
                  <a:schemeClr val="bg1"/>
                </a:solidFill>
              </a:rPr>
              <a:t> </a:t>
            </a:r>
            <a:r>
              <a:rPr lang="nl-NL" sz="1600" b="1" err="1">
                <a:solidFill>
                  <a:schemeClr val="bg1"/>
                </a:solidFill>
              </a:rPr>
              <a:t>Lukashchuk</a:t>
            </a:r>
            <a:r>
              <a:rPr lang="nl-NL" sz="1600" b="1">
                <a:solidFill>
                  <a:schemeClr val="bg1"/>
                </a:solidFill>
              </a:rPr>
              <a:t> &amp; Wouter Kouw</a:t>
            </a:r>
            <a:endParaRPr lang="nl-NL" b="1">
              <a:solidFill>
                <a:schemeClr val="bg1"/>
              </a:solidFill>
            </a:endParaRPr>
          </a:p>
          <a:p>
            <a:pPr algn="ctr">
              <a:spcAft>
                <a:spcPts val="0"/>
              </a:spcAft>
            </a:pPr>
            <a:r>
              <a:rPr lang="nl-NL" b="1">
                <a:solidFill>
                  <a:schemeClr val="bg1"/>
                </a:solidFill>
              </a:rPr>
              <a:t>International Conference on </a:t>
            </a:r>
            <a:r>
              <a:rPr lang="nl-NL" b="1" err="1">
                <a:solidFill>
                  <a:schemeClr val="bg1"/>
                </a:solidFill>
              </a:rPr>
              <a:t>Probabilistic</a:t>
            </a:r>
            <a:r>
              <a:rPr lang="nl-NL" b="1">
                <a:solidFill>
                  <a:schemeClr val="bg1"/>
                </a:solidFill>
              </a:rPr>
              <a:t> </a:t>
            </a:r>
            <a:r>
              <a:rPr lang="nl-NL" b="1" err="1">
                <a:solidFill>
                  <a:schemeClr val="bg1"/>
                </a:solidFill>
              </a:rPr>
              <a:t>Numerics</a:t>
            </a:r>
            <a:r>
              <a:rPr lang="nl-NL" b="1">
                <a:solidFill>
                  <a:schemeClr val="bg1"/>
                </a:solidFill>
              </a:rPr>
              <a:t> 2026</a:t>
            </a:r>
          </a:p>
        </p:txBody>
      </p:sp>
      <p:pic>
        <p:nvPicPr>
          <p:cNvPr id="15" name="HeaderLogoTUe">
            <a:extLst>
              <a:ext uri="{FF2B5EF4-FFF2-40B4-BE49-F238E27FC236}">
                <a16:creationId xmlns:a16="http://schemas.microsoft.com/office/drawing/2014/main" id="{6C46D732-091E-B162-A65F-A6F00E6E07A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12879" y="4306978"/>
            <a:ext cx="2118242" cy="576351"/>
          </a:xfrm>
          <a:prstGeom prst="rect">
            <a:avLst/>
          </a:prstGeom>
        </p:spPr>
      </p:pic>
    </p:spTree>
    <p:extLst>
      <p:ext uri="{BB962C8B-B14F-4D97-AF65-F5344CB8AC3E}">
        <p14:creationId xmlns:p14="http://schemas.microsoft.com/office/powerpoint/2010/main" val="7489301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0C8E1C-2868-5258-D268-25696E87703B}"/>
              </a:ext>
            </a:extLst>
          </p:cNvPr>
          <p:cNvSpPr>
            <a:spLocks noGrp="1"/>
          </p:cNvSpPr>
          <p:nvPr>
            <p:ph type="title"/>
          </p:nvPr>
        </p:nvSpPr>
        <p:spPr/>
        <p:txBody>
          <a:bodyPr/>
          <a:lstStyle/>
          <a:p>
            <a:pPr algn="ctr"/>
            <a:r>
              <a:rPr lang="en-US" dirty="0">
                <a:ea typeface="Calibri"/>
                <a:cs typeface="Calibri"/>
              </a:rPr>
              <a:t>https://github.com/biaslab/ProbNum2026-Tutorial</a:t>
            </a:r>
          </a:p>
        </p:txBody>
      </p:sp>
      <p:pic>
        <p:nvPicPr>
          <p:cNvPr id="4" name="Content Placeholder 3">
            <a:extLst>
              <a:ext uri="{FF2B5EF4-FFF2-40B4-BE49-F238E27FC236}">
                <a16:creationId xmlns:a16="http://schemas.microsoft.com/office/drawing/2014/main" id="{F804C2BD-2B4B-73B1-1E04-88CF2D0DB856}"/>
              </a:ext>
            </a:extLst>
          </p:cNvPr>
          <p:cNvPicPr>
            <a:picLocks noGrp="1" noChangeAspect="1"/>
          </p:cNvPicPr>
          <p:nvPr>
            <p:ph idx="1"/>
          </p:nvPr>
        </p:nvPicPr>
        <p:blipFill>
          <a:blip r:embed="rId2"/>
          <a:stretch>
            <a:fillRect/>
          </a:stretch>
        </p:blipFill>
        <p:spPr>
          <a:xfrm>
            <a:off x="394026" y="1202352"/>
            <a:ext cx="3086100" cy="3086100"/>
          </a:xfrm>
          <a:prstGeom prst="rect">
            <a:avLst/>
          </a:prstGeom>
        </p:spPr>
      </p:pic>
      <p:sp>
        <p:nvSpPr>
          <p:cNvPr id="5" name="TextBox 4">
            <a:extLst>
              <a:ext uri="{FF2B5EF4-FFF2-40B4-BE49-F238E27FC236}">
                <a16:creationId xmlns:a16="http://schemas.microsoft.com/office/drawing/2014/main" id="{B627867A-D0A4-FF47-DD6F-F95570B7FFC9}"/>
              </a:ext>
            </a:extLst>
          </p:cNvPr>
          <p:cNvSpPr txBox="1"/>
          <p:nvPr/>
        </p:nvSpPr>
        <p:spPr>
          <a:xfrm>
            <a:off x="398664" y="4292308"/>
            <a:ext cx="308258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ea typeface="Calibri"/>
                <a:cs typeface="Calibri"/>
              </a:rPr>
              <a:t>installation instructions</a:t>
            </a:r>
          </a:p>
        </p:txBody>
      </p:sp>
      <p:pic>
        <p:nvPicPr>
          <p:cNvPr id="3" name="Picture 2">
            <a:extLst>
              <a:ext uri="{FF2B5EF4-FFF2-40B4-BE49-F238E27FC236}">
                <a16:creationId xmlns:a16="http://schemas.microsoft.com/office/drawing/2014/main" id="{2A4D1F1C-85D5-2D15-3D9F-93BDBA5AFAAC}"/>
              </a:ext>
            </a:extLst>
          </p:cNvPr>
          <p:cNvPicPr>
            <a:picLocks noChangeAspect="1"/>
          </p:cNvPicPr>
          <p:nvPr/>
        </p:nvPicPr>
        <p:blipFill>
          <a:blip r:embed="rId3"/>
          <a:stretch>
            <a:fillRect/>
          </a:stretch>
        </p:blipFill>
        <p:spPr>
          <a:xfrm>
            <a:off x="3796952" y="1283917"/>
            <a:ext cx="2356459" cy="2332973"/>
          </a:xfrm>
          <a:prstGeom prst="rect">
            <a:avLst/>
          </a:prstGeom>
        </p:spPr>
      </p:pic>
      <p:pic>
        <p:nvPicPr>
          <p:cNvPr id="6" name="Picture 5">
            <a:extLst>
              <a:ext uri="{FF2B5EF4-FFF2-40B4-BE49-F238E27FC236}">
                <a16:creationId xmlns:a16="http://schemas.microsoft.com/office/drawing/2014/main" id="{6617E678-4653-9C47-5D9D-B4631DAB421C}"/>
              </a:ext>
            </a:extLst>
          </p:cNvPr>
          <p:cNvPicPr>
            <a:picLocks noChangeAspect="1"/>
          </p:cNvPicPr>
          <p:nvPr/>
        </p:nvPicPr>
        <p:blipFill>
          <a:blip r:embed="rId4"/>
          <a:stretch>
            <a:fillRect/>
          </a:stretch>
        </p:blipFill>
        <p:spPr>
          <a:xfrm>
            <a:off x="6427417" y="1287832"/>
            <a:ext cx="2336888" cy="2329059"/>
          </a:xfrm>
          <a:prstGeom prst="rect">
            <a:avLst/>
          </a:prstGeom>
        </p:spPr>
      </p:pic>
      <p:sp>
        <p:nvSpPr>
          <p:cNvPr id="7" name="TextBox 6">
            <a:extLst>
              <a:ext uri="{FF2B5EF4-FFF2-40B4-BE49-F238E27FC236}">
                <a16:creationId xmlns:a16="http://schemas.microsoft.com/office/drawing/2014/main" id="{3AB7C177-1283-9485-2621-C3FF943D4016}"/>
              </a:ext>
            </a:extLst>
          </p:cNvPr>
          <p:cNvSpPr txBox="1"/>
          <p:nvPr/>
        </p:nvSpPr>
        <p:spPr>
          <a:xfrm>
            <a:off x="3902037" y="3615119"/>
            <a:ext cx="2135301" cy="66198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ea typeface="Calibri"/>
                <a:cs typeface="Calibri"/>
              </a:rPr>
              <a:t>Pluto notebook</a:t>
            </a:r>
            <a:br>
              <a:rPr lang="en-US">
                <a:ea typeface="Calibri"/>
                <a:cs typeface="Calibri"/>
              </a:rPr>
            </a:br>
            <a:r>
              <a:rPr lang="en-US">
                <a:ea typeface="Calibri"/>
                <a:cs typeface="Calibri"/>
              </a:rPr>
              <a:t>(julia)</a:t>
            </a:r>
            <a:endParaRPr lang="en-US"/>
          </a:p>
        </p:txBody>
      </p:sp>
      <p:sp>
        <p:nvSpPr>
          <p:cNvPr id="8" name="TextBox 7">
            <a:extLst>
              <a:ext uri="{FF2B5EF4-FFF2-40B4-BE49-F238E27FC236}">
                <a16:creationId xmlns:a16="http://schemas.microsoft.com/office/drawing/2014/main" id="{0AF5757D-793C-3131-6DF1-7924FDF581C7}"/>
              </a:ext>
            </a:extLst>
          </p:cNvPr>
          <p:cNvSpPr txBox="1"/>
          <p:nvPr/>
        </p:nvSpPr>
        <p:spPr>
          <a:xfrm>
            <a:off x="6426814" y="3615119"/>
            <a:ext cx="2256647"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ea typeface="Calibri"/>
                <a:cs typeface="Calibri"/>
              </a:rPr>
              <a:t>Marimo notebook</a:t>
            </a:r>
            <a:br>
              <a:rPr lang="en-US">
                <a:ea typeface="Calibri"/>
                <a:cs typeface="Calibri"/>
              </a:rPr>
            </a:br>
            <a:r>
              <a:rPr lang="en-US">
                <a:ea typeface="Calibri"/>
                <a:cs typeface="Calibri"/>
              </a:rPr>
              <a:t>(python)</a:t>
            </a:r>
            <a:endParaRPr lang="en-US"/>
          </a:p>
        </p:txBody>
      </p:sp>
    </p:spTree>
    <p:extLst>
      <p:ext uri="{BB962C8B-B14F-4D97-AF65-F5344CB8AC3E}">
        <p14:creationId xmlns:p14="http://schemas.microsoft.com/office/powerpoint/2010/main" val="23755954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2600" b="1">
                <a:latin typeface="Calibri"/>
              </a:rPr>
              <a:t>Outline</a:t>
            </a:r>
            <a:endParaRPr lang="en-US" sz="2600" b="1">
              <a:latin typeface="Calibri"/>
              <a:ea typeface="Calibri"/>
              <a:cs typeface="Calibri"/>
            </a:endParaRPr>
          </a:p>
        </p:txBody>
      </p:sp>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3</a:t>
            </a:fld>
            <a:endParaRPr lang="en-US"/>
          </a:p>
        </p:txBody>
      </p:sp>
      <p:sp>
        <p:nvSpPr>
          <p:cNvPr id="8" name="Oval 7"/>
          <p:cNvSpPr/>
          <p:nvPr/>
        </p:nvSpPr>
        <p:spPr>
          <a:xfrm>
            <a:off x="612000" y="1261678"/>
            <a:ext cx="384048" cy="384048"/>
          </a:xfrm>
          <a:prstGeom prst="ellipse">
            <a:avLst/>
          </a:prstGeom>
          <a:solidFill>
            <a:srgbClr val="C8191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Calibri"/>
              </a:rPr>
              <a:t>1</a:t>
            </a:r>
          </a:p>
        </p:txBody>
      </p:sp>
      <p:sp>
        <p:nvSpPr>
          <p:cNvPr id="9" name="TextBox 8"/>
          <p:cNvSpPr txBox="1"/>
          <p:nvPr/>
        </p:nvSpPr>
        <p:spPr>
          <a:xfrm>
            <a:off x="1188072" y="1326352"/>
            <a:ext cx="6858000" cy="246221"/>
          </a:xfrm>
          <a:prstGeom prst="rect">
            <a:avLst/>
          </a:prstGeom>
          <a:noFill/>
        </p:spPr>
        <p:txBody>
          <a:bodyPr wrap="square" lIns="0" tIns="0" rIns="0" bIns="0" anchor="ctr">
            <a:spAutoFit/>
          </a:bodyPr>
          <a:lstStyle/>
          <a:p>
            <a:pPr algn="l">
              <a:spcBef>
                <a:spcPts val="0"/>
              </a:spcBef>
              <a:spcAft>
                <a:spcPts val="600"/>
              </a:spcAft>
            </a:pPr>
            <a:r>
              <a:rPr sz="1600" b="1" i="0">
                <a:latin typeface="Calibri"/>
              </a:rPr>
              <a:t>Problem </a:t>
            </a:r>
            <a:r>
              <a:rPr lang="en-US" sz="1600" b="1">
                <a:latin typeface="Calibri"/>
              </a:rPr>
              <a:t>statement</a:t>
            </a:r>
            <a:endParaRPr lang="en-US" sz="1300" b="0" i="0">
              <a:latin typeface="Calibri"/>
              <a:ea typeface="Calibri"/>
              <a:cs typeface="Calibri"/>
            </a:endParaRPr>
          </a:p>
        </p:txBody>
      </p:sp>
      <p:sp>
        <p:nvSpPr>
          <p:cNvPr id="11" name="Oval 10"/>
          <p:cNvSpPr/>
          <p:nvPr/>
        </p:nvSpPr>
        <p:spPr>
          <a:xfrm>
            <a:off x="612000" y="1930559"/>
            <a:ext cx="384048" cy="384048"/>
          </a:xfrm>
          <a:prstGeom prst="ellipse">
            <a:avLst/>
          </a:prstGeom>
          <a:solidFill>
            <a:srgbClr val="C8191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Calibri"/>
              </a:rPr>
              <a:t>2</a:t>
            </a:r>
          </a:p>
        </p:txBody>
      </p:sp>
      <p:sp>
        <p:nvSpPr>
          <p:cNvPr id="12" name="TextBox 11"/>
          <p:cNvSpPr txBox="1"/>
          <p:nvPr/>
        </p:nvSpPr>
        <p:spPr>
          <a:xfrm>
            <a:off x="1188072" y="2004948"/>
            <a:ext cx="6858000" cy="246221"/>
          </a:xfrm>
          <a:prstGeom prst="rect">
            <a:avLst/>
          </a:prstGeom>
          <a:noFill/>
        </p:spPr>
        <p:txBody>
          <a:bodyPr wrap="square" lIns="0" tIns="0" rIns="0" bIns="0" anchor="ctr">
            <a:spAutoFit/>
          </a:bodyPr>
          <a:lstStyle/>
          <a:p>
            <a:pPr algn="l">
              <a:spcBef>
                <a:spcPts val="0"/>
              </a:spcBef>
              <a:spcAft>
                <a:spcPts val="600"/>
              </a:spcAft>
            </a:pPr>
            <a:r>
              <a:rPr sz="1600" b="1" i="0">
                <a:latin typeface="Calibri"/>
              </a:rPr>
              <a:t>Classical numerical approach</a:t>
            </a:r>
            <a:endParaRPr lang="en-US" sz="1300" b="0" i="0">
              <a:latin typeface="Calibri"/>
              <a:ea typeface="Calibri"/>
              <a:cs typeface="Calibri"/>
            </a:endParaRPr>
          </a:p>
        </p:txBody>
      </p:sp>
      <p:sp>
        <p:nvSpPr>
          <p:cNvPr id="13" name="Oval 12"/>
          <p:cNvSpPr/>
          <p:nvPr/>
        </p:nvSpPr>
        <p:spPr>
          <a:xfrm>
            <a:off x="612000" y="2599440"/>
            <a:ext cx="384048" cy="384048"/>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Calibri"/>
              </a:rPr>
              <a:t>3</a:t>
            </a:r>
          </a:p>
        </p:txBody>
      </p:sp>
      <p:sp>
        <p:nvSpPr>
          <p:cNvPr id="14" name="TextBox 13"/>
          <p:cNvSpPr txBox="1"/>
          <p:nvPr/>
        </p:nvSpPr>
        <p:spPr>
          <a:xfrm>
            <a:off x="1188072" y="2669319"/>
            <a:ext cx="6858000" cy="246221"/>
          </a:xfrm>
          <a:prstGeom prst="rect">
            <a:avLst/>
          </a:prstGeom>
          <a:noFill/>
        </p:spPr>
        <p:txBody>
          <a:bodyPr wrap="square" lIns="0" tIns="0" rIns="0" bIns="0" anchor="ctr">
            <a:spAutoFit/>
          </a:bodyPr>
          <a:lstStyle/>
          <a:p>
            <a:pPr algn="l">
              <a:spcBef>
                <a:spcPts val="0"/>
              </a:spcBef>
              <a:spcAft>
                <a:spcPts val="600"/>
              </a:spcAft>
            </a:pPr>
            <a:r>
              <a:rPr sz="1600" b="1" i="0">
                <a:latin typeface="Calibri"/>
              </a:rPr>
              <a:t>Probabilistic numerical approach</a:t>
            </a:r>
            <a:endParaRPr lang="en-US" sz="1300" b="0" i="0">
              <a:latin typeface="Calibri"/>
              <a:ea typeface="Calibri"/>
              <a:cs typeface="Calibri"/>
            </a:endParaRPr>
          </a:p>
        </p:txBody>
      </p:sp>
      <p:sp>
        <p:nvSpPr>
          <p:cNvPr id="15" name="Oval 14"/>
          <p:cNvSpPr/>
          <p:nvPr/>
        </p:nvSpPr>
        <p:spPr>
          <a:xfrm>
            <a:off x="612000" y="3268321"/>
            <a:ext cx="384048" cy="384048"/>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Calibri"/>
              </a:rPr>
              <a:t>4</a:t>
            </a:r>
          </a:p>
        </p:txBody>
      </p:sp>
      <p:sp>
        <p:nvSpPr>
          <p:cNvPr id="16" name="TextBox 15"/>
          <p:cNvSpPr txBox="1"/>
          <p:nvPr/>
        </p:nvSpPr>
        <p:spPr>
          <a:xfrm>
            <a:off x="1188072" y="3340161"/>
            <a:ext cx="6858000" cy="246221"/>
          </a:xfrm>
          <a:prstGeom prst="rect">
            <a:avLst/>
          </a:prstGeom>
          <a:noFill/>
        </p:spPr>
        <p:txBody>
          <a:bodyPr wrap="square" lIns="0" tIns="0" rIns="0" bIns="0" anchor="ctr">
            <a:spAutoFit/>
          </a:bodyPr>
          <a:lstStyle/>
          <a:p>
            <a:pPr algn="l">
              <a:spcBef>
                <a:spcPts val="0"/>
              </a:spcBef>
              <a:spcAft>
                <a:spcPts val="600"/>
              </a:spcAft>
            </a:pPr>
            <a:r>
              <a:rPr lang="en-GB" sz="1600" b="1" i="0">
                <a:latin typeface="Calibri"/>
              </a:rPr>
              <a:t>Message passing approach</a:t>
            </a:r>
            <a:endParaRPr lang="en-US" sz="1300" b="0" i="0">
              <a:latin typeface="Calibri"/>
              <a:ea typeface="Calibri"/>
              <a:cs typeface="Calibri"/>
            </a:endParaRPr>
          </a:p>
        </p:txBody>
      </p:sp>
      <p:sp>
        <p:nvSpPr>
          <p:cNvPr id="5" name="Oval 14">
            <a:extLst>
              <a:ext uri="{FF2B5EF4-FFF2-40B4-BE49-F238E27FC236}">
                <a16:creationId xmlns:a16="http://schemas.microsoft.com/office/drawing/2014/main" id="{64FF2ADB-CC9E-D60C-8E6E-FAA1EB690071}"/>
              </a:ext>
            </a:extLst>
          </p:cNvPr>
          <p:cNvSpPr/>
          <p:nvPr/>
        </p:nvSpPr>
        <p:spPr>
          <a:xfrm>
            <a:off x="612000" y="3937202"/>
            <a:ext cx="384048" cy="384048"/>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FFFFFF"/>
                </a:solidFill>
                <a:latin typeface="Calibri"/>
              </a:rPr>
              <a:t>5</a:t>
            </a:r>
            <a:endParaRPr sz="1400" b="1">
              <a:solidFill>
                <a:srgbClr val="FFFFFF"/>
              </a:solidFill>
              <a:latin typeface="Calibri"/>
            </a:endParaRPr>
          </a:p>
        </p:txBody>
      </p:sp>
      <p:sp>
        <p:nvSpPr>
          <p:cNvPr id="10" name="TextBox 15">
            <a:extLst>
              <a:ext uri="{FF2B5EF4-FFF2-40B4-BE49-F238E27FC236}">
                <a16:creationId xmlns:a16="http://schemas.microsoft.com/office/drawing/2014/main" id="{CD32DF81-4BE5-626C-E2DF-E3F40E117CC9}"/>
              </a:ext>
            </a:extLst>
          </p:cNvPr>
          <p:cNvSpPr txBox="1"/>
          <p:nvPr/>
        </p:nvSpPr>
        <p:spPr>
          <a:xfrm>
            <a:off x="1188072" y="4006115"/>
            <a:ext cx="6858000" cy="246221"/>
          </a:xfrm>
          <a:prstGeom prst="rect">
            <a:avLst/>
          </a:prstGeom>
          <a:noFill/>
        </p:spPr>
        <p:txBody>
          <a:bodyPr wrap="square" lIns="0" tIns="0" rIns="0" bIns="0" anchor="ctr">
            <a:spAutoFit/>
          </a:bodyPr>
          <a:lstStyle/>
          <a:p>
            <a:pPr algn="l">
              <a:spcBef>
                <a:spcPts val="0"/>
              </a:spcBef>
              <a:spcAft>
                <a:spcPts val="600"/>
              </a:spcAft>
            </a:pPr>
            <a:r>
              <a:rPr lang="en-GB" sz="1600" b="1" i="0">
                <a:latin typeface="Calibri"/>
              </a:rPr>
              <a:t>Stacking modular components</a:t>
            </a:r>
            <a:endParaRPr lang="en-US" sz="1300" b="0" i="0">
              <a:latin typeface="Calibri"/>
              <a:ea typeface="Calibri"/>
              <a:cs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2E3BD-09E3-6291-2A8B-8053D81152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003C85-2ED4-5032-922C-A109A2C9763A}"/>
              </a:ext>
            </a:extLst>
          </p:cNvPr>
          <p:cNvSpPr>
            <a:spLocks noGrp="1"/>
          </p:cNvSpPr>
          <p:nvPr>
            <p:ph type="title"/>
          </p:nvPr>
        </p:nvSpPr>
        <p:spPr>
          <a:xfrm>
            <a:off x="612648" y="475488"/>
            <a:ext cx="7918704" cy="548640"/>
          </a:xfrm>
        </p:spPr>
        <p:txBody>
          <a:bodyPr/>
          <a:lstStyle/>
          <a:p>
            <a:r>
              <a:rPr lang="en-GB" sz="2600">
                <a:solidFill>
                  <a:srgbClr val="FFFFFF"/>
                </a:solidFill>
                <a:latin typeface="Calibri"/>
              </a:rPr>
              <a:t>1.</a:t>
            </a:r>
            <a:r>
              <a:rPr sz="2600" b="1">
                <a:solidFill>
                  <a:srgbClr val="FFFFFF"/>
                </a:solidFill>
                <a:latin typeface="Calibri"/>
              </a:rPr>
              <a:t> </a:t>
            </a:r>
            <a:r>
              <a:rPr lang="en-GB" sz="2600" b="1">
                <a:solidFill>
                  <a:srgbClr val="FFFFFF"/>
                </a:solidFill>
                <a:latin typeface="Calibri"/>
              </a:rPr>
              <a:t>Problem </a:t>
            </a:r>
            <a:r>
              <a:rPr lang="en-GB" sz="2600">
                <a:solidFill>
                  <a:srgbClr val="FFFFFF"/>
                </a:solidFill>
                <a:latin typeface="Calibri"/>
              </a:rPr>
              <a:t>specification</a:t>
            </a:r>
            <a:endParaRPr sz="2600" b="1">
              <a:solidFill>
                <a:srgbClr val="FFFFFF"/>
              </a:solidFill>
              <a:latin typeface="Calibri"/>
            </a:endParaRPr>
          </a:p>
        </p:txBody>
      </p:sp>
      <p:sp>
        <p:nvSpPr>
          <p:cNvPr id="4" name="Tijdelijke aanduiding voor dianummer 3">
            <a:extLst>
              <a:ext uri="{FF2B5EF4-FFF2-40B4-BE49-F238E27FC236}">
                <a16:creationId xmlns:a16="http://schemas.microsoft.com/office/drawing/2014/main" id="{999DD6D5-6D77-6316-D5CF-5844FC7CCFAB}"/>
              </a:ext>
            </a:extLst>
          </p:cNvPr>
          <p:cNvSpPr>
            <a:spLocks noGrp="1"/>
          </p:cNvSpPr>
          <p:nvPr>
            <p:ph type="sldNum" sz="quarter" idx="11"/>
          </p:nvPr>
        </p:nvSpPr>
        <p:spPr/>
        <p:txBody>
          <a:bodyPr/>
          <a:lstStyle/>
          <a:p>
            <a:fld id="{B7CEC10D-CD46-426F-915E-6C78530279CB}" type="slidenum">
              <a:rPr lang="en-US" smtClean="0"/>
              <a:pPr/>
              <a:t>4</a:t>
            </a:fld>
            <a:endParaRPr lang="en-US"/>
          </a:p>
        </p:txBody>
      </p:sp>
      <p:sp>
        <p:nvSpPr>
          <p:cNvPr id="6" name="Oval 5">
            <a:extLst>
              <a:ext uri="{FF2B5EF4-FFF2-40B4-BE49-F238E27FC236}">
                <a16:creationId xmlns:a16="http://schemas.microsoft.com/office/drawing/2014/main" id="{2C3CB70F-5633-3EBD-1B1B-8F54D3C970B8}"/>
              </a:ext>
            </a:extLst>
          </p:cNvPr>
          <p:cNvSpPr/>
          <p:nvPr/>
        </p:nvSpPr>
        <p:spPr>
          <a:xfrm>
            <a:off x="612000" y="1663013"/>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A</a:t>
            </a:r>
            <a:endParaRPr sz="1400" b="1">
              <a:solidFill>
                <a:srgbClr val="101073"/>
              </a:solidFill>
              <a:latin typeface="Calibri"/>
            </a:endParaRPr>
          </a:p>
        </p:txBody>
      </p:sp>
      <p:sp>
        <p:nvSpPr>
          <p:cNvPr id="7" name="TextBox 6">
            <a:extLst>
              <a:ext uri="{FF2B5EF4-FFF2-40B4-BE49-F238E27FC236}">
                <a16:creationId xmlns:a16="http://schemas.microsoft.com/office/drawing/2014/main" id="{8C3CA46A-4744-776F-20BF-542C3F8E0960}"/>
              </a:ext>
            </a:extLst>
          </p:cNvPr>
          <p:cNvSpPr txBox="1"/>
          <p:nvPr/>
        </p:nvSpPr>
        <p:spPr>
          <a:xfrm>
            <a:off x="1252080" y="1730268"/>
            <a:ext cx="6949440" cy="246221"/>
          </a:xfrm>
          <a:prstGeom prst="rect">
            <a:avLst/>
          </a:prstGeom>
          <a:noFill/>
        </p:spPr>
        <p:txBody>
          <a:bodyPr wrap="square" lIns="0" tIns="0" rIns="0" bIns="0" anchor="ctr">
            <a:spAutoFit/>
          </a:bodyPr>
          <a:lstStyle/>
          <a:p>
            <a:pPr>
              <a:spcAft>
                <a:spcPts val="600"/>
              </a:spcAft>
            </a:pPr>
            <a:r>
              <a:rPr lang="en-GB" sz="1600" b="1">
                <a:solidFill>
                  <a:srgbClr val="FFFFFF"/>
                </a:solidFill>
                <a:latin typeface="Calibri"/>
              </a:rPr>
              <a:t>Problem statement</a:t>
            </a:r>
            <a:endParaRPr lang="en-US"/>
          </a:p>
        </p:txBody>
      </p:sp>
      <p:sp>
        <p:nvSpPr>
          <p:cNvPr id="8" name="Oval 7">
            <a:extLst>
              <a:ext uri="{FF2B5EF4-FFF2-40B4-BE49-F238E27FC236}">
                <a16:creationId xmlns:a16="http://schemas.microsoft.com/office/drawing/2014/main" id="{A7A1525D-D331-84BD-BE6D-649651932D44}"/>
              </a:ext>
            </a:extLst>
          </p:cNvPr>
          <p:cNvSpPr/>
          <p:nvPr/>
        </p:nvSpPr>
        <p:spPr>
          <a:xfrm>
            <a:off x="612000" y="2376245"/>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B</a:t>
            </a:r>
            <a:endParaRPr sz="1400" b="1">
              <a:solidFill>
                <a:srgbClr val="101073"/>
              </a:solidFill>
              <a:latin typeface="Calibri"/>
            </a:endParaRPr>
          </a:p>
        </p:txBody>
      </p:sp>
      <p:sp>
        <p:nvSpPr>
          <p:cNvPr id="9" name="TextBox 8">
            <a:extLst>
              <a:ext uri="{FF2B5EF4-FFF2-40B4-BE49-F238E27FC236}">
                <a16:creationId xmlns:a16="http://schemas.microsoft.com/office/drawing/2014/main" id="{573344DC-942E-59AD-ABD6-CC2BB89AD623}"/>
              </a:ext>
            </a:extLst>
          </p:cNvPr>
          <p:cNvSpPr txBox="1"/>
          <p:nvPr/>
        </p:nvSpPr>
        <p:spPr>
          <a:xfrm>
            <a:off x="1252080" y="2445158"/>
            <a:ext cx="6949440" cy="246221"/>
          </a:xfrm>
          <a:prstGeom prst="rect">
            <a:avLst/>
          </a:prstGeom>
          <a:noFill/>
        </p:spPr>
        <p:txBody>
          <a:bodyPr wrap="square" lIns="0" tIns="0" rIns="0" bIns="0" anchor="ctr">
            <a:spAutoFit/>
          </a:bodyPr>
          <a:lstStyle/>
          <a:p>
            <a:r>
              <a:rPr lang="en-GB" sz="1600" b="1">
                <a:solidFill>
                  <a:srgbClr val="FFFFFF"/>
                </a:solidFill>
                <a:latin typeface="Calibri"/>
              </a:rPr>
              <a:t>Heat transfer on </a:t>
            </a:r>
            <a:r>
              <a:rPr lang="en-GB" sz="1600" b="1" i="0">
                <a:solidFill>
                  <a:srgbClr val="FFFFFF"/>
                </a:solidFill>
                <a:latin typeface="Calibri"/>
              </a:rPr>
              <a:t>a </a:t>
            </a:r>
            <a:r>
              <a:rPr lang="en-GB" sz="1600" b="1">
                <a:solidFill>
                  <a:srgbClr val="FFFFFF"/>
                </a:solidFill>
                <a:latin typeface="Calibri"/>
              </a:rPr>
              <a:t>silicon die</a:t>
            </a:r>
            <a:endParaRPr lang="en-GB" sz="1600">
              <a:solidFill>
                <a:srgbClr val="000000"/>
              </a:solidFill>
              <a:latin typeface="Calibri"/>
            </a:endParaRPr>
          </a:p>
        </p:txBody>
      </p:sp>
      <p:sp>
        <p:nvSpPr>
          <p:cNvPr id="10" name="Oval 9">
            <a:extLst>
              <a:ext uri="{FF2B5EF4-FFF2-40B4-BE49-F238E27FC236}">
                <a16:creationId xmlns:a16="http://schemas.microsoft.com/office/drawing/2014/main" id="{89804900-B886-0BD9-06F0-5E484D0AB683}"/>
              </a:ext>
            </a:extLst>
          </p:cNvPr>
          <p:cNvSpPr/>
          <p:nvPr/>
        </p:nvSpPr>
        <p:spPr>
          <a:xfrm>
            <a:off x="612000" y="3089477"/>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C</a:t>
            </a:r>
            <a:endParaRPr sz="1400" b="1">
              <a:solidFill>
                <a:srgbClr val="101073"/>
              </a:solidFill>
              <a:latin typeface="Calibri"/>
            </a:endParaRPr>
          </a:p>
        </p:txBody>
      </p:sp>
      <p:sp>
        <p:nvSpPr>
          <p:cNvPr id="11" name="TextBox 10">
            <a:extLst>
              <a:ext uri="{FF2B5EF4-FFF2-40B4-BE49-F238E27FC236}">
                <a16:creationId xmlns:a16="http://schemas.microsoft.com/office/drawing/2014/main" id="{F596654D-E057-13F6-34B0-A8C04EE1C531}"/>
              </a:ext>
            </a:extLst>
          </p:cNvPr>
          <p:cNvSpPr txBox="1"/>
          <p:nvPr/>
        </p:nvSpPr>
        <p:spPr>
          <a:xfrm>
            <a:off x="1252080" y="3158390"/>
            <a:ext cx="6949440" cy="246221"/>
          </a:xfrm>
          <a:prstGeom prst="rect">
            <a:avLst/>
          </a:prstGeom>
          <a:noFill/>
        </p:spPr>
        <p:txBody>
          <a:bodyPr wrap="square" lIns="0" tIns="0" rIns="0" bIns="0" anchor="ctr">
            <a:spAutoFit/>
          </a:bodyPr>
          <a:lstStyle/>
          <a:p>
            <a:r>
              <a:rPr lang="en-GB" sz="1600" b="1">
                <a:solidFill>
                  <a:srgbClr val="FFFFFF"/>
                </a:solidFill>
                <a:latin typeface="Calibri"/>
              </a:rPr>
              <a:t>A system </a:t>
            </a:r>
            <a:r>
              <a:rPr lang="en-GB" sz="1600" b="1" i="0">
                <a:solidFill>
                  <a:srgbClr val="FFFFFF"/>
                </a:solidFill>
                <a:latin typeface="Calibri"/>
              </a:rPr>
              <a:t>of </a:t>
            </a:r>
            <a:r>
              <a:rPr lang="en-GB" sz="1600" b="1">
                <a:solidFill>
                  <a:srgbClr val="FFFFFF"/>
                </a:solidFill>
                <a:latin typeface="Calibri"/>
              </a:rPr>
              <a:t>linear equations</a:t>
            </a:r>
            <a:endParaRPr lang="en-GB" sz="1600">
              <a:solidFill>
                <a:srgbClr val="000000"/>
              </a:solidFill>
              <a:latin typeface="Calibri"/>
            </a:endParaRPr>
          </a:p>
        </p:txBody>
      </p:sp>
    </p:spTree>
    <p:extLst>
      <p:ext uri="{BB962C8B-B14F-4D97-AF65-F5344CB8AC3E}">
        <p14:creationId xmlns:p14="http://schemas.microsoft.com/office/powerpoint/2010/main" val="16655930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600">
                <a:latin typeface="Calibri"/>
              </a:rPr>
              <a:t>Keeping chips cool</a:t>
            </a:r>
            <a:endParaRPr lang="en-US"/>
          </a:p>
        </p:txBody>
      </p:sp>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5</a:t>
            </a:fld>
            <a:endParaRPr lang="en-US"/>
          </a:p>
        </p:txBody>
      </p:sp>
      <p:sp>
        <p:nvSpPr>
          <p:cNvPr id="7" name="TextBox 6"/>
          <p:cNvSpPr txBox="1"/>
          <p:nvPr/>
        </p:nvSpPr>
        <p:spPr>
          <a:xfrm>
            <a:off x="612000" y="1377268"/>
            <a:ext cx="4113038" cy="2857192"/>
          </a:xfrm>
          <a:prstGeom prst="rect">
            <a:avLst/>
          </a:prstGeom>
          <a:noFill/>
        </p:spPr>
        <p:txBody>
          <a:bodyPr wrap="square" lIns="0" tIns="0" rIns="0" bIns="0" anchor="t">
            <a:spAutoFit/>
          </a:bodyPr>
          <a:lstStyle/>
          <a:p>
            <a:pPr>
              <a:spcAft>
                <a:spcPts val="1000"/>
              </a:spcAft>
            </a:pPr>
            <a:r>
              <a:rPr lang="en-US" sz="1600">
                <a:solidFill>
                  <a:srgbClr val="2B2B2B"/>
                </a:solidFill>
                <a:latin typeface="Calibri" panose="020F0502020204030204" pitchFamily="34" charset="0"/>
                <a:ea typeface="Calibri" panose="020F0502020204030204" pitchFamily="34" charset="0"/>
                <a:cs typeface="Calibri" panose="020F0502020204030204" pitchFamily="34" charset="0"/>
              </a:rPr>
              <a:t>This is a silicon die, specifically a Pentium II.</a:t>
            </a:r>
          </a:p>
          <a:p>
            <a:pPr>
              <a:spcAft>
                <a:spcPts val="1000"/>
              </a:spcAft>
            </a:pPr>
            <a:r>
              <a:rPr lang="en-US" sz="1600">
                <a:solidFill>
                  <a:srgbClr val="2B2B2B"/>
                </a:solidFill>
                <a:latin typeface="Calibri" panose="020F0502020204030204" pitchFamily="34" charset="0"/>
                <a:ea typeface="Calibri" panose="020F0502020204030204" pitchFamily="34" charset="0"/>
                <a:cs typeface="Calibri" panose="020F0502020204030204" pitchFamily="34" charset="0"/>
              </a:rPr>
              <a:t>It contains a complete electronic circuit that performs a specific function (this one computes).</a:t>
            </a:r>
          </a:p>
          <a:p>
            <a:pPr>
              <a:spcAft>
                <a:spcPts val="1000"/>
              </a:spcAft>
            </a:pPr>
            <a:r>
              <a:rPr lang="en-US" sz="1600">
                <a:solidFill>
                  <a:srgbClr val="2B2B2B"/>
                </a:solidFill>
                <a:latin typeface="Calibri" panose="020F0502020204030204" pitchFamily="34" charset="0"/>
                <a:ea typeface="Calibri" panose="020F0502020204030204" pitchFamily="34" charset="0"/>
                <a:cs typeface="Calibri" panose="020F0502020204030204" pitchFamily="34" charset="0"/>
              </a:rPr>
              <a:t>Each tile (region) draws</a:t>
            </a:r>
            <a:r>
              <a:rPr sz="1600" b="0" i="0">
                <a:solidFill>
                  <a:srgbClr val="2B2B2B"/>
                </a:solidFill>
                <a:latin typeface="Calibri" panose="020F0502020204030204" pitchFamily="34" charset="0"/>
                <a:ea typeface="Calibri" panose="020F0502020204030204" pitchFamily="34" charset="0"/>
                <a:cs typeface="Calibri" panose="020F0502020204030204" pitchFamily="34" charset="0"/>
              </a:rPr>
              <a:t> power</a:t>
            </a:r>
            <a:r>
              <a:rPr lang="en-US" sz="1600">
                <a:solidFill>
                  <a:srgbClr val="2B2B2B"/>
                </a:solidFill>
                <a:latin typeface="Calibri" panose="020F0502020204030204" pitchFamily="34" charset="0"/>
                <a:ea typeface="Calibri" panose="020F0502020204030204" pitchFamily="34" charset="0"/>
                <a:cs typeface="Calibri" panose="020F0502020204030204" pitchFamily="34" charset="0"/>
              </a:rPr>
              <a:t> and heats up.</a:t>
            </a:r>
          </a:p>
          <a:p>
            <a:pPr>
              <a:spcAft>
                <a:spcPts val="1000"/>
              </a:spcAft>
            </a:pPr>
            <a:r>
              <a:rPr lang="en-GB" sz="1600" b="0" i="0">
                <a:solidFill>
                  <a:srgbClr val="2B2B2B"/>
                </a:solidFill>
                <a:latin typeface="Calibri" panose="020F0502020204030204" pitchFamily="34" charset="0"/>
                <a:ea typeface="Calibri" panose="020F0502020204030204" pitchFamily="34" charset="0"/>
                <a:cs typeface="Calibri" panose="020F0502020204030204" pitchFamily="34" charset="0"/>
              </a:rPr>
              <a:t>H</a:t>
            </a:r>
            <a:r>
              <a:rPr sz="1600" b="0" i="0">
                <a:solidFill>
                  <a:srgbClr val="2B2B2B"/>
                </a:solidFill>
                <a:latin typeface="Calibri" panose="020F0502020204030204" pitchFamily="34" charset="0"/>
                <a:ea typeface="Calibri" panose="020F0502020204030204" pitchFamily="34" charset="0"/>
                <a:cs typeface="Calibri" panose="020F0502020204030204" pitchFamily="34" charset="0"/>
              </a:rPr>
              <a:t>eat spreads through the silicon</a:t>
            </a:r>
            <a:r>
              <a:rPr lang="en-GB" sz="1600">
                <a:solidFill>
                  <a:srgbClr val="2B2B2B"/>
                </a:solidFill>
                <a:latin typeface="Calibri" panose="020F0502020204030204" pitchFamily="34" charset="0"/>
                <a:ea typeface="Calibri" panose="020F0502020204030204" pitchFamily="34" charset="0"/>
                <a:cs typeface="Calibri" panose="020F0502020204030204" pitchFamily="34" charset="0"/>
              </a:rPr>
              <a:t> material.</a:t>
            </a:r>
          </a:p>
          <a:p>
            <a:pPr>
              <a:spcAft>
                <a:spcPts val="1000"/>
              </a:spcAft>
            </a:pPr>
            <a:r>
              <a:rPr lang="en-GB" sz="1600">
                <a:solidFill>
                  <a:srgbClr val="2B2B2B"/>
                </a:solidFill>
                <a:latin typeface="Calibri" panose="020F0502020204030204" pitchFamily="34" charset="0"/>
                <a:ea typeface="Calibri" panose="020F0502020204030204" pitchFamily="34" charset="0"/>
                <a:cs typeface="Calibri" panose="020F0502020204030204" pitchFamily="34" charset="0"/>
              </a:rPr>
              <a:t>We want to keep the die cool, which we can do by "throttling" power consumption.</a:t>
            </a:r>
          </a:p>
          <a:p>
            <a:r>
              <a:rPr sz="1600" b="0" i="0">
                <a:solidFill>
                  <a:srgbClr val="2B2B2B"/>
                </a:solidFill>
                <a:latin typeface="Calibri" panose="020F0502020204030204" pitchFamily="34" charset="0"/>
                <a:ea typeface="Calibri" panose="020F0502020204030204" pitchFamily="34" charset="0"/>
                <a:cs typeface="Calibri" panose="020F0502020204030204" pitchFamily="34" charset="0"/>
              </a:rPr>
              <a:t>To decide </a:t>
            </a:r>
            <a:r>
              <a:rPr lang="en-US" sz="1600">
                <a:solidFill>
                  <a:srgbClr val="2B2B2B"/>
                </a:solidFill>
                <a:latin typeface="Calibri" panose="020F0502020204030204" pitchFamily="34" charset="0"/>
                <a:ea typeface="Calibri" panose="020F0502020204030204" pitchFamily="34" charset="0"/>
                <a:cs typeface="Calibri" panose="020F0502020204030204" pitchFamily="34" charset="0"/>
              </a:rPr>
              <a:t>which to "throttle",</a:t>
            </a:r>
            <a:r>
              <a:rPr sz="1600" b="0" i="0">
                <a:solidFill>
                  <a:srgbClr val="2B2B2B"/>
                </a:solidFill>
                <a:latin typeface="Calibri" panose="020F0502020204030204" pitchFamily="34" charset="0"/>
                <a:ea typeface="Calibri" panose="020F0502020204030204" pitchFamily="34" charset="0"/>
                <a:cs typeface="Calibri" panose="020F0502020204030204" pitchFamily="34" charset="0"/>
              </a:rPr>
              <a:t> the control</a:t>
            </a:r>
            <a:r>
              <a:rPr lang="en-GB" sz="1600">
                <a:solidFill>
                  <a:srgbClr val="2B2B2B"/>
                </a:solidFill>
                <a:latin typeface="Calibri" panose="020F0502020204030204" pitchFamily="34" charset="0"/>
                <a:ea typeface="Calibri" panose="020F0502020204030204" pitchFamily="34" charset="0"/>
                <a:cs typeface="Calibri" panose="020F0502020204030204" pitchFamily="34" charset="0"/>
              </a:rPr>
              <a:t> system</a:t>
            </a:r>
            <a:r>
              <a:rPr sz="1600" b="0" i="0">
                <a:solidFill>
                  <a:srgbClr val="2B2B2B"/>
                </a:solidFill>
                <a:latin typeface="Calibri" panose="020F0502020204030204" pitchFamily="34" charset="0"/>
                <a:ea typeface="Calibri" panose="020F0502020204030204" pitchFamily="34" charset="0"/>
                <a:cs typeface="Calibri" panose="020F0502020204030204" pitchFamily="34" charset="0"/>
              </a:rPr>
              <a:t> needs the </a:t>
            </a:r>
            <a:r>
              <a:rPr sz="1600" b="1" i="0">
                <a:latin typeface="Calibri" panose="020F0502020204030204" pitchFamily="34" charset="0"/>
                <a:ea typeface="Calibri" panose="020F0502020204030204" pitchFamily="34" charset="0"/>
                <a:cs typeface="Calibri" panose="020F0502020204030204" pitchFamily="34" charset="0"/>
              </a:rPr>
              <a:t>steady-state temperature of every tile</a:t>
            </a:r>
            <a:r>
              <a:rPr lang="en-US" sz="1600" b="1">
                <a:latin typeface="Calibri" panose="020F0502020204030204" pitchFamily="34" charset="0"/>
                <a:ea typeface="Calibri" panose="020F0502020204030204" pitchFamily="34" charset="0"/>
                <a:cs typeface="Calibri" panose="020F0502020204030204" pitchFamily="34" charset="0"/>
              </a:rPr>
              <a:t>.</a:t>
            </a:r>
            <a:endParaRPr lang="en-US" sz="1600" b="1" i="0">
              <a:latin typeface="Calibri" panose="020F0502020204030204" pitchFamily="34" charset="0"/>
              <a:ea typeface="Calibri" panose="020F0502020204030204" pitchFamily="34" charset="0"/>
              <a:cs typeface="Calibri" panose="020F0502020204030204" pitchFamily="34" charset="0"/>
            </a:endParaRPr>
          </a:p>
        </p:txBody>
      </p:sp>
      <p:pic>
        <p:nvPicPr>
          <p:cNvPr id="3" name="heat-dissipation-die">
            <a:hlinkClick r:id="" action="ppaction://media"/>
            <a:extLst>
              <a:ext uri="{FF2B5EF4-FFF2-40B4-BE49-F238E27FC236}">
                <a16:creationId xmlns:a16="http://schemas.microsoft.com/office/drawing/2014/main" id="{88F691C1-C189-F7EA-3BDC-51F8F89B03B6}"/>
              </a:ext>
            </a:extLst>
          </p:cNvPr>
          <p:cNvPicPr>
            <a:picLocks noChangeAspect="1"/>
          </p:cNvPicPr>
          <p:nvPr>
            <a:videoFile r:link="rId2"/>
            <p:extLst>
              <p:ext uri="{DAA4B4D4-6D71-4841-9C94-3DE7FCFB9230}">
                <p14:media xmlns:p14="http://schemas.microsoft.com/office/powerpoint/2010/main" r:embed="rId1"/>
              </p:ext>
            </p:extLst>
          </p:nvPr>
        </p:nvPicPr>
        <p:blipFill>
          <a:blip r:embed="rId5"/>
          <a:srcRect l="4073"/>
          <a:stretch>
            <a:fillRect/>
          </a:stretch>
        </p:blipFill>
        <p:spPr>
          <a:xfrm>
            <a:off x="4791456" y="716669"/>
            <a:ext cx="4237066" cy="3710162"/>
          </a:xfrm>
          <a:prstGeom prst="rect">
            <a:avLst/>
          </a:prstGeom>
        </p:spPr>
      </p:pic>
      <p:pic>
        <p:nvPicPr>
          <p:cNvPr id="8" name="Afbeelding 7">
            <a:extLst>
              <a:ext uri="{FF2B5EF4-FFF2-40B4-BE49-F238E27FC236}">
                <a16:creationId xmlns:a16="http://schemas.microsoft.com/office/drawing/2014/main" id="{04359210-E26D-1D33-37AD-710E5F023C9B}"/>
              </a:ext>
            </a:extLst>
          </p:cNvPr>
          <p:cNvPicPr>
            <a:picLocks noChangeAspect="1"/>
          </p:cNvPicPr>
          <p:nvPr/>
        </p:nvPicPr>
        <p:blipFill>
          <a:blip r:embed="rId6">
            <a:extLst>
              <a:ext uri="{28A0092B-C50C-407E-A947-70E740481C1C}">
                <a14:useLocalDpi xmlns:a14="http://schemas.microsoft.com/office/drawing/2010/main" val="0"/>
              </a:ext>
            </a:extLst>
          </a:blip>
          <a:srcRect l="1613" r="35245" b="3898"/>
          <a:stretch>
            <a:fillRect/>
          </a:stretch>
        </p:blipFill>
        <p:spPr>
          <a:xfrm rot="5400000">
            <a:off x="4896628" y="1040248"/>
            <a:ext cx="3419044" cy="32159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nodeType="clickEffect">
                                  <p:stCondLst>
                                    <p:cond delay="0"/>
                                  </p:stCondLst>
                                  <p:childTnLst>
                                    <p:set>
                                      <p:cBhvr>
                                        <p:cTn id="24" dur="1" fill="hold">
                                          <p:stCondLst>
                                            <p:cond delay="0"/>
                                          </p:stCondLst>
                                        </p:cTn>
                                        <p:tgtEl>
                                          <p:spTgt spid="8"/>
                                        </p:tgtEl>
                                        <p:attrNameLst>
                                          <p:attrName>style.visibility</p:attrName>
                                        </p:attrNameLst>
                                      </p:cBhvr>
                                      <p:to>
                                        <p:strVal val="hidden"/>
                                      </p:to>
                                    </p:set>
                                  </p:childTnLst>
                                </p:cTn>
                              </p:par>
                              <p:par>
                                <p:cTn id="25" presetID="1" presetClass="entr" presetSubtype="0" fill="hold" nodeType="with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mediacall" presetSubtype="0" fill="hold" nodeType="clickEffect">
                                  <p:stCondLst>
                                    <p:cond delay="0"/>
                                  </p:stCondLst>
                                  <p:childTnLst>
                                    <p:cmd type="call" cmd="playFrom(0.0)">
                                      <p:cBhvr>
                                        <p:cTn id="30" dur="6000" fill="hold"/>
                                        <p:tgtEl>
                                          <p:spTgt spid="3"/>
                                        </p:tgtEl>
                                      </p:cBhvr>
                                    </p:cmd>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video>
              <p:cMediaNode>
                <p:cTn id="39" fill="hold" display="0">
                  <p:stCondLst>
                    <p:cond delay="indefinite"/>
                  </p:stCondLst>
                </p:cTn>
                <p:tgtEl>
                  <p:spTgt spid="3"/>
                </p:tgtEl>
              </p:cMediaNode>
            </p:video>
            <p:seq concurrent="1" nextAc="seek">
              <p:cTn id="40" restart="whenNotActive" fill="hold" evtFilter="cancelBubble" nodeType="interactiveSeq">
                <p:stCondLst>
                  <p:cond evt="onClick" delay="0">
                    <p:tgtEl>
                      <p:spTgt spid="3"/>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2600">
                <a:latin typeface="Calibri"/>
              </a:rPr>
              <a:t>Heat transfer on a silicon die</a:t>
            </a:r>
            <a:endParaRPr lang="en-US" sz="2600" b="1">
              <a:latin typeface="Calibri"/>
              <a:ea typeface="Calibri"/>
              <a:cs typeface="Calibri"/>
            </a:endParaRPr>
          </a:p>
        </p:txBody>
      </p:sp>
      <mc:AlternateContent xmlns:mc="http://schemas.openxmlformats.org/markup-compatibility/2006" xmlns:a14="http://schemas.microsoft.com/office/drawing/2010/main">
        <mc:Choice Requires="a14">
          <p:sp>
            <p:nvSpPr>
              <p:cNvPr id="3" name="Tijdelijke aanduiding voor inhoud 2">
                <a:extLst>
                  <a:ext uri="{FF2B5EF4-FFF2-40B4-BE49-F238E27FC236}">
                    <a16:creationId xmlns:a16="http://schemas.microsoft.com/office/drawing/2014/main" id="{266019CE-1B91-CBE2-4A42-5B161FA8589C}"/>
                  </a:ext>
                </a:extLst>
              </p:cNvPr>
              <p:cNvSpPr>
                <a:spLocks noGrp="1"/>
              </p:cNvSpPr>
              <p:nvPr>
                <p:ph idx="1"/>
              </p:nvPr>
            </p:nvSpPr>
            <p:spPr/>
            <p:txBody>
              <a:bodyPr/>
              <a:lstStyle/>
              <a:p>
                <a:r>
                  <a:rPr lang="en-GB"/>
                  <a:t>Let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oMath>
                </a14:m>
                <a:r>
                  <a:rPr lang="en-GB"/>
                  <a:t> be the temperature of the </a:t>
                </a:r>
                <a14:m>
                  <m:oMath xmlns:m="http://schemas.openxmlformats.org/officeDocument/2006/math">
                    <m:r>
                      <a:rPr lang="en-GB" b="0" i="1" smtClean="0">
                        <a:latin typeface="Cambria Math" panose="02040503050406030204" pitchFamily="18" charset="0"/>
                      </a:rPr>
                      <m:t>𝑖</m:t>
                    </m:r>
                  </m:oMath>
                </a14:m>
                <a:r>
                  <a:rPr lang="en-GB"/>
                  <a:t>-</a:t>
                </a:r>
                <a:r>
                  <a:rPr lang="en-GB" err="1"/>
                  <a:t>th</a:t>
                </a:r>
                <a:r>
                  <a:rPr lang="en-GB"/>
                  <a:t> tile, and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𝑖</m:t>
                        </m:r>
                      </m:sub>
                    </m:sSub>
                  </m:oMath>
                </a14:m>
                <a:r>
                  <a:rPr lang="en-US"/>
                  <a:t> its power consumption</a:t>
                </a:r>
                <a:r>
                  <a:rPr lang="en-GB"/>
                  <a:t>.</a:t>
                </a:r>
              </a:p>
              <a:p>
                <a:r>
                  <a:rPr lang="en-GB"/>
                  <a:t>The steady-state solution of the change in temperature over time is:</a:t>
                </a:r>
              </a:p>
              <a:p>
                <a:pPr/>
                <a14:m>
                  <m:oMathPara xmlns:m="http://schemas.openxmlformats.org/officeDocument/2006/math">
                    <m:oMath>
                      <m:r>
                        <a:rPr lang="en-GB" b="0" i="1" smtClean="0">
                          <a:latin typeface="Cambria Math" panose="02040503050406030204" pitchFamily="18" charset="0"/>
                        </a:rPr>
                        <m:t>𝑐</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m:t>
                      </m:r>
                      <m:nary>
                        <m:naryPr>
                          <m:chr m:val="∑"/>
                          <m:supHide m:val="on"/>
                          <m:ctrlPr>
                            <a:rPr lang="en-GB" b="0" i="1" smtClean="0">
                              <a:latin typeface="Cambria Math" panose="02040503050406030204" pitchFamily="18" charset="0"/>
                            </a:rPr>
                          </m:ctrlPr>
                        </m:naryPr>
                        <m:sub>
                          <m:r>
                            <m:rPr>
                              <m:brk m:alnAt="7"/>
                            </m:rPr>
                            <a:rPr lang="en-GB" b="0" i="1" smtClean="0">
                              <a:latin typeface="Cambria Math" panose="02040503050406030204" pitchFamily="18" charset="0"/>
                            </a:rPr>
                            <m:t>𝑗</m:t>
                          </m:r>
                          <m:r>
                            <a:rPr lang="en-GB" b="0" i="1" smtClean="0">
                              <a:latin typeface="Cambria Math" panose="02040503050406030204" pitchFamily="18" charset="0"/>
                            </a:rPr>
                            <m:t>∈</m:t>
                          </m:r>
                          <m:r>
                            <a:rPr lang="en-GB" b="0" i="1" smtClean="0">
                              <a:latin typeface="Cambria Math" panose="02040503050406030204" pitchFamily="18" charset="0"/>
                            </a:rPr>
                            <m:t>𝛿</m:t>
                          </m:r>
                          <m:r>
                            <a:rPr lang="en-GB" b="0" i="1" smtClean="0">
                              <a:latin typeface="Cambria Math" panose="02040503050406030204" pitchFamily="18" charset="0"/>
                            </a:rPr>
                            <m:t>(</m:t>
                          </m:r>
                          <m:r>
                            <a:rPr lang="en-GB" b="0" i="1" smtClean="0">
                              <a:latin typeface="Cambria Math" panose="02040503050406030204" pitchFamily="18" charset="0"/>
                            </a:rPr>
                            <m:t>𝑖</m:t>
                          </m:r>
                          <m:r>
                            <a:rPr lang="en-GB" b="0" i="1" smtClean="0">
                              <a:latin typeface="Cambria Math" panose="02040503050406030204" pitchFamily="18" charset="0"/>
                            </a:rPr>
                            <m:t>)</m:t>
                          </m:r>
                        </m:sub>
                        <m:sup/>
                        <m:e>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𝑗</m:t>
                                  </m:r>
                                </m:sub>
                              </m:sSub>
                            </m:e>
                          </m:d>
                        </m:e>
                      </m:nary>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𝑖</m:t>
                          </m:r>
                        </m:sub>
                      </m:sSub>
                    </m:oMath>
                  </m:oMathPara>
                </a14:m>
                <a:endParaRPr lang="en-GB" b="0"/>
              </a:p>
              <a:p>
                <a:r>
                  <a:rPr lang="en-US"/>
                  <a:t>where </a:t>
                </a:r>
                <a14:m>
                  <m:oMath xmlns:m="http://schemas.openxmlformats.org/officeDocument/2006/math">
                    <m:r>
                      <a:rPr lang="en-GB" b="0" i="1" smtClean="0">
                        <a:latin typeface="Cambria Math" panose="02040503050406030204" pitchFamily="18" charset="0"/>
                      </a:rPr>
                      <m:t>𝛿</m:t>
                    </m:r>
                    <m:r>
                      <a:rPr lang="en-GB" b="0" i="1" smtClean="0">
                        <a:latin typeface="Cambria Math" panose="02040503050406030204" pitchFamily="18" charset="0"/>
                      </a:rPr>
                      <m:t>(</m:t>
                    </m:r>
                    <m:r>
                      <a:rPr lang="en-GB" b="0" i="1" smtClean="0">
                        <a:latin typeface="Cambria Math" panose="02040503050406030204" pitchFamily="18" charset="0"/>
                      </a:rPr>
                      <m:t>𝑖</m:t>
                    </m:r>
                    <m:r>
                      <a:rPr lang="en-GB" b="0" i="1" smtClean="0">
                        <a:latin typeface="Cambria Math" panose="02040503050406030204" pitchFamily="18" charset="0"/>
                      </a:rPr>
                      <m:t>)</m:t>
                    </m:r>
                  </m:oMath>
                </a14:m>
                <a:r>
                  <a:rPr lang="en-US"/>
                  <a:t> is the set of neighbors and </a:t>
                </a:r>
                <a14:m>
                  <m:oMath xmlns:m="http://schemas.openxmlformats.org/officeDocument/2006/math">
                    <m:r>
                      <a:rPr lang="en-GB" b="0" i="1" smtClean="0">
                        <a:latin typeface="Cambria Math" panose="02040503050406030204" pitchFamily="18" charset="0"/>
                      </a:rPr>
                      <m:t>𝑐</m:t>
                    </m:r>
                  </m:oMath>
                </a14:m>
                <a:r>
                  <a:rPr lang="en-US"/>
                  <a:t> is a parameter.</a:t>
                </a:r>
              </a:p>
              <a:p>
                <a:r>
                  <a:rPr lang="en-US"/>
                  <a:t>The neighbor contributions can be approximated with the Laplacian </a:t>
                </a:r>
                <a14:m>
                  <m:oMath xmlns:m="http://schemas.openxmlformats.org/officeDocument/2006/math">
                    <m:r>
                      <m:rPr>
                        <m:sty m:val="p"/>
                      </m:rPr>
                      <a:rPr lang="en-GB" b="0" i="0" smtClean="0">
                        <a:latin typeface="Cambria Math" panose="02040503050406030204" pitchFamily="18" charset="0"/>
                      </a:rPr>
                      <m:t>Δ</m:t>
                    </m:r>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m:rPr>
                            <m:sty m:val="p"/>
                          </m:rPr>
                          <a:rPr lang="en-GB" b="0" i="0" smtClean="0">
                            <a:latin typeface="Cambria Math" panose="02040503050406030204" pitchFamily="18" charset="0"/>
                          </a:rPr>
                          <m:t>i</m:t>
                        </m:r>
                      </m:sub>
                    </m:sSub>
                  </m:oMath>
                </a14:m>
                <a:r>
                  <a:rPr lang="en-US"/>
                  <a:t>. </a:t>
                </a:r>
              </a:p>
              <a:p>
                <a:r>
                  <a:rPr lang="en-US"/>
                  <a:t>Then</a:t>
                </a:r>
              </a:p>
              <a:p>
                <a:pPr/>
                <a14:m>
                  <m:oMathPara xmlns:m="http://schemas.openxmlformats.org/officeDocument/2006/math">
                    <m:oMath>
                      <m:d>
                        <m:dPr>
                          <m:ctrlPr>
                            <a:rPr lang="en-GB" b="0" i="1" smtClean="0">
                              <a:latin typeface="Cambria Math" panose="02040503050406030204" pitchFamily="18" charset="0"/>
                            </a:rPr>
                          </m:ctrlPr>
                        </m:dPr>
                        <m:e>
                          <m:r>
                            <a:rPr lang="en-GB" b="0" i="1" smtClean="0">
                              <a:latin typeface="Cambria Math" panose="02040503050406030204" pitchFamily="18" charset="0"/>
                            </a:rPr>
                            <m:t>𝑐</m:t>
                          </m:r>
                          <m:r>
                            <a:rPr lang="en-GB" b="0" i="1" smtClean="0">
                              <a:latin typeface="Cambria Math" panose="02040503050406030204" pitchFamily="18" charset="0"/>
                            </a:rPr>
                            <m:t>−</m:t>
                          </m:r>
                          <m:r>
                            <m:rPr>
                              <m:sty m:val="p"/>
                            </m:rPr>
                            <a:rPr lang="en-GB" b="0" i="0" smtClean="0">
                              <a:latin typeface="Cambria Math" panose="02040503050406030204" pitchFamily="18" charset="0"/>
                            </a:rPr>
                            <m:t>Δ</m:t>
                          </m:r>
                        </m:e>
                      </m:d>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𝑖</m:t>
                          </m:r>
                        </m:sub>
                      </m:sSub>
                    </m:oMath>
                  </m:oMathPara>
                </a14:m>
                <a:endParaRPr lang="en-US"/>
              </a:p>
            </p:txBody>
          </p:sp>
        </mc:Choice>
        <mc:Fallback xmlns="">
          <p:sp>
            <p:nvSpPr>
              <p:cNvPr id="3" name="Tijdelijke aanduiding voor inhoud 2">
                <a:extLst>
                  <a:ext uri="{FF2B5EF4-FFF2-40B4-BE49-F238E27FC236}">
                    <a16:creationId xmlns:a16="http://schemas.microsoft.com/office/drawing/2014/main" id="{266019CE-1B91-CBE2-4A42-5B161FA8589C}"/>
                  </a:ext>
                </a:extLst>
              </p:cNvPr>
              <p:cNvSpPr>
                <a:spLocks noGrp="1" noRot="1" noChangeAspect="1" noMove="1" noResize="1" noEditPoints="1" noAdjustHandles="1" noChangeArrowheads="1" noChangeShapeType="1" noTextEdit="1"/>
              </p:cNvSpPr>
              <p:nvPr>
                <p:ph idx="1"/>
              </p:nvPr>
            </p:nvSpPr>
            <p:spPr>
              <a:blipFill>
                <a:blip r:embed="rId3"/>
                <a:stretch>
                  <a:fillRect l="-1538" t="-2026"/>
                </a:stretch>
              </a:blipFill>
            </p:spPr>
            <p:txBody>
              <a:bodyPr/>
              <a:lstStyle/>
              <a:p>
                <a:r>
                  <a:rPr lang="LID4096">
                    <a:noFill/>
                  </a:rPr>
                  <a:t> </a:t>
                </a:r>
              </a:p>
            </p:txBody>
          </p:sp>
        </mc:Fallback>
      </mc:AlternateContent>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52350-1DFB-2E0A-AE69-77389F047BBB}"/>
              </a:ext>
            </a:extLst>
          </p:cNvPr>
          <p:cNvSpPr>
            <a:spLocks noGrp="1"/>
          </p:cNvSpPr>
          <p:nvPr>
            <p:ph type="title"/>
          </p:nvPr>
        </p:nvSpPr>
        <p:spPr/>
        <p:txBody>
          <a:bodyPr/>
          <a:lstStyle/>
          <a:p>
            <a:r>
              <a:rPr lang="en-GB">
                <a:ea typeface="Calibri"/>
                <a:cs typeface="Calibri"/>
              </a:rPr>
              <a:t>System of linear equations</a:t>
            </a:r>
            <a:endParaRPr lang="en-GB"/>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780181-214C-BB0F-902A-287A0FF4C193}"/>
                  </a:ext>
                </a:extLst>
              </p:cNvPr>
              <p:cNvSpPr>
                <a:spLocks noGrp="1"/>
              </p:cNvSpPr>
              <p:nvPr>
                <p:ph idx="1"/>
              </p:nvPr>
            </p:nvSpPr>
            <p:spPr/>
            <p:txBody>
              <a:bodyPr vert="horz" lIns="0" tIns="0" rIns="0" bIns="0" rtlCol="0" anchor="t">
                <a:noAutofit/>
              </a:bodyPr>
              <a:lstStyle/>
              <a:p>
                <a:r>
                  <a:rPr lang="en-GB" dirty="0">
                    <a:ea typeface="Calibri"/>
                    <a:cs typeface="Calibri"/>
                  </a:rPr>
                  <a:t>Stack </a:t>
                </a:r>
                <a14:m>
                  <m:oMath xmlns:m="http://schemas.openxmlformats.org/officeDocument/2006/math">
                    <m:r>
                      <a:rPr lang="en-US" b="0" i="1" smtClean="0">
                        <a:latin typeface="Cambria Math" panose="02040503050406030204" pitchFamily="18" charset="0"/>
                        <a:ea typeface="Calibri"/>
                        <a:cs typeface="Calibri"/>
                      </a:rPr>
                      <m:t>𝑛</m:t>
                    </m:r>
                  </m:oMath>
                </a14:m>
                <a:r>
                  <a:rPr lang="en-GB" dirty="0">
                    <a:ea typeface="Calibri"/>
                    <a:cs typeface="Calibri"/>
                  </a:rPr>
                  <a:t> temperatures and power consumptions into vectors </a:t>
                </a:r>
                <a14:m>
                  <m:oMath xmlns:m="http://schemas.openxmlformats.org/officeDocument/2006/math">
                    <m:r>
                      <a:rPr lang="en-US" b="1" i="1" smtClean="0">
                        <a:latin typeface="Cambria Math" panose="02040503050406030204" pitchFamily="18" charset="0"/>
                        <a:ea typeface="Calibri"/>
                        <a:cs typeface="Calibri"/>
                      </a:rPr>
                      <m:t>𝒙</m:t>
                    </m:r>
                    <m:r>
                      <a:rPr lang="en-US" b="1" i="1" smtClean="0">
                        <a:latin typeface="Cambria Math" panose="02040503050406030204" pitchFamily="18" charset="0"/>
                        <a:ea typeface="Calibri"/>
                        <a:cs typeface="Calibri"/>
                      </a:rPr>
                      <m:t>=[</m:t>
                    </m:r>
                    <m:sSub>
                      <m:sSubPr>
                        <m:ctrlPr>
                          <a:rPr lang="en-US" b="0" i="1" smtClean="0">
                            <a:latin typeface="Cambria Math" panose="02040503050406030204" pitchFamily="18" charset="0"/>
                            <a:ea typeface="Calibri"/>
                            <a:cs typeface="Calibri"/>
                          </a:rPr>
                        </m:ctrlPr>
                      </m:sSubPr>
                      <m:e>
                        <m:r>
                          <a:rPr lang="en-US" b="0" i="1" smtClean="0">
                            <a:latin typeface="Cambria Math" panose="02040503050406030204" pitchFamily="18" charset="0"/>
                            <a:ea typeface="Calibri"/>
                            <a:cs typeface="Calibri"/>
                          </a:rPr>
                          <m:t>𝑥</m:t>
                        </m:r>
                      </m:e>
                      <m:sub>
                        <m:r>
                          <a:rPr lang="en-US" b="0" i="1" smtClean="0">
                            <a:latin typeface="Cambria Math" panose="02040503050406030204" pitchFamily="18" charset="0"/>
                            <a:ea typeface="Calibri"/>
                            <a:cs typeface="Calibri"/>
                          </a:rPr>
                          <m:t>1</m:t>
                        </m:r>
                      </m:sub>
                    </m:sSub>
                    <m:r>
                      <a:rPr lang="en-US" b="0" i="1" smtClean="0">
                        <a:latin typeface="Cambria Math" panose="02040503050406030204" pitchFamily="18" charset="0"/>
                        <a:ea typeface="Calibri"/>
                        <a:cs typeface="Calibri"/>
                      </a:rPr>
                      <m:t> ...  </m:t>
                    </m:r>
                    <m:sSub>
                      <m:sSubPr>
                        <m:ctrlPr>
                          <a:rPr lang="en-US" i="1">
                            <a:latin typeface="Cambria Math" panose="02040503050406030204" pitchFamily="18" charset="0"/>
                            <a:ea typeface="Calibri"/>
                            <a:cs typeface="Calibri"/>
                          </a:rPr>
                        </m:ctrlPr>
                      </m:sSubPr>
                      <m:e>
                        <m:r>
                          <a:rPr lang="en-US" i="1">
                            <a:latin typeface="Cambria Math" panose="02040503050406030204" pitchFamily="18" charset="0"/>
                            <a:ea typeface="Calibri"/>
                            <a:cs typeface="Calibri"/>
                          </a:rPr>
                          <m:t>𝑥</m:t>
                        </m:r>
                      </m:e>
                      <m:sub>
                        <m:r>
                          <a:rPr lang="en-US" b="0" i="1" smtClean="0">
                            <a:latin typeface="Cambria Math" panose="02040503050406030204" pitchFamily="18" charset="0"/>
                            <a:ea typeface="Calibri"/>
                            <a:cs typeface="Calibri"/>
                          </a:rPr>
                          <m:t>𝑛</m:t>
                        </m:r>
                      </m:sub>
                    </m:sSub>
                    <m:r>
                      <a:rPr lang="en-US" b="0" i="1" smtClean="0">
                        <a:latin typeface="Cambria Math" panose="02040503050406030204" pitchFamily="18" charset="0"/>
                        <a:ea typeface="Calibri"/>
                        <a:cs typeface="Calibri"/>
                      </a:rPr>
                      <m:t>]</m:t>
                    </m:r>
                  </m:oMath>
                </a14:m>
                <a:r>
                  <a:rPr lang="en-GB" dirty="0">
                    <a:ea typeface="Calibri"/>
                    <a:cs typeface="Calibri"/>
                  </a:rPr>
                  <a:t> and </a:t>
                </a:r>
                <a:r>
                  <a:rPr lang="en-GB" b="1" i="1" dirty="0">
                    <a:ea typeface="Calibri"/>
                    <a:cs typeface="Calibri"/>
                  </a:rPr>
                  <a:t>b</a:t>
                </a:r>
                <a:r>
                  <a:rPr lang="en-US" b="1" dirty="0">
                    <a:ea typeface="Calibri"/>
                    <a:cs typeface="Calibri"/>
                  </a:rPr>
                  <a:t> </a:t>
                </a:r>
                <a14:m>
                  <m:oMath xmlns:m="http://schemas.openxmlformats.org/officeDocument/2006/math">
                    <m:r>
                      <a:rPr lang="en-US" b="1" i="1">
                        <a:latin typeface="Cambria Math" panose="02040503050406030204" pitchFamily="18" charset="0"/>
                        <a:ea typeface="Calibri"/>
                        <a:cs typeface="Calibri"/>
                      </a:rPr>
                      <m:t>=</m:t>
                    </m:r>
                    <m:r>
                      <a:rPr lang="en-US" i="1">
                        <a:latin typeface="Cambria Math" panose="02040503050406030204" pitchFamily="18" charset="0"/>
                        <a:ea typeface="Calibri"/>
                        <a:cs typeface="Calibri"/>
                      </a:rPr>
                      <m:t>[</m:t>
                    </m:r>
                    <m:sSub>
                      <m:sSubPr>
                        <m:ctrlPr>
                          <a:rPr lang="en-US" b="0" i="1" smtClean="0">
                            <a:latin typeface="Cambria Math" panose="02040503050406030204" pitchFamily="18" charset="0"/>
                            <a:ea typeface="Calibri"/>
                            <a:cs typeface="Calibri"/>
                          </a:rPr>
                        </m:ctrlPr>
                      </m:sSubPr>
                      <m:e>
                        <m:r>
                          <a:rPr lang="en-US" b="0" i="1" smtClean="0">
                            <a:latin typeface="Cambria Math" panose="02040503050406030204" pitchFamily="18" charset="0"/>
                            <a:ea typeface="Calibri"/>
                            <a:cs typeface="Calibri"/>
                          </a:rPr>
                          <m:t>𝑏</m:t>
                        </m:r>
                      </m:e>
                      <m:sub>
                        <m:r>
                          <a:rPr lang="en-US" i="1">
                            <a:latin typeface="Cambria Math" panose="02040503050406030204" pitchFamily="18" charset="0"/>
                            <a:ea typeface="Calibri"/>
                            <a:cs typeface="Calibri"/>
                          </a:rPr>
                          <m:t>1</m:t>
                        </m:r>
                      </m:sub>
                    </m:sSub>
                    <m:r>
                      <a:rPr lang="en-US" i="1">
                        <a:latin typeface="Cambria Math" panose="02040503050406030204" pitchFamily="18" charset="0"/>
                        <a:ea typeface="Calibri"/>
                        <a:cs typeface="Calibri"/>
                      </a:rPr>
                      <m:t> ...  </m:t>
                    </m:r>
                    <m:sSub>
                      <m:sSubPr>
                        <m:ctrlPr>
                          <a:rPr lang="en-US" b="0" i="1" smtClean="0">
                            <a:latin typeface="Cambria Math" panose="02040503050406030204" pitchFamily="18" charset="0"/>
                            <a:ea typeface="Calibri"/>
                            <a:cs typeface="Calibri"/>
                          </a:rPr>
                        </m:ctrlPr>
                      </m:sSubPr>
                      <m:e>
                        <m:r>
                          <a:rPr lang="en-US" b="0" i="1" smtClean="0">
                            <a:latin typeface="Cambria Math" panose="02040503050406030204" pitchFamily="18" charset="0"/>
                            <a:ea typeface="Calibri"/>
                            <a:cs typeface="Calibri"/>
                          </a:rPr>
                          <m:t>𝑏</m:t>
                        </m:r>
                      </m:e>
                      <m:sub>
                        <m:r>
                          <a:rPr lang="en-US" i="1">
                            <a:latin typeface="Cambria Math" panose="02040503050406030204" pitchFamily="18" charset="0"/>
                            <a:ea typeface="Calibri"/>
                            <a:cs typeface="Calibri"/>
                          </a:rPr>
                          <m:t>𝑛</m:t>
                        </m:r>
                      </m:sub>
                    </m:sSub>
                    <m:r>
                      <a:rPr lang="en-US" i="1">
                        <a:latin typeface="Cambria Math" panose="02040503050406030204" pitchFamily="18" charset="0"/>
                        <a:ea typeface="Calibri"/>
                        <a:cs typeface="Calibri"/>
                      </a:rPr>
                      <m:t>]</m:t>
                    </m:r>
                  </m:oMath>
                </a14:m>
                <a:r>
                  <a:rPr lang="en-GB" dirty="0">
                    <a:ea typeface="Calibri"/>
                    <a:cs typeface="Calibri"/>
                  </a:rPr>
                  <a:t>.</a:t>
                </a:r>
              </a:p>
              <a:p>
                <a:r>
                  <a:rPr lang="en-GB" dirty="0">
                    <a:ea typeface="Calibri"/>
                    <a:cs typeface="Calibri"/>
                  </a:rPr>
                  <a:t>This gives us a matrix </a:t>
                </a:r>
                <a14:m>
                  <m:oMath xmlns:m="http://schemas.openxmlformats.org/officeDocument/2006/math">
                    <m:r>
                      <a:rPr lang="en-US" b="1" i="1" smtClean="0">
                        <a:latin typeface="Cambria Math" panose="02040503050406030204" pitchFamily="18" charset="0"/>
                        <a:ea typeface="Calibri"/>
                        <a:cs typeface="Calibri"/>
                      </a:rPr>
                      <m:t>𝑨</m:t>
                    </m:r>
                    <m:r>
                      <a:rPr lang="en-US" b="0" i="1" smtClean="0">
                        <a:latin typeface="Cambria Math" panose="02040503050406030204" pitchFamily="18" charset="0"/>
                        <a:ea typeface="Calibri"/>
                        <a:cs typeface="Calibri"/>
                      </a:rPr>
                      <m:t>=(</m:t>
                    </m:r>
                    <m:r>
                      <a:rPr lang="en-US" b="0" i="1" smtClean="0">
                        <a:latin typeface="Cambria Math" panose="02040503050406030204" pitchFamily="18" charset="0"/>
                        <a:ea typeface="Calibri"/>
                        <a:cs typeface="Calibri"/>
                      </a:rPr>
                      <m:t>𝑐</m:t>
                    </m:r>
                    <m:r>
                      <a:rPr lang="en-US" b="1" i="1" smtClean="0">
                        <a:latin typeface="Cambria Math" panose="02040503050406030204" pitchFamily="18" charset="0"/>
                        <a:ea typeface="Calibri"/>
                        <a:cs typeface="Calibri"/>
                      </a:rPr>
                      <m:t>𝑰</m:t>
                    </m:r>
                    <m:r>
                      <a:rPr lang="en-US" b="0" i="1" smtClean="0">
                        <a:latin typeface="Cambria Math" panose="02040503050406030204" pitchFamily="18" charset="0"/>
                        <a:ea typeface="Calibri"/>
                        <a:cs typeface="Calibri"/>
                      </a:rPr>
                      <m:t>−</m:t>
                    </m:r>
                    <m:r>
                      <a:rPr lang="el-GR" b="1" i="1" smtClean="0">
                        <a:latin typeface="Cambria Math" panose="02040503050406030204" pitchFamily="18" charset="0"/>
                        <a:ea typeface="Cambria Math" panose="02040503050406030204" pitchFamily="18" charset="0"/>
                        <a:cs typeface="Calibri"/>
                      </a:rPr>
                      <m:t>𝜟</m:t>
                    </m:r>
                    <m:r>
                      <a:rPr lang="en-US" b="0" i="1" smtClean="0">
                        <a:latin typeface="Cambria Math" panose="02040503050406030204" pitchFamily="18" charset="0"/>
                        <a:ea typeface="Cambria Math" panose="02040503050406030204" pitchFamily="18" charset="0"/>
                        <a:cs typeface="Calibri"/>
                      </a:rPr>
                      <m:t>)</m:t>
                    </m:r>
                  </m:oMath>
                </a14:m>
                <a:endParaRPr lang="en-GB" i="1" dirty="0"/>
              </a:p>
              <a:p>
                <a:endParaRPr lang="en-GB" dirty="0">
                  <a:ea typeface="Calibri"/>
                  <a:cs typeface="Calibri"/>
                </a:endParaRPr>
              </a:p>
              <a:p>
                <a:endParaRPr lang="en-GB" dirty="0">
                  <a:ea typeface="Calibri"/>
                  <a:cs typeface="Calibri"/>
                </a:endParaRPr>
              </a:p>
              <a:p>
                <a:endParaRPr lang="en-GB" dirty="0">
                  <a:ea typeface="Calibri"/>
                  <a:cs typeface="Calibri"/>
                </a:endParaRPr>
              </a:p>
              <a:p>
                <a:endParaRPr lang="en-GB" dirty="0">
                  <a:ea typeface="Calibri"/>
                  <a:cs typeface="Calibri"/>
                </a:endParaRPr>
              </a:p>
              <a:p>
                <a:endParaRPr lang="en-GB" dirty="0">
                  <a:ea typeface="Calibri"/>
                  <a:cs typeface="Calibri"/>
                </a:endParaRPr>
              </a:p>
              <a:p>
                <a:endParaRPr lang="en-GB" dirty="0">
                  <a:ea typeface="Calibri"/>
                  <a:cs typeface="Calibri"/>
                </a:endParaRPr>
              </a:p>
              <a:p>
                <a:r>
                  <a:rPr lang="en-GB" dirty="0">
                    <a:ea typeface="Calibri"/>
                    <a:cs typeface="Calibri"/>
                  </a:rPr>
                  <a:t>So, the steady-state solution is </a:t>
                </a:r>
                <a14:m>
                  <m:oMath xmlns:m="http://schemas.openxmlformats.org/officeDocument/2006/math">
                    <m:r>
                      <a:rPr lang="en-US" b="1" i="1" smtClean="0">
                        <a:latin typeface="Cambria Math" panose="02040503050406030204" pitchFamily="18" charset="0"/>
                        <a:ea typeface="Calibri"/>
                        <a:cs typeface="Calibri"/>
                      </a:rPr>
                      <m:t>𝑨𝒙</m:t>
                    </m:r>
                    <m:r>
                      <a:rPr lang="en-US" b="1" i="1" smtClean="0">
                        <a:latin typeface="Cambria Math" panose="02040503050406030204" pitchFamily="18" charset="0"/>
                        <a:ea typeface="Calibri"/>
                        <a:cs typeface="Calibri"/>
                      </a:rPr>
                      <m:t>=</m:t>
                    </m:r>
                    <m:r>
                      <a:rPr lang="en-US" b="1" i="1" smtClean="0">
                        <a:latin typeface="Cambria Math" panose="02040503050406030204" pitchFamily="18" charset="0"/>
                        <a:ea typeface="Calibri"/>
                        <a:cs typeface="Calibri"/>
                      </a:rPr>
                      <m:t>𝒃</m:t>
                    </m:r>
                  </m:oMath>
                </a14:m>
                <a:r>
                  <a:rPr lang="en-GB" dirty="0">
                    <a:ea typeface="Calibri"/>
                    <a:cs typeface="Calibri"/>
                  </a:rPr>
                  <a:t>.</a:t>
                </a:r>
              </a:p>
              <a:p>
                <a:pPr algn="ctr"/>
                <a:r>
                  <a:rPr lang="en-GB" i="1" dirty="0">
                    <a:ea typeface="Calibri"/>
                    <a:cs typeface="Calibri"/>
                  </a:rPr>
                  <a:t>How can we infer unknown </a:t>
                </a:r>
                <a14:m>
                  <m:oMath xmlns:m="http://schemas.openxmlformats.org/officeDocument/2006/math">
                    <m:r>
                      <a:rPr lang="en-US" b="1" i="1" smtClean="0">
                        <a:latin typeface="Cambria Math" panose="02040503050406030204" pitchFamily="18" charset="0"/>
                        <a:ea typeface="Calibri"/>
                        <a:cs typeface="Calibri"/>
                      </a:rPr>
                      <m:t>𝒙</m:t>
                    </m:r>
                  </m:oMath>
                </a14:m>
                <a:r>
                  <a:rPr lang="en-GB" i="1" dirty="0">
                    <a:ea typeface="Calibri"/>
                    <a:cs typeface="Calibri"/>
                  </a:rPr>
                  <a:t> from known </a:t>
                </a:r>
                <a14:m>
                  <m:oMath xmlns:m="http://schemas.openxmlformats.org/officeDocument/2006/math">
                    <m:r>
                      <a:rPr lang="en-US" b="1" i="1" smtClean="0">
                        <a:latin typeface="Cambria Math" panose="02040503050406030204" pitchFamily="18" charset="0"/>
                        <a:ea typeface="Calibri"/>
                        <a:cs typeface="Calibri"/>
                      </a:rPr>
                      <m:t>𝑨</m:t>
                    </m:r>
                  </m:oMath>
                </a14:m>
                <a:r>
                  <a:rPr lang="en-GB" i="1" dirty="0">
                    <a:ea typeface="Calibri"/>
                    <a:cs typeface="Calibri"/>
                  </a:rPr>
                  <a:t> and </a:t>
                </a:r>
                <a14:m>
                  <m:oMath xmlns:m="http://schemas.openxmlformats.org/officeDocument/2006/math">
                    <m:r>
                      <a:rPr lang="en-US" b="1" i="1" dirty="0" smtClean="0">
                        <a:latin typeface="Cambria Math" panose="02040503050406030204" pitchFamily="18" charset="0"/>
                        <a:ea typeface="Calibri"/>
                        <a:cs typeface="Calibri"/>
                      </a:rPr>
                      <m:t>𝒃</m:t>
                    </m:r>
                  </m:oMath>
                </a14:m>
                <a:r>
                  <a:rPr lang="en-GB" i="1" dirty="0">
                    <a:ea typeface="Calibri"/>
                    <a:cs typeface="Calibri"/>
                  </a:rPr>
                  <a:t>?</a:t>
                </a:r>
              </a:p>
            </p:txBody>
          </p:sp>
        </mc:Choice>
        <mc:Fallback xmlns="">
          <p:sp>
            <p:nvSpPr>
              <p:cNvPr id="3" name="Content Placeholder 2">
                <a:extLst>
                  <a:ext uri="{FF2B5EF4-FFF2-40B4-BE49-F238E27FC236}">
                    <a16:creationId xmlns:a16="http://schemas.microsoft.com/office/drawing/2014/main" id="{BC780181-214C-BB0F-902A-287A0FF4C193}"/>
                  </a:ext>
                </a:extLst>
              </p:cNvPr>
              <p:cNvSpPr>
                <a:spLocks noGrp="1" noRot="1" noChangeAspect="1" noMove="1" noResize="1" noEditPoints="1" noAdjustHandles="1" noChangeArrowheads="1" noChangeShapeType="1" noTextEdit="1"/>
              </p:cNvSpPr>
              <p:nvPr>
                <p:ph idx="1"/>
              </p:nvPr>
            </p:nvSpPr>
            <p:spPr>
              <a:blipFill>
                <a:blip r:embed="rId2"/>
                <a:stretch>
                  <a:fillRect l="-1538" t="-2026" r="-1231" b="-4972"/>
                </a:stretch>
              </a:blipFill>
            </p:spPr>
            <p:txBody>
              <a:bodyPr/>
              <a:lstStyle/>
              <a:p>
                <a:r>
                  <a:rPr lang="LID4096">
                    <a:noFill/>
                  </a:rPr>
                  <a:t> </a:t>
                </a:r>
              </a:p>
            </p:txBody>
          </p:sp>
        </mc:Fallback>
      </mc:AlternateContent>
      <p:pic>
        <p:nvPicPr>
          <p:cNvPr id="4" name="Afbeelding 14">
            <a:extLst>
              <a:ext uri="{FF2B5EF4-FFF2-40B4-BE49-F238E27FC236}">
                <a16:creationId xmlns:a16="http://schemas.microsoft.com/office/drawing/2014/main" id="{4445D8E7-8984-D104-3750-65E74F9A8435}"/>
              </a:ext>
            </a:extLst>
          </p:cNvPr>
          <p:cNvPicPr>
            <a:picLocks noChangeAspect="1"/>
          </p:cNvPicPr>
          <p:nvPr/>
        </p:nvPicPr>
        <p:blipFill>
          <a:blip r:embed="rId3">
            <a:extLst>
              <a:ext uri="{28A0092B-C50C-407E-A947-70E740481C1C}">
                <a14:useLocalDpi xmlns:a14="http://schemas.microsoft.com/office/drawing/2010/main" val="0"/>
              </a:ext>
            </a:extLst>
          </a:blip>
          <a:srcRect l="1613" r="35245" b="3898"/>
          <a:stretch>
            <a:fillRect/>
          </a:stretch>
        </p:blipFill>
        <p:spPr>
          <a:xfrm rot="5400000">
            <a:off x="1782595" y="2075732"/>
            <a:ext cx="1681552" cy="1858893"/>
          </a:xfrm>
          <a:prstGeom prst="rect">
            <a:avLst/>
          </a:prstGeom>
        </p:spPr>
      </p:pic>
      <p:sp>
        <p:nvSpPr>
          <p:cNvPr id="5" name="Rechthoek 15">
            <a:extLst>
              <a:ext uri="{FF2B5EF4-FFF2-40B4-BE49-F238E27FC236}">
                <a16:creationId xmlns:a16="http://schemas.microsoft.com/office/drawing/2014/main" id="{8A2B916B-8192-81E4-C3B2-2E1D3E16E599}"/>
              </a:ext>
            </a:extLst>
          </p:cNvPr>
          <p:cNvSpPr/>
          <p:nvPr/>
        </p:nvSpPr>
        <p:spPr>
          <a:xfrm>
            <a:off x="1745262" y="2200673"/>
            <a:ext cx="431264" cy="1601599"/>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nl-N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6" name="Rechthoek 32">
            <a:extLst>
              <a:ext uri="{FF2B5EF4-FFF2-40B4-BE49-F238E27FC236}">
                <a16:creationId xmlns:a16="http://schemas.microsoft.com/office/drawing/2014/main" id="{17E52980-7982-9EDF-A007-D310D6E7EB02}"/>
              </a:ext>
            </a:extLst>
          </p:cNvPr>
          <p:cNvSpPr/>
          <p:nvPr/>
        </p:nvSpPr>
        <p:spPr>
          <a:xfrm>
            <a:off x="2176526" y="2200673"/>
            <a:ext cx="431264" cy="1601599"/>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nl-N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7" name="Rechthoek 33">
            <a:extLst>
              <a:ext uri="{FF2B5EF4-FFF2-40B4-BE49-F238E27FC236}">
                <a16:creationId xmlns:a16="http://schemas.microsoft.com/office/drawing/2014/main" id="{DECE462C-92E4-FD3F-5BDB-488FA2858E33}"/>
              </a:ext>
            </a:extLst>
          </p:cNvPr>
          <p:cNvSpPr/>
          <p:nvPr/>
        </p:nvSpPr>
        <p:spPr>
          <a:xfrm>
            <a:off x="2607790" y="2200673"/>
            <a:ext cx="431264" cy="1601599"/>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nl-N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8" name="Rechthoek 34">
            <a:extLst>
              <a:ext uri="{FF2B5EF4-FFF2-40B4-BE49-F238E27FC236}">
                <a16:creationId xmlns:a16="http://schemas.microsoft.com/office/drawing/2014/main" id="{785C5BF1-08B6-7AFC-4B78-BFCED3C44B24}"/>
              </a:ext>
            </a:extLst>
          </p:cNvPr>
          <p:cNvSpPr/>
          <p:nvPr/>
        </p:nvSpPr>
        <p:spPr>
          <a:xfrm>
            <a:off x="3039054" y="2200673"/>
            <a:ext cx="431264" cy="1601599"/>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nl-N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9" name="Rechthoek 35">
            <a:extLst>
              <a:ext uri="{FF2B5EF4-FFF2-40B4-BE49-F238E27FC236}">
                <a16:creationId xmlns:a16="http://schemas.microsoft.com/office/drawing/2014/main" id="{9EBCDE95-7DB0-043E-FDAB-726A5208D616}"/>
              </a:ext>
            </a:extLst>
          </p:cNvPr>
          <p:cNvSpPr/>
          <p:nvPr/>
        </p:nvSpPr>
        <p:spPr>
          <a:xfrm rot="5400000">
            <a:off x="2413738" y="1534415"/>
            <a:ext cx="388105" cy="1725057"/>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nl-N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0" name="Rechthoek 36">
            <a:extLst>
              <a:ext uri="{FF2B5EF4-FFF2-40B4-BE49-F238E27FC236}">
                <a16:creationId xmlns:a16="http://schemas.microsoft.com/office/drawing/2014/main" id="{B442EA44-2B00-33B5-A545-FDC8BA480DD9}"/>
              </a:ext>
            </a:extLst>
          </p:cNvPr>
          <p:cNvSpPr/>
          <p:nvPr/>
        </p:nvSpPr>
        <p:spPr>
          <a:xfrm rot="5400000">
            <a:off x="2401774" y="1931718"/>
            <a:ext cx="409268" cy="1727821"/>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nl-N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1" name="Rechthoek 37">
            <a:extLst>
              <a:ext uri="{FF2B5EF4-FFF2-40B4-BE49-F238E27FC236}">
                <a16:creationId xmlns:a16="http://schemas.microsoft.com/office/drawing/2014/main" id="{51EC0BCE-394F-534D-B6F4-6255DB6D1BD1}"/>
              </a:ext>
            </a:extLst>
          </p:cNvPr>
          <p:cNvSpPr/>
          <p:nvPr/>
        </p:nvSpPr>
        <p:spPr>
          <a:xfrm rot="5400000">
            <a:off x="2404332" y="2341193"/>
            <a:ext cx="406917" cy="1725057"/>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nl-N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2" name="Rechthoek 38">
            <a:extLst>
              <a:ext uri="{FF2B5EF4-FFF2-40B4-BE49-F238E27FC236}">
                <a16:creationId xmlns:a16="http://schemas.microsoft.com/office/drawing/2014/main" id="{D3B08553-9421-69A9-FE38-88AD971DC2A7}"/>
              </a:ext>
            </a:extLst>
          </p:cNvPr>
          <p:cNvSpPr/>
          <p:nvPr/>
        </p:nvSpPr>
        <p:spPr>
          <a:xfrm rot="5400000">
            <a:off x="2410211" y="2742232"/>
            <a:ext cx="395159" cy="1725057"/>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nl-N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16" name="Picture 15">
            <a:extLst>
              <a:ext uri="{FF2B5EF4-FFF2-40B4-BE49-F238E27FC236}">
                <a16:creationId xmlns:a16="http://schemas.microsoft.com/office/drawing/2014/main" id="{948166E2-FCF5-D2D5-A35B-6DE9654BD155}"/>
              </a:ext>
            </a:extLst>
          </p:cNvPr>
          <p:cNvPicPr>
            <a:picLocks noChangeAspect="1"/>
          </p:cNvPicPr>
          <p:nvPr/>
        </p:nvPicPr>
        <p:blipFill>
          <a:blip r:embed="rId4"/>
          <a:stretch>
            <a:fillRect/>
          </a:stretch>
        </p:blipFill>
        <p:spPr>
          <a:xfrm>
            <a:off x="4274505" y="2144796"/>
            <a:ext cx="1773217" cy="1741900"/>
          </a:xfrm>
          <a:prstGeom prst="rect">
            <a:avLst/>
          </a:prstGeom>
        </p:spPr>
      </p:pic>
      <p:pic>
        <p:nvPicPr>
          <p:cNvPr id="17" name="Picture 16">
            <a:extLst>
              <a:ext uri="{FF2B5EF4-FFF2-40B4-BE49-F238E27FC236}">
                <a16:creationId xmlns:a16="http://schemas.microsoft.com/office/drawing/2014/main" id="{2CAB5B84-ABF5-6F6E-A331-EC4CCEC5D269}"/>
              </a:ext>
            </a:extLst>
          </p:cNvPr>
          <p:cNvPicPr>
            <a:picLocks noChangeAspect="1"/>
          </p:cNvPicPr>
          <p:nvPr/>
        </p:nvPicPr>
        <p:blipFill>
          <a:blip r:embed="rId5"/>
          <a:srcRect l="2405" t="4033" r="38847" b="3653"/>
          <a:stretch>
            <a:fillRect/>
          </a:stretch>
        </p:blipFill>
        <p:spPr>
          <a:xfrm>
            <a:off x="6094681" y="2215540"/>
            <a:ext cx="1643200" cy="1632307"/>
          </a:xfrm>
          <a:prstGeom prst="rect">
            <a:avLst/>
          </a:prstGeom>
        </p:spPr>
      </p:pic>
      <p:sp>
        <p:nvSpPr>
          <p:cNvPr id="19" name="Tijdelijke aanduiding voor dianummer 5">
            <a:extLst>
              <a:ext uri="{FF2B5EF4-FFF2-40B4-BE49-F238E27FC236}">
                <a16:creationId xmlns:a16="http://schemas.microsoft.com/office/drawing/2014/main" id="{8FC31451-922F-8970-CFF2-8E55D17BE06C}"/>
              </a:ext>
            </a:extLst>
          </p:cNvPr>
          <p:cNvSpPr>
            <a:spLocks noGrp="1"/>
          </p:cNvSpPr>
          <p:nvPr>
            <p:ph type="sldNum" sz="quarter" idx="12"/>
          </p:nvPr>
        </p:nvSpPr>
        <p:spPr>
          <a:xfrm>
            <a:off x="612000" y="4773600"/>
            <a:ext cx="601313" cy="351000"/>
          </a:xfrm>
        </p:spPr>
        <p:txBody>
          <a:bodyPr/>
          <a:lstStyle>
            <a:lvl1pPr>
              <a:defRPr>
                <a:solidFill>
                  <a:schemeClr val="tx1"/>
                </a:solidFill>
              </a:defRPr>
            </a:lvl1pPr>
          </a:lstStyle>
          <a:p>
            <a:fld id="{B7CEC10D-CD46-426F-915E-6C78530279CB}" type="slidenum">
              <a:rPr lang="en-US" smtClean="0"/>
              <a:pPr/>
              <a:t>7</a:t>
            </a:fld>
            <a:endParaRPr lang="en-US"/>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animBg="1"/>
      <p:bldP spid="6" grpId="0" uiExpand="1" animBg="1"/>
      <p:bldP spid="7" grpId="0" uiExpand="1" animBg="1"/>
      <p:bldP spid="8" grpId="0" uiExpand="1" animBg="1"/>
      <p:bldP spid="9" grpId="0" uiExpand="1" animBg="1"/>
      <p:bldP spid="10" grpId="0" uiExpand="1" animBg="1"/>
      <p:bldP spid="11" grpId="0" uiExpand="1" animBg="1"/>
      <p:bldP spid="12" grpId="0" uiExpand="1"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2648" y="475488"/>
            <a:ext cx="7918704" cy="548640"/>
          </a:xfrm>
        </p:spPr>
        <p:txBody>
          <a:bodyPr/>
          <a:lstStyle/>
          <a:p>
            <a:r>
              <a:rPr sz="2600" b="1">
                <a:solidFill>
                  <a:srgbClr val="FFFFFF"/>
                </a:solidFill>
                <a:latin typeface="Calibri"/>
              </a:rPr>
              <a:t>2</a:t>
            </a:r>
            <a:r>
              <a:rPr lang="en-GB" sz="2600" b="1">
                <a:solidFill>
                  <a:srgbClr val="FFFFFF"/>
                </a:solidFill>
                <a:latin typeface="Calibri"/>
              </a:rPr>
              <a:t>. </a:t>
            </a:r>
            <a:r>
              <a:rPr sz="2600" b="1">
                <a:solidFill>
                  <a:srgbClr val="FFFFFF"/>
                </a:solidFill>
                <a:latin typeface="Calibri"/>
              </a:rPr>
              <a:t>Classical numerical approach</a:t>
            </a:r>
            <a:r>
              <a:rPr lang="en-GB" sz="2600" b="1">
                <a:solidFill>
                  <a:srgbClr val="FFFFFF"/>
                </a:solidFill>
                <a:latin typeface="Calibri"/>
              </a:rPr>
              <a:t>es</a:t>
            </a:r>
            <a:endParaRPr sz="2600" b="1">
              <a:solidFill>
                <a:srgbClr val="FFFFFF"/>
              </a:solidFill>
              <a:latin typeface="Calibri"/>
            </a:endParaRPr>
          </a:p>
        </p:txBody>
      </p:sp>
      <p:sp>
        <p:nvSpPr>
          <p:cNvPr id="4" name="Tijdelijke aanduiding voor dianummer 3"/>
          <p:cNvSpPr>
            <a:spLocks noGrp="1"/>
          </p:cNvSpPr>
          <p:nvPr>
            <p:ph type="sldNum" sz="quarter" idx="11"/>
          </p:nvPr>
        </p:nvSpPr>
        <p:spPr/>
        <p:txBody>
          <a:bodyPr/>
          <a:lstStyle/>
          <a:p>
            <a:fld id="{B7CEC10D-CD46-426F-915E-6C78530279CB}" type="slidenum">
              <a:rPr lang="en-US" smtClean="0"/>
              <a:pPr/>
              <a:t>8</a:t>
            </a:fld>
            <a:endParaRPr lang="en-US"/>
          </a:p>
        </p:txBody>
      </p:sp>
      <p:sp>
        <p:nvSpPr>
          <p:cNvPr id="6" name="Oval 5"/>
          <p:cNvSpPr/>
          <p:nvPr/>
        </p:nvSpPr>
        <p:spPr>
          <a:xfrm>
            <a:off x="612000" y="1639411"/>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A</a:t>
            </a:r>
            <a:endParaRPr sz="1400" b="1">
              <a:solidFill>
                <a:srgbClr val="101073"/>
              </a:solidFill>
              <a:latin typeface="Calibri"/>
            </a:endParaRPr>
          </a:p>
        </p:txBody>
      </p:sp>
      <p:sp>
        <p:nvSpPr>
          <p:cNvPr id="7" name="TextBox 6"/>
          <p:cNvSpPr txBox="1"/>
          <p:nvPr/>
        </p:nvSpPr>
        <p:spPr>
          <a:xfrm>
            <a:off x="1252080" y="1749472"/>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a:solidFill>
                  <a:srgbClr val="FFFFFF"/>
                </a:solidFill>
                <a:latin typeface="Calibri"/>
              </a:rPr>
              <a:t>Jacobi method</a:t>
            </a:r>
            <a:endParaRPr sz="1400" b="0" i="0">
              <a:solidFill>
                <a:srgbClr val="C9CDE8"/>
              </a:solidFill>
              <a:latin typeface="Calibri"/>
            </a:endParaRPr>
          </a:p>
        </p:txBody>
      </p:sp>
      <p:sp>
        <p:nvSpPr>
          <p:cNvPr id="8" name="Oval 7"/>
          <p:cNvSpPr/>
          <p:nvPr/>
        </p:nvSpPr>
        <p:spPr>
          <a:xfrm>
            <a:off x="612000" y="2352643"/>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B</a:t>
            </a:r>
            <a:endParaRPr sz="1400" b="1">
              <a:solidFill>
                <a:srgbClr val="101073"/>
              </a:solidFill>
              <a:latin typeface="Calibri"/>
            </a:endParaRPr>
          </a:p>
        </p:txBody>
      </p:sp>
      <p:sp>
        <p:nvSpPr>
          <p:cNvPr id="9" name="TextBox 8"/>
          <p:cNvSpPr txBox="1"/>
          <p:nvPr/>
        </p:nvSpPr>
        <p:spPr>
          <a:xfrm>
            <a:off x="1252080" y="2462704"/>
            <a:ext cx="6949440" cy="246221"/>
          </a:xfrm>
          <a:prstGeom prst="rect">
            <a:avLst/>
          </a:prstGeom>
          <a:noFill/>
        </p:spPr>
        <p:txBody>
          <a:bodyPr wrap="square" lIns="0" tIns="0" rIns="0" bIns="0" anchor="ctr">
            <a:spAutoFit/>
          </a:bodyPr>
          <a:lstStyle/>
          <a:p>
            <a:pPr algn="l">
              <a:spcBef>
                <a:spcPts val="0"/>
              </a:spcBef>
              <a:spcAft>
                <a:spcPts val="600"/>
              </a:spcAft>
            </a:pPr>
            <a:r>
              <a:rPr sz="1600" b="1" i="0">
                <a:solidFill>
                  <a:srgbClr val="FFFFFF"/>
                </a:solidFill>
                <a:latin typeface="Calibri"/>
              </a:rPr>
              <a:t>Gauss–Seidel</a:t>
            </a:r>
            <a:r>
              <a:rPr lang="en-GB" sz="1600" b="1" i="0">
                <a:solidFill>
                  <a:srgbClr val="FFFFFF"/>
                </a:solidFill>
                <a:latin typeface="Calibri"/>
              </a:rPr>
              <a:t> method</a:t>
            </a:r>
            <a:endParaRPr sz="1400" b="0" i="0">
              <a:solidFill>
                <a:srgbClr val="C9CDE8"/>
              </a:solidFill>
              <a:latin typeface="Calibri"/>
            </a:endParaRPr>
          </a:p>
        </p:txBody>
      </p:sp>
      <p:sp>
        <p:nvSpPr>
          <p:cNvPr id="10" name="Oval 9"/>
          <p:cNvSpPr/>
          <p:nvPr/>
        </p:nvSpPr>
        <p:spPr>
          <a:xfrm>
            <a:off x="612000" y="3065875"/>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C</a:t>
            </a:r>
            <a:endParaRPr sz="1400" b="1">
              <a:solidFill>
                <a:srgbClr val="101073"/>
              </a:solidFill>
              <a:latin typeface="Calibri"/>
            </a:endParaRPr>
          </a:p>
        </p:txBody>
      </p:sp>
      <p:sp>
        <p:nvSpPr>
          <p:cNvPr id="11" name="TextBox 10"/>
          <p:cNvSpPr txBox="1"/>
          <p:nvPr/>
        </p:nvSpPr>
        <p:spPr>
          <a:xfrm>
            <a:off x="1252080" y="3175936"/>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a:solidFill>
                  <a:srgbClr val="FFFFFF"/>
                </a:solidFill>
                <a:latin typeface="Calibri"/>
              </a:rPr>
              <a:t>C</a:t>
            </a:r>
            <a:r>
              <a:rPr sz="1600" b="1" i="0" err="1">
                <a:solidFill>
                  <a:srgbClr val="FFFFFF"/>
                </a:solidFill>
                <a:latin typeface="Calibri"/>
              </a:rPr>
              <a:t>onjugate</a:t>
            </a:r>
            <a:r>
              <a:rPr sz="1600" b="1" i="0">
                <a:solidFill>
                  <a:srgbClr val="FFFFFF"/>
                </a:solidFill>
                <a:latin typeface="Calibri"/>
              </a:rPr>
              <a:t> gradient</a:t>
            </a:r>
            <a:r>
              <a:rPr lang="en-GB" sz="1600" b="1" i="0">
                <a:solidFill>
                  <a:srgbClr val="FFFFFF"/>
                </a:solidFill>
                <a:latin typeface="Calibri"/>
              </a:rPr>
              <a:t> method</a:t>
            </a:r>
            <a:endParaRPr sz="1400" b="0" i="0">
              <a:solidFill>
                <a:srgbClr val="C9CDE8"/>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2600" b="1">
                <a:latin typeface="Calibri"/>
              </a:rPr>
              <a:t>Jacobi method</a:t>
            </a:r>
            <a:endParaRPr sz="2600" b="1">
              <a:latin typeface="Calibri"/>
            </a:endParaRPr>
          </a:p>
        </p:txBody>
      </p:sp>
      <mc:AlternateContent xmlns:mc="http://schemas.openxmlformats.org/markup-compatibility/2006" xmlns:a14="http://schemas.microsoft.com/office/drawing/2010/main">
        <mc:Choice Requires="a14">
          <p:sp>
            <p:nvSpPr>
              <p:cNvPr id="3" name="Tijdelijke aanduiding voor inhoud 2">
                <a:extLst>
                  <a:ext uri="{FF2B5EF4-FFF2-40B4-BE49-F238E27FC236}">
                    <a16:creationId xmlns:a16="http://schemas.microsoft.com/office/drawing/2014/main" id="{AB34F4C4-04AA-83F7-FF9F-6752F26C3CC5}"/>
                  </a:ext>
                </a:extLst>
              </p:cNvPr>
              <p:cNvSpPr>
                <a:spLocks noGrp="1"/>
              </p:cNvSpPr>
              <p:nvPr>
                <p:ph idx="1"/>
              </p:nvPr>
            </p:nvSpPr>
            <p:spPr/>
            <p:txBody>
              <a:bodyPr/>
              <a:lstStyle/>
              <a:p>
                <a:r>
                  <a:rPr lang="en-GB"/>
                  <a:t>First, </a:t>
                </a:r>
                <a14:m>
                  <m:oMath xmlns:m="http://schemas.openxmlformats.org/officeDocument/2006/math">
                    <m:r>
                      <a:rPr lang="en-GB" b="0" i="1" smtClean="0">
                        <a:latin typeface="Cambria Math" panose="02040503050406030204" pitchFamily="18" charset="0"/>
                      </a:rPr>
                      <m:t>𝑨</m:t>
                    </m:r>
                  </m:oMath>
                </a14:m>
                <a:r>
                  <a:rPr lang="en-GB"/>
                  <a:t> is split into diagonal and strictly triangular terms: </a:t>
                </a:r>
                <a14:m>
                  <m:oMath xmlns:m="http://schemas.openxmlformats.org/officeDocument/2006/math">
                    <m:r>
                      <a:rPr lang="en-GB" b="0" i="1" smtClean="0">
                        <a:latin typeface="Cambria Math" panose="02040503050406030204" pitchFamily="18" charset="0"/>
                      </a:rPr>
                      <m:t>𝑨</m:t>
                    </m:r>
                    <m:r>
                      <a:rPr lang="en-GB" b="0" i="1" smtClean="0">
                        <a:latin typeface="Cambria Math" panose="02040503050406030204" pitchFamily="18" charset="0"/>
                      </a:rPr>
                      <m:t>=</m:t>
                    </m:r>
                    <m:r>
                      <a:rPr lang="en-GB" b="0" i="1" smtClean="0">
                        <a:latin typeface="Cambria Math" panose="02040503050406030204" pitchFamily="18" charset="0"/>
                      </a:rPr>
                      <m:t>𝑫</m:t>
                    </m:r>
                    <m:r>
                      <a:rPr lang="en-GB" b="0" i="1" smtClean="0">
                        <a:latin typeface="Cambria Math" panose="02040503050406030204" pitchFamily="18" charset="0"/>
                      </a:rPr>
                      <m:t>+</m:t>
                    </m:r>
                    <m:r>
                      <a:rPr lang="en-GB" b="0" i="1" smtClean="0">
                        <a:latin typeface="Cambria Math" panose="02040503050406030204" pitchFamily="18" charset="0"/>
                      </a:rPr>
                      <m:t>𝑳</m:t>
                    </m:r>
                    <m:r>
                      <a:rPr lang="en-GB" b="0" i="1" smtClean="0">
                        <a:latin typeface="Cambria Math" panose="02040503050406030204" pitchFamily="18" charset="0"/>
                      </a:rPr>
                      <m:t>+</m:t>
                    </m:r>
                    <m:r>
                      <a:rPr lang="en-GB" b="0" i="1" smtClean="0">
                        <a:latin typeface="Cambria Math" panose="02040503050406030204" pitchFamily="18" charset="0"/>
                      </a:rPr>
                      <m:t>𝑼</m:t>
                    </m:r>
                  </m:oMath>
                </a14:m>
                <a:r>
                  <a:rPr lang="en-GB" b="0"/>
                  <a:t>. Then:</a:t>
                </a:r>
              </a:p>
              <a:p>
                <a:pPr/>
                <a14:m>
                  <m:oMathPara xmlns:m="http://schemas.openxmlformats.org/officeDocument/2006/math">
                    <m:oMath>
                      <m:r>
                        <a:rPr lang="en-US" i="1">
                          <a:latin typeface="Cambria Math" panose="02040503050406030204" pitchFamily="18" charset="0"/>
                        </a:rPr>
                        <m:t>𝑨𝒙</m:t>
                      </m:r>
                      <m:r>
                        <m:rPr>
                          <m:aln/>
                        </m:rPr>
                        <a:rPr lang="en-US" i="1">
                          <a:latin typeface="Cambria Math" panose="02040503050406030204" pitchFamily="18" charset="0"/>
                        </a:rPr>
                        <m:t>=</m:t>
                      </m:r>
                      <m:r>
                        <a:rPr lang="en-US" i="1">
                          <a:latin typeface="Cambria Math" panose="02040503050406030204" pitchFamily="18" charset="0"/>
                        </a:rPr>
                        <m:t>𝒃</m:t>
                      </m:r>
                    </m:oMath>
                    <m:oMath>
                      <m:d>
                        <m:dPr>
                          <m:ctrlPr>
                            <a:rPr lang="en-US" i="1">
                              <a:latin typeface="Cambria Math" panose="02040503050406030204" pitchFamily="18" charset="0"/>
                            </a:rPr>
                          </m:ctrlPr>
                        </m:dPr>
                        <m:e>
                          <m:r>
                            <a:rPr lang="en-US" i="1">
                              <a:latin typeface="Cambria Math" panose="02040503050406030204" pitchFamily="18" charset="0"/>
                            </a:rPr>
                            <m:t>𝑫</m:t>
                          </m:r>
                          <m:r>
                            <a:rPr lang="en-US" i="1">
                              <a:latin typeface="Cambria Math" panose="02040503050406030204" pitchFamily="18" charset="0"/>
                            </a:rPr>
                            <m:t>+</m:t>
                          </m:r>
                          <m:r>
                            <a:rPr lang="en-US" i="1">
                              <a:latin typeface="Cambria Math" panose="02040503050406030204" pitchFamily="18" charset="0"/>
                            </a:rPr>
                            <m:t>𝑳</m:t>
                          </m:r>
                          <m:r>
                            <a:rPr lang="en-US" i="1">
                              <a:latin typeface="Cambria Math" panose="02040503050406030204" pitchFamily="18" charset="0"/>
                            </a:rPr>
                            <m:t>+</m:t>
                          </m:r>
                          <m:r>
                            <a:rPr lang="en-US" i="1">
                              <a:latin typeface="Cambria Math" panose="02040503050406030204" pitchFamily="18" charset="0"/>
                            </a:rPr>
                            <m:t>𝑼</m:t>
                          </m:r>
                        </m:e>
                      </m:d>
                      <m:r>
                        <a:rPr lang="en-US" i="1">
                          <a:latin typeface="Cambria Math" panose="02040503050406030204" pitchFamily="18" charset="0"/>
                        </a:rPr>
                        <m:t>𝒙</m:t>
                      </m:r>
                      <m:r>
                        <m:rPr>
                          <m:aln/>
                        </m:rPr>
                        <a:rPr lang="en-US" i="1">
                          <a:latin typeface="Cambria Math" panose="02040503050406030204" pitchFamily="18" charset="0"/>
                        </a:rPr>
                        <m:t>=</m:t>
                      </m:r>
                      <m:r>
                        <a:rPr lang="en-US" i="1">
                          <a:latin typeface="Cambria Math" panose="02040503050406030204" pitchFamily="18" charset="0"/>
                        </a:rPr>
                        <m:t>𝒃</m:t>
                      </m:r>
                    </m:oMath>
                    <m:oMath>
                      <m:r>
                        <a:rPr lang="en-US" i="1">
                          <a:latin typeface="Cambria Math" panose="02040503050406030204" pitchFamily="18" charset="0"/>
                        </a:rPr>
                        <m:t>𝑫𝒙</m:t>
                      </m:r>
                      <m:r>
                        <m:rPr>
                          <m:aln/>
                        </m:rPr>
                        <a:rPr lang="en-US" i="1">
                          <a:latin typeface="Cambria Math" panose="02040503050406030204" pitchFamily="18" charset="0"/>
                        </a:rPr>
                        <m:t>=</m:t>
                      </m:r>
                      <m:r>
                        <a:rPr lang="en-US" i="1">
                          <a:latin typeface="Cambria Math" panose="02040503050406030204" pitchFamily="18" charset="0"/>
                        </a:rPr>
                        <m:t>𝒃</m:t>
                      </m:r>
                      <m:r>
                        <a:rPr lang="en-US" i="1">
                          <a:latin typeface="Cambria Math" panose="02040503050406030204" pitchFamily="18" charset="0"/>
                        </a:rPr>
                        <m:t>−</m:t>
                      </m:r>
                      <m:d>
                        <m:dPr>
                          <m:ctrlPr>
                            <a:rPr lang="en-US" i="1">
                              <a:latin typeface="Cambria Math" panose="02040503050406030204" pitchFamily="18" charset="0"/>
                            </a:rPr>
                          </m:ctrlPr>
                        </m:dPr>
                        <m:e>
                          <m:r>
                            <a:rPr lang="en-US" i="1">
                              <a:latin typeface="Cambria Math" panose="02040503050406030204" pitchFamily="18" charset="0"/>
                            </a:rPr>
                            <m:t>𝑳</m:t>
                          </m:r>
                          <m:r>
                            <a:rPr lang="en-US" i="1">
                              <a:latin typeface="Cambria Math" panose="02040503050406030204" pitchFamily="18" charset="0"/>
                            </a:rPr>
                            <m:t>+</m:t>
                          </m:r>
                          <m:r>
                            <a:rPr lang="en-US" i="1">
                              <a:latin typeface="Cambria Math" panose="02040503050406030204" pitchFamily="18" charset="0"/>
                            </a:rPr>
                            <m:t>𝑼</m:t>
                          </m:r>
                        </m:e>
                      </m:d>
                      <m:r>
                        <a:rPr lang="en-US" i="1">
                          <a:latin typeface="Cambria Math" panose="02040503050406030204" pitchFamily="18" charset="0"/>
                        </a:rPr>
                        <m:t>𝒙</m:t>
                      </m:r>
                    </m:oMath>
                    <m:oMath>
                      <m:r>
                        <a:rPr lang="en-US" i="1">
                          <a:latin typeface="Cambria Math" panose="02040503050406030204" pitchFamily="18" charset="0"/>
                        </a:rPr>
                        <m:t>𝒙</m:t>
                      </m:r>
                      <m:r>
                        <m:rPr>
                          <m:aln/>
                        </m:rP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𝑫</m:t>
                          </m:r>
                        </m:e>
                        <m:sup>
                          <m:r>
                            <a:rPr lang="en-US" i="1">
                              <a:latin typeface="Cambria Math" panose="02040503050406030204" pitchFamily="18" charset="0"/>
                            </a:rPr>
                            <m:t>−1</m:t>
                          </m:r>
                        </m:sup>
                      </m:sSup>
                      <m:d>
                        <m:dPr>
                          <m:ctrlPr>
                            <a:rPr lang="en-US" i="1">
                              <a:latin typeface="Cambria Math" panose="02040503050406030204" pitchFamily="18" charset="0"/>
                            </a:rPr>
                          </m:ctrlPr>
                        </m:dPr>
                        <m:e>
                          <m:r>
                            <a:rPr lang="en-US" i="1">
                              <a:latin typeface="Cambria Math" panose="02040503050406030204" pitchFamily="18" charset="0"/>
                            </a:rPr>
                            <m:t>𝒃</m:t>
                          </m:r>
                          <m:r>
                            <a:rPr lang="en-US" i="1">
                              <a:latin typeface="Cambria Math" panose="02040503050406030204" pitchFamily="18" charset="0"/>
                            </a:rPr>
                            <m:t>−</m:t>
                          </m:r>
                          <m:d>
                            <m:dPr>
                              <m:ctrlPr>
                                <a:rPr lang="en-US" i="1">
                                  <a:latin typeface="Cambria Math" panose="02040503050406030204" pitchFamily="18" charset="0"/>
                                </a:rPr>
                              </m:ctrlPr>
                            </m:dPr>
                            <m:e>
                              <m:r>
                                <a:rPr lang="en-US" i="1">
                                  <a:latin typeface="Cambria Math" panose="02040503050406030204" pitchFamily="18" charset="0"/>
                                </a:rPr>
                                <m:t>𝑳</m:t>
                              </m:r>
                              <m:r>
                                <a:rPr lang="en-US" i="1">
                                  <a:latin typeface="Cambria Math" panose="02040503050406030204" pitchFamily="18" charset="0"/>
                                </a:rPr>
                                <m:t>+</m:t>
                              </m:r>
                              <m:r>
                                <a:rPr lang="en-US" i="1">
                                  <a:latin typeface="Cambria Math" panose="02040503050406030204" pitchFamily="18" charset="0"/>
                                </a:rPr>
                                <m:t>𝑼</m:t>
                              </m:r>
                            </m:e>
                          </m:d>
                          <m:r>
                            <a:rPr lang="en-US" i="1">
                              <a:latin typeface="Cambria Math" panose="02040503050406030204" pitchFamily="18" charset="0"/>
                            </a:rPr>
                            <m:t>𝒙</m:t>
                          </m:r>
                        </m:e>
                      </m:d>
                    </m:oMath>
                  </m:oMathPara>
                </a14:m>
                <a:endParaRPr lang="en-US"/>
              </a:p>
              <a:p>
                <a:r>
                  <a:rPr lang="en-US"/>
                  <a:t>The fixed-point equation becomes a fixed-point iteration:</a:t>
                </a:r>
              </a:p>
              <a:p>
                <a:pPr/>
                <a14:m>
                  <m:oMathPara xmlns:m="http://schemas.openxmlformats.org/officeDocument/2006/math">
                    <m:oMath>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m:t>
                          </m:r>
                          <m:r>
                            <a:rPr lang="en-GB" b="0" i="1" smtClean="0">
                              <a:latin typeface="Cambria Math" panose="02040503050406030204" pitchFamily="18" charset="0"/>
                            </a:rPr>
                            <m:t>𝑡</m:t>
                          </m:r>
                          <m:r>
                            <a:rPr lang="en-GB" b="0" i="1" smtClean="0">
                              <a:latin typeface="Cambria Math" panose="02040503050406030204" pitchFamily="18" charset="0"/>
                            </a:rPr>
                            <m:t>+1)</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𝑫</m:t>
                          </m:r>
                        </m:e>
                        <m:sup>
                          <m:r>
                            <a:rPr lang="en-GB" b="0" i="1" smtClean="0">
                              <a:latin typeface="Cambria Math" panose="02040503050406030204" pitchFamily="18" charset="0"/>
                            </a:rPr>
                            <m:t>−1</m:t>
                          </m:r>
                        </m:sup>
                      </m:sSup>
                      <m:r>
                        <a:rPr lang="en-GB" b="0" i="1" smtClean="0">
                          <a:latin typeface="Cambria Math" panose="02040503050406030204" pitchFamily="18" charset="0"/>
                        </a:rPr>
                        <m:t>(</m:t>
                      </m:r>
                      <m:r>
                        <a:rPr lang="en-GB" b="0" i="1" smtClean="0">
                          <a:latin typeface="Cambria Math" panose="02040503050406030204" pitchFamily="18" charset="0"/>
                        </a:rPr>
                        <m:t>𝒃</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𝑳</m:t>
                          </m:r>
                          <m:r>
                            <a:rPr lang="en-GB" b="0" i="1" smtClean="0">
                              <a:latin typeface="Cambria Math" panose="02040503050406030204" pitchFamily="18" charset="0"/>
                            </a:rPr>
                            <m:t>+</m:t>
                          </m:r>
                          <m:r>
                            <a:rPr lang="en-GB" b="0" i="1" smtClean="0">
                              <a:latin typeface="Cambria Math" panose="02040503050406030204" pitchFamily="18" charset="0"/>
                            </a:rPr>
                            <m:t>𝑼</m:t>
                          </m:r>
                        </m:e>
                      </m:d>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m:t>
                          </m:r>
                          <m:r>
                            <a:rPr lang="en-GB" b="0" i="1" smtClean="0">
                              <a:latin typeface="Cambria Math" panose="02040503050406030204" pitchFamily="18" charset="0"/>
                            </a:rPr>
                            <m:t>𝑡</m:t>
                          </m:r>
                          <m:r>
                            <a:rPr lang="en-GB" b="0" i="1" smtClean="0">
                              <a:latin typeface="Cambria Math" panose="02040503050406030204" pitchFamily="18" charset="0"/>
                            </a:rPr>
                            <m:t>)</m:t>
                          </m:r>
                        </m:sup>
                      </m:sSup>
                      <m:r>
                        <a:rPr lang="en-GB" b="0" i="1" smtClean="0">
                          <a:latin typeface="Cambria Math" panose="02040503050406030204" pitchFamily="18" charset="0"/>
                        </a:rPr>
                        <m:t>)</m:t>
                      </m:r>
                    </m:oMath>
                  </m:oMathPara>
                </a14:m>
                <a:endParaRPr lang="en-US"/>
              </a:p>
              <a:p>
                <a:endParaRPr lang="en-US"/>
              </a:p>
              <a:p>
                <a:r>
                  <a:rPr lang="en-US"/>
                  <a:t>In standard Jacobi iteration, you would update per equation, keeping all other equations fixed;</a:t>
                </a:r>
              </a:p>
              <a:p>
                <a:pPr/>
                <a14:m>
                  <m:oMathPara xmlns:m="http://schemas.openxmlformats.org/officeDocument/2006/math">
                    <m:o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𝑥</m:t>
                          </m:r>
                        </m:e>
                        <m:sub>
                          <m:r>
                            <a:rPr lang="en-GB" b="0" i="1" smtClean="0">
                              <a:latin typeface="Cambria Math" panose="02040503050406030204" pitchFamily="18" charset="0"/>
                            </a:rPr>
                            <m:t>𝑖</m:t>
                          </m:r>
                        </m:sub>
                        <m:sup>
                          <m:r>
                            <a:rPr lang="en-GB" b="0" i="1" smtClean="0">
                              <a:latin typeface="Cambria Math" panose="02040503050406030204" pitchFamily="18" charset="0"/>
                            </a:rPr>
                            <m:t>(</m:t>
                          </m:r>
                          <m:r>
                            <a:rPr lang="en-GB" b="0" i="1" smtClean="0">
                              <a:latin typeface="Cambria Math" panose="02040503050406030204" pitchFamily="18" charset="0"/>
                            </a:rPr>
                            <m:t>𝑡</m:t>
                          </m:r>
                          <m:r>
                            <a:rPr lang="en-GB" b="0" i="1" smtClean="0">
                              <a:latin typeface="Cambria Math" panose="02040503050406030204" pitchFamily="18" charset="0"/>
                            </a:rPr>
                            <m:t>+1)</m:t>
                          </m:r>
                        </m:sup>
                      </m:sSubSup>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b="0" i="1" smtClean="0">
                                  <a:latin typeface="Cambria Math" panose="02040503050406030204" pitchFamily="18" charset="0"/>
                                </a:rPr>
                                <m:t>𝑖𝑖</m:t>
                              </m:r>
                            </m:sub>
                          </m:sSub>
                        </m:den>
                      </m:f>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𝑖</m:t>
                              </m:r>
                            </m:sub>
                          </m:sSub>
                          <m:r>
                            <a:rPr lang="en-GB" b="0" i="1" smtClean="0">
                              <a:latin typeface="Cambria Math" panose="02040503050406030204" pitchFamily="18" charset="0"/>
                            </a:rPr>
                            <m:t>−</m:t>
                          </m:r>
                          <m:nary>
                            <m:naryPr>
                              <m:chr m:val="∑"/>
                              <m:supHide m:val="on"/>
                              <m:ctrlPr>
                                <a:rPr lang="en-GB" b="0" i="1" smtClean="0">
                                  <a:latin typeface="Cambria Math" panose="02040503050406030204" pitchFamily="18" charset="0"/>
                                </a:rPr>
                              </m:ctrlPr>
                            </m:naryPr>
                            <m:sub>
                              <m:r>
                                <m:rPr>
                                  <m:brk m:alnAt="7"/>
                                </m:rPr>
                                <a:rPr lang="en-GB" b="0" i="1" smtClean="0">
                                  <a:latin typeface="Cambria Math" panose="02040503050406030204" pitchFamily="18" charset="0"/>
                                </a:rPr>
                                <m:t>𝑗</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𝑖</m:t>
                              </m:r>
                            </m:sub>
                            <m:sup/>
                            <m:e>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b="0" i="1" smtClean="0">
                                      <a:latin typeface="Cambria Math" panose="02040503050406030204" pitchFamily="18" charset="0"/>
                                    </a:rPr>
                                    <m:t>𝑖𝑗</m:t>
                                  </m:r>
                                </m:sub>
                              </m:sSub>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𝑥</m:t>
                                  </m:r>
                                </m:e>
                                <m:sub>
                                  <m:r>
                                    <a:rPr lang="en-GB" b="0" i="1" smtClean="0">
                                      <a:latin typeface="Cambria Math" panose="02040503050406030204" pitchFamily="18" charset="0"/>
                                    </a:rPr>
                                    <m:t>𝑗</m:t>
                                  </m:r>
                                </m:sub>
                                <m:sup>
                                  <m:d>
                                    <m:dPr>
                                      <m:ctrlPr>
                                        <a:rPr lang="en-GB" b="0" i="1" smtClean="0">
                                          <a:latin typeface="Cambria Math" panose="02040503050406030204" pitchFamily="18" charset="0"/>
                                        </a:rPr>
                                      </m:ctrlPr>
                                    </m:dPr>
                                    <m:e>
                                      <m:r>
                                        <a:rPr lang="en-GB" b="0" i="1" smtClean="0">
                                          <a:latin typeface="Cambria Math" panose="02040503050406030204" pitchFamily="18" charset="0"/>
                                        </a:rPr>
                                        <m:t>𝑡</m:t>
                                      </m:r>
                                    </m:e>
                                  </m:d>
                                </m:sup>
                              </m:sSubSup>
                            </m:e>
                          </m:nary>
                        </m:e>
                      </m:d>
                    </m:oMath>
                  </m:oMathPara>
                </a14:m>
                <a:endParaRPr lang="en-US"/>
              </a:p>
            </p:txBody>
          </p:sp>
        </mc:Choice>
        <mc:Fallback xmlns="">
          <p:sp>
            <p:nvSpPr>
              <p:cNvPr id="3" name="Tijdelijke aanduiding voor inhoud 2">
                <a:extLst>
                  <a:ext uri="{FF2B5EF4-FFF2-40B4-BE49-F238E27FC236}">
                    <a16:creationId xmlns:a16="http://schemas.microsoft.com/office/drawing/2014/main" id="{AB34F4C4-04AA-83F7-FF9F-6752F26C3CC5}"/>
                  </a:ext>
                </a:extLst>
              </p:cNvPr>
              <p:cNvSpPr>
                <a:spLocks noGrp="1" noRot="1" noChangeAspect="1" noMove="1" noResize="1" noEditPoints="1" noAdjustHandles="1" noChangeArrowheads="1" noChangeShapeType="1" noTextEdit="1"/>
              </p:cNvSpPr>
              <p:nvPr>
                <p:ph idx="1"/>
              </p:nvPr>
            </p:nvSpPr>
            <p:spPr>
              <a:blipFill>
                <a:blip r:embed="rId3"/>
                <a:stretch>
                  <a:fillRect l="-1538" t="-2026"/>
                </a:stretch>
              </a:blipFill>
            </p:spPr>
            <p:txBody>
              <a:bodyPr/>
              <a:lstStyle/>
              <a:p>
                <a:r>
                  <a:rPr lang="en-US">
                    <a:noFill/>
                  </a:rPr>
                  <a:t> </a:t>
                </a:r>
              </a:p>
            </p:txBody>
          </p:sp>
        </mc:Fallback>
      </mc:AlternateContent>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CC87C-EB56-66FF-370A-9CF0C3AA28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BF6158-C3C3-6241-32F3-C591B515584F}"/>
              </a:ext>
            </a:extLst>
          </p:cNvPr>
          <p:cNvSpPr>
            <a:spLocks noGrp="1"/>
          </p:cNvSpPr>
          <p:nvPr>
            <p:ph type="title"/>
          </p:nvPr>
        </p:nvSpPr>
        <p:spPr/>
        <p:txBody>
          <a:bodyPr/>
          <a:lstStyle/>
          <a:p>
            <a:r>
              <a:rPr lang="en-GB" sz="2600" b="1">
                <a:latin typeface="Calibri"/>
              </a:rPr>
              <a:t>Jacobi method</a:t>
            </a:r>
            <a:endParaRPr sz="2600" b="1">
              <a:latin typeface="Calibri"/>
            </a:endParaRPr>
          </a:p>
        </p:txBody>
      </p:sp>
      <p:pic>
        <p:nvPicPr>
          <p:cNvPr id="4" name="jacobi-sweep">
            <a:hlinkClick r:id="" action="ppaction://media"/>
            <a:extLst>
              <a:ext uri="{FF2B5EF4-FFF2-40B4-BE49-F238E27FC236}">
                <a16:creationId xmlns:a16="http://schemas.microsoft.com/office/drawing/2014/main" id="{C901A669-050F-0656-92FE-89F9DEBB33A9}"/>
              </a:ext>
            </a:extLst>
          </p:cNvPr>
          <p:cNvPicPr>
            <a:picLocks noGrp="1" noChangeAspect="1"/>
          </p:cNvPicPr>
          <p:nvPr>
            <p:ph idx="1"/>
            <a:videoFile r:link="rId2"/>
            <p:extLst>
              <p:ext uri="{DAA4B4D4-6D71-4841-9C94-3DE7FCFB9230}">
                <p14:media xmlns:p14="http://schemas.microsoft.com/office/powerpoint/2010/main" r:embed="rId1"/>
              </p:ext>
            </p:extLst>
          </p:nvPr>
        </p:nvPicPr>
        <p:blipFill>
          <a:blip r:embed="rId5"/>
          <a:srcRect l="3377" r="7575" b="9223"/>
          <a:stretch>
            <a:fillRect/>
          </a:stretch>
        </p:blipFill>
        <p:spPr>
          <a:xfrm>
            <a:off x="262890" y="1454058"/>
            <a:ext cx="8618220" cy="2804160"/>
          </a:xfrm>
        </p:spPr>
      </p:pic>
      <p:sp>
        <p:nvSpPr>
          <p:cNvPr id="6" name="Tijdelijke aanduiding voor dianummer 5">
            <a:extLst>
              <a:ext uri="{FF2B5EF4-FFF2-40B4-BE49-F238E27FC236}">
                <a16:creationId xmlns:a16="http://schemas.microsoft.com/office/drawing/2014/main" id="{9FCB16B3-0018-7847-52BD-50969C47E98C}"/>
              </a:ext>
            </a:extLst>
          </p:cNvPr>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10</a:t>
            </a:fld>
            <a:endParaRPr lang="en-US"/>
          </a:p>
        </p:txBody>
      </p:sp>
    </p:spTree>
    <p:extLst>
      <p:ext uri="{BB962C8B-B14F-4D97-AF65-F5344CB8AC3E}">
        <p14:creationId xmlns:p14="http://schemas.microsoft.com/office/powerpoint/2010/main" val="40652104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4400"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DE8F9-6F68-3EEB-0943-528C2F565C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48FBA4-B6AC-AFA4-7AE5-EC7FBC8473B7}"/>
              </a:ext>
            </a:extLst>
          </p:cNvPr>
          <p:cNvSpPr>
            <a:spLocks noGrp="1"/>
          </p:cNvSpPr>
          <p:nvPr>
            <p:ph type="title"/>
          </p:nvPr>
        </p:nvSpPr>
        <p:spPr/>
        <p:txBody>
          <a:bodyPr/>
          <a:lstStyle/>
          <a:p>
            <a:r>
              <a:rPr lang="en-GB" sz="2600" b="1">
                <a:latin typeface="Calibri"/>
              </a:rPr>
              <a:t>Gauss-Seidel method</a:t>
            </a:r>
            <a:endParaRPr sz="2600" b="1">
              <a:latin typeface="Calibri"/>
            </a:endParaRPr>
          </a:p>
        </p:txBody>
      </p:sp>
      <mc:AlternateContent xmlns:mc="http://schemas.openxmlformats.org/markup-compatibility/2006" xmlns:a14="http://schemas.microsoft.com/office/drawing/2010/main">
        <mc:Choice Requires="a14">
          <p:sp>
            <p:nvSpPr>
              <p:cNvPr id="3" name="Tijdelijke aanduiding voor inhoud 2">
                <a:extLst>
                  <a:ext uri="{FF2B5EF4-FFF2-40B4-BE49-F238E27FC236}">
                    <a16:creationId xmlns:a16="http://schemas.microsoft.com/office/drawing/2014/main" id="{7A34600D-FF2F-84CA-42A2-88972CA1D819}"/>
                  </a:ext>
                </a:extLst>
              </p:cNvPr>
              <p:cNvSpPr>
                <a:spLocks noGrp="1"/>
              </p:cNvSpPr>
              <p:nvPr>
                <p:ph idx="1"/>
              </p:nvPr>
            </p:nvSpPr>
            <p:spPr/>
            <p:txBody>
              <a:bodyPr/>
              <a:lstStyle/>
              <a:p>
                <a:r>
                  <a:rPr lang="en-GB"/>
                  <a:t>Gauss-Seidel is essentially the same but now you use the already computed values;</a:t>
                </a:r>
              </a:p>
              <a:p>
                <a:pPr/>
                <a14:m>
                  <m:oMathPara xmlns:m="http://schemas.openxmlformats.org/officeDocument/2006/math">
                    <m:oMath>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m:t>
                          </m:r>
                          <m:r>
                            <a:rPr lang="en-GB" b="0" i="1" smtClean="0">
                              <a:latin typeface="Cambria Math" panose="02040503050406030204" pitchFamily="18" charset="0"/>
                            </a:rPr>
                            <m:t>𝑡</m:t>
                          </m:r>
                          <m:r>
                            <a:rPr lang="en-GB" b="0" i="1" smtClean="0">
                              <a:latin typeface="Cambria Math" panose="02040503050406030204" pitchFamily="18" charset="0"/>
                            </a:rPr>
                            <m:t>+1)</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d>
                            <m:dPr>
                              <m:ctrlPr>
                                <a:rPr lang="en-GB" b="0" i="0" smtClean="0">
                                  <a:latin typeface="Cambria Math" panose="02040503050406030204" pitchFamily="18" charset="0"/>
                                </a:rPr>
                              </m:ctrlPr>
                            </m:dPr>
                            <m:e>
                              <m:r>
                                <a:rPr lang="en-GB" b="0" i="0" smtClean="0">
                                  <a:latin typeface="Cambria Math" panose="02040503050406030204" pitchFamily="18" charset="0"/>
                                </a:rPr>
                                <m:t>𝑫</m:t>
                              </m:r>
                              <m:r>
                                <a:rPr lang="en-GB" b="0" i="0" smtClean="0">
                                  <a:latin typeface="Cambria Math" panose="02040503050406030204" pitchFamily="18" charset="0"/>
                                </a:rPr>
                                <m:t>+</m:t>
                              </m:r>
                              <m:r>
                                <a:rPr lang="en-GB" b="0" i="0" smtClean="0">
                                  <a:latin typeface="Cambria Math" panose="02040503050406030204" pitchFamily="18" charset="0"/>
                                </a:rPr>
                                <m:t>𝑳</m:t>
                              </m:r>
                            </m:e>
                          </m:d>
                        </m:e>
                        <m:sup>
                          <m:r>
                            <a:rPr lang="en-GB" b="0" i="0" smtClean="0">
                              <a:latin typeface="Cambria Math" panose="02040503050406030204" pitchFamily="18" charset="0"/>
                            </a:rPr>
                            <m:t>−1</m:t>
                          </m:r>
                        </m:sup>
                      </m:sSup>
                      <m:r>
                        <a:rPr lang="en-GB" b="0" i="0" smtClean="0">
                          <a:latin typeface="Cambria Math" panose="02040503050406030204" pitchFamily="18" charset="0"/>
                        </a:rPr>
                        <m:t>(</m:t>
                      </m:r>
                      <m:r>
                        <a:rPr lang="en-GB" b="0" i="0" smtClean="0">
                          <a:latin typeface="Cambria Math" panose="02040503050406030204" pitchFamily="18" charset="0"/>
                        </a:rPr>
                        <m:t>𝒃</m:t>
                      </m:r>
                      <m:r>
                        <a:rPr lang="en-GB" b="0" i="0" smtClean="0">
                          <a:latin typeface="Cambria Math" panose="02040503050406030204" pitchFamily="18" charset="0"/>
                        </a:rPr>
                        <m:t>−</m:t>
                      </m:r>
                      <m:sSup>
                        <m:sSupPr>
                          <m:ctrlPr>
                            <a:rPr lang="en-GB" b="0" i="0" smtClean="0">
                              <a:latin typeface="Cambria Math" panose="02040503050406030204" pitchFamily="18" charset="0"/>
                            </a:rPr>
                          </m:ctrlPr>
                        </m:sSupPr>
                        <m:e>
                          <m:r>
                            <a:rPr lang="en-GB" b="0" i="0" smtClean="0">
                              <a:latin typeface="Cambria Math" panose="02040503050406030204" pitchFamily="18" charset="0"/>
                            </a:rPr>
                            <m:t>𝑼𝒙</m:t>
                          </m:r>
                        </m:e>
                        <m:sup>
                          <m:r>
                            <a:rPr lang="en-GB" b="0" i="0" smtClean="0">
                              <a:latin typeface="Cambria Math" panose="02040503050406030204" pitchFamily="18" charset="0"/>
                            </a:rPr>
                            <m:t>(</m:t>
                          </m:r>
                          <m:r>
                            <m:rPr>
                              <m:sty m:val="p"/>
                            </m:rPr>
                            <a:rPr lang="en-GB" b="0" i="0" smtClean="0">
                              <a:latin typeface="Cambria Math" panose="02040503050406030204" pitchFamily="18" charset="0"/>
                            </a:rPr>
                            <m:t>t</m:t>
                          </m:r>
                          <m:r>
                            <a:rPr lang="en-GB" b="0" i="0" smtClean="0">
                              <a:latin typeface="Cambria Math" panose="02040503050406030204" pitchFamily="18" charset="0"/>
                            </a:rPr>
                            <m:t>)</m:t>
                          </m:r>
                        </m:sup>
                      </m:sSup>
                      <m:r>
                        <a:rPr lang="en-GB" b="0" i="0" smtClean="0">
                          <a:latin typeface="Cambria Math" panose="02040503050406030204" pitchFamily="18" charset="0"/>
                        </a:rPr>
                        <m:t>)</m:t>
                      </m:r>
                    </m:oMath>
                  </m:oMathPara>
                </a14:m>
                <a:endParaRPr lang="en-US"/>
              </a:p>
            </p:txBody>
          </p:sp>
        </mc:Choice>
        <mc:Fallback xmlns="">
          <p:sp>
            <p:nvSpPr>
              <p:cNvPr id="3" name="Tijdelijke aanduiding voor inhoud 2">
                <a:extLst>
                  <a:ext uri="{FF2B5EF4-FFF2-40B4-BE49-F238E27FC236}">
                    <a16:creationId xmlns:a16="http://schemas.microsoft.com/office/drawing/2014/main" id="{7A34600D-FF2F-84CA-42A2-88972CA1D819}"/>
                  </a:ext>
                </a:extLst>
              </p:cNvPr>
              <p:cNvSpPr>
                <a:spLocks noGrp="1" noRot="1" noChangeAspect="1" noMove="1" noResize="1" noEditPoints="1" noAdjustHandles="1" noChangeArrowheads="1" noChangeShapeType="1" noTextEdit="1"/>
              </p:cNvSpPr>
              <p:nvPr>
                <p:ph idx="1"/>
              </p:nvPr>
            </p:nvSpPr>
            <p:spPr>
              <a:blipFill>
                <a:blip r:embed="rId5"/>
                <a:stretch>
                  <a:fillRect l="-1538" t="-2026"/>
                </a:stretch>
              </a:blipFill>
            </p:spPr>
            <p:txBody>
              <a:bodyPr/>
              <a:lstStyle/>
              <a:p>
                <a:r>
                  <a:rPr lang="en-US">
                    <a:noFill/>
                  </a:rPr>
                  <a:t> </a:t>
                </a:r>
              </a:p>
            </p:txBody>
          </p:sp>
        </mc:Fallback>
      </mc:AlternateContent>
      <p:sp>
        <p:nvSpPr>
          <p:cNvPr id="6" name="Tijdelijke aanduiding voor dianummer 5">
            <a:extLst>
              <a:ext uri="{FF2B5EF4-FFF2-40B4-BE49-F238E27FC236}">
                <a16:creationId xmlns:a16="http://schemas.microsoft.com/office/drawing/2014/main" id="{BB944586-20D7-49A8-F822-419053391186}"/>
              </a:ext>
            </a:extLst>
          </p:cNvPr>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11</a:t>
            </a:fld>
            <a:endParaRPr lang="en-US"/>
          </a:p>
        </p:txBody>
      </p:sp>
      <p:pic>
        <p:nvPicPr>
          <p:cNvPr id="22" name="gauss-seidel-sweep">
            <a:hlinkClick r:id="" action="ppaction://media"/>
            <a:extLst>
              <a:ext uri="{FF2B5EF4-FFF2-40B4-BE49-F238E27FC236}">
                <a16:creationId xmlns:a16="http://schemas.microsoft.com/office/drawing/2014/main" id="{25F900F9-A7CD-2A36-FD9A-7A755BB8A291}"/>
              </a:ext>
            </a:extLst>
          </p:cNvPr>
          <p:cNvPicPr>
            <a:picLocks noChangeAspect="1"/>
          </p:cNvPicPr>
          <p:nvPr>
            <a:videoFile r:link="rId2"/>
            <p:extLst>
              <p:ext uri="{DAA4B4D4-6D71-4841-9C94-3DE7FCFB9230}">
                <p14:media xmlns:p14="http://schemas.microsoft.com/office/powerpoint/2010/main" r:embed="rId1"/>
              </p:ext>
            </p:extLst>
          </p:nvPr>
        </p:nvPicPr>
        <p:blipFill>
          <a:blip r:embed="rId6"/>
          <a:srcRect l="2694" r="2627" b="8341"/>
          <a:stretch>
            <a:fillRect/>
          </a:stretch>
        </p:blipFill>
        <p:spPr>
          <a:xfrm>
            <a:off x="373380" y="1933485"/>
            <a:ext cx="8533856" cy="2636928"/>
          </a:xfrm>
          <a:prstGeom prst="rect">
            <a:avLst/>
          </a:prstGeom>
        </p:spPr>
      </p:pic>
    </p:spTree>
    <p:extLst>
      <p:ext uri="{BB962C8B-B14F-4D97-AF65-F5344CB8AC3E}">
        <p14:creationId xmlns:p14="http://schemas.microsoft.com/office/powerpoint/2010/main" val="696880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14400"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15" restart="whenNotActive" fill="hold" evtFilter="cancelBubble" nodeType="interactiveSeq">
                <p:stCondLst>
                  <p:cond evt="onClick" delay="0">
                    <p:tgtEl>
                      <p:spTgt spid="22"/>
                    </p:tgtEl>
                  </p:cond>
                </p:stCondLst>
                <p:endSync evt="end" delay="0">
                  <p:rtn val="all"/>
                </p:endSync>
                <p:childTnLst>
                  <p:par>
                    <p:cTn id="16" fill="hold">
                      <p:stCondLst>
                        <p:cond delay="0"/>
                      </p:stCondLst>
                      <p:childTnLst>
                        <p:par>
                          <p:cTn id="17" fill="hold">
                            <p:stCondLst>
                              <p:cond delay="0"/>
                            </p:stCondLst>
                            <p:childTnLst>
                              <p:par>
                                <p:cTn id="18" presetID="2" presetClass="mediacall" presetSubtype="0" fill="hold" nodeType="clickEffect">
                                  <p:stCondLst>
                                    <p:cond delay="0"/>
                                  </p:stCondLst>
                                  <p:childTnLst>
                                    <p:cmd type="call" cmd="togglePause">
                                      <p:cBhvr>
                                        <p:cTn id="19" dur="1" fill="hold"/>
                                        <p:tgtEl>
                                          <p:spTgt spid="22"/>
                                        </p:tgtEl>
                                      </p:cBhvr>
                                    </p:cmd>
                                  </p:childTnLst>
                                </p:cTn>
                              </p:par>
                            </p:childTnLst>
                          </p:cTn>
                        </p:par>
                      </p:childTnLst>
                    </p:cTn>
                  </p:par>
                </p:childTnLst>
              </p:cTn>
              <p:nextCondLst>
                <p:cond evt="onClick" delay="0">
                  <p:tgtEl>
                    <p:spTgt spid="22"/>
                  </p:tgtEl>
                </p:cond>
              </p:nextCondLst>
            </p:seq>
            <p:video>
              <p:cMediaNode vol="80000">
                <p:cTn id="20" fill="hold" display="0">
                  <p:stCondLst>
                    <p:cond delay="indefinite"/>
                  </p:stCondLst>
                </p:cTn>
                <p:tgtEl>
                  <p:spTgt spid="22"/>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2600" b="1">
                <a:latin typeface="Calibri"/>
              </a:rPr>
              <a:t>Conjugate gradient method</a:t>
            </a:r>
            <a:endParaRPr sz="2600" b="1">
              <a:latin typeface="Calibri"/>
            </a:endParaRPr>
          </a:p>
        </p:txBody>
      </p:sp>
      <mc:AlternateContent xmlns:mc="http://schemas.openxmlformats.org/markup-compatibility/2006" xmlns:a14="http://schemas.microsoft.com/office/drawing/2010/main">
        <mc:Choice Requires="a14">
          <p:sp>
            <p:nvSpPr>
              <p:cNvPr id="3" name="Tijdelijke aanduiding voor inhoud 2">
                <a:extLst>
                  <a:ext uri="{FF2B5EF4-FFF2-40B4-BE49-F238E27FC236}">
                    <a16:creationId xmlns:a16="http://schemas.microsoft.com/office/drawing/2014/main" id="{2E202ECF-003B-64D8-7712-B7D4E0EB8AFC}"/>
                  </a:ext>
                </a:extLst>
              </p:cNvPr>
              <p:cNvSpPr>
                <a:spLocks noGrp="1"/>
              </p:cNvSpPr>
              <p:nvPr>
                <p:ph idx="1"/>
              </p:nvPr>
            </p:nvSpPr>
            <p:spPr/>
            <p:txBody>
              <a:bodyPr/>
              <a:lstStyle/>
              <a:p>
                <a:r>
                  <a:rPr lang="en-GB" dirty="0"/>
                  <a:t>Consider the quadratic function </a:t>
                </a:r>
                <a14:m>
                  <m:oMath xmlns:m="http://schemas.openxmlformats.org/officeDocument/2006/math">
                    <m:r>
                      <a:rPr lang="en-GB" b="0" i="1" smtClean="0">
                        <a:latin typeface="Cambria Math" panose="02040503050406030204" pitchFamily="18" charset="0"/>
                      </a:rPr>
                      <m:t>𝑓</m:t>
                    </m:r>
                    <m:d>
                      <m:dPr>
                        <m:ctrlPr>
                          <a:rPr lang="en-GB" b="0" i="1" smtClean="0">
                            <a:latin typeface="Cambria Math" panose="02040503050406030204" pitchFamily="18" charset="0"/>
                          </a:rPr>
                        </m:ctrlPr>
                      </m:dPr>
                      <m:e>
                        <m:r>
                          <a:rPr lang="en-GB" b="0" i="1" smtClean="0">
                            <a:latin typeface="Cambria Math" panose="02040503050406030204" pitchFamily="18" charset="0"/>
                          </a:rPr>
                          <m:t>𝒙</m:t>
                        </m:r>
                      </m:e>
                    </m:d>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𝑇</m:t>
                        </m:r>
                      </m:sup>
                    </m:sSup>
                    <m:r>
                      <a:rPr lang="en-GB" b="0" i="1" smtClean="0">
                        <a:latin typeface="Cambria Math" panose="02040503050406030204" pitchFamily="18" charset="0"/>
                      </a:rPr>
                      <m:t>𝑨𝒙</m:t>
                    </m:r>
                    <m:r>
                      <a:rPr lang="en-GB" b="0" i="1" smtClean="0">
                        <a:latin typeface="Cambria Math" panose="02040503050406030204" pitchFamily="18" charset="0"/>
                      </a:rPr>
                      <m:t>−2</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𝒃</m:t>
                        </m:r>
                      </m:e>
                      <m:sup>
                        <m:r>
                          <a:rPr lang="en-GB" b="0" i="1" smtClean="0">
                            <a:latin typeface="Cambria Math" panose="02040503050406030204" pitchFamily="18" charset="0"/>
                          </a:rPr>
                          <m:t>𝑇</m:t>
                        </m:r>
                      </m:sup>
                    </m:sSup>
                    <m:r>
                      <a:rPr lang="en-GB" b="0" i="1" smtClean="0">
                        <a:latin typeface="Cambria Math" panose="02040503050406030204" pitchFamily="18" charset="0"/>
                      </a:rPr>
                      <m:t>𝒙</m:t>
                    </m:r>
                    <m:r>
                      <a:rPr lang="en-GB" b="0" i="0" smtClean="0">
                        <a:latin typeface="Cambria Math" panose="02040503050406030204" pitchFamily="18" charset="0"/>
                      </a:rPr>
                      <m:t>.</m:t>
                    </m:r>
                  </m:oMath>
                </a14:m>
                <a:r>
                  <a:rPr lang="en-US" dirty="0"/>
                  <a:t> </a:t>
                </a:r>
              </a:p>
              <a:p>
                <a:r>
                  <a:rPr lang="en-US" dirty="0"/>
                  <a:t>For symmetric positive definite </a:t>
                </a:r>
                <a14:m>
                  <m:oMath xmlns:m="http://schemas.openxmlformats.org/officeDocument/2006/math">
                    <m:r>
                      <a:rPr lang="en-GB" b="0" i="1" smtClean="0">
                        <a:latin typeface="Cambria Math" panose="02040503050406030204" pitchFamily="18" charset="0"/>
                      </a:rPr>
                      <m:t>𝐴</m:t>
                    </m:r>
                  </m:oMath>
                </a14:m>
                <a:r>
                  <a:rPr lang="en-US" dirty="0"/>
                  <a:t>, </a:t>
                </a:r>
                <a14:m>
                  <m:oMath xmlns:m="http://schemas.openxmlformats.org/officeDocument/2006/math">
                    <m:r>
                      <a:rPr lang="en-GB" b="0" i="1" smtClean="0">
                        <a:latin typeface="Cambria Math" panose="02040503050406030204" pitchFamily="18" charset="0"/>
                      </a:rPr>
                      <m:t>𝑓</m:t>
                    </m:r>
                    <m:d>
                      <m:dPr>
                        <m:ctrlPr>
                          <a:rPr lang="en-GB" b="1" i="1" smtClean="0">
                            <a:latin typeface="Cambria Math" panose="02040503050406030204" pitchFamily="18" charset="0"/>
                          </a:rPr>
                        </m:ctrlPr>
                      </m:dPr>
                      <m:e>
                        <m:r>
                          <a:rPr lang="en-GB" b="1" i="1" smtClean="0">
                            <a:latin typeface="Cambria Math" panose="02040503050406030204" pitchFamily="18" charset="0"/>
                          </a:rPr>
                          <m:t>𝒙</m:t>
                        </m:r>
                      </m:e>
                    </m:d>
                  </m:oMath>
                </a14:m>
                <a:r>
                  <a:rPr lang="en-US" dirty="0"/>
                  <a:t> will be minimal when its derivative, </a:t>
                </a:r>
                <a14:m>
                  <m:oMath xmlns:m="http://schemas.openxmlformats.org/officeDocument/2006/math">
                    <m:r>
                      <a:rPr lang="en-GB" b="0" i="0" smtClean="0">
                        <a:latin typeface="Cambria Math" panose="02040503050406030204" pitchFamily="18" charset="0"/>
                      </a:rPr>
                      <m:t>2</m:t>
                    </m:r>
                    <m:r>
                      <a:rPr lang="en-GB" b="0" i="1" smtClean="0">
                        <a:latin typeface="Cambria Math" panose="02040503050406030204" pitchFamily="18" charset="0"/>
                      </a:rPr>
                      <m:t>𝑨𝒙</m:t>
                    </m:r>
                    <m:r>
                      <a:rPr lang="en-GB" b="0" i="1" smtClean="0">
                        <a:latin typeface="Cambria Math" panose="02040503050406030204" pitchFamily="18" charset="0"/>
                      </a:rPr>
                      <m:t>−2</m:t>
                    </m:r>
                    <m:r>
                      <a:rPr lang="en-GB" b="0" i="1" smtClean="0">
                        <a:latin typeface="Cambria Math" panose="02040503050406030204" pitchFamily="18" charset="0"/>
                      </a:rPr>
                      <m:t>𝒃</m:t>
                    </m:r>
                  </m:oMath>
                </a14:m>
                <a:r>
                  <a:rPr lang="en-US" dirty="0"/>
                  <a:t>, is 0.</a:t>
                </a:r>
              </a:p>
              <a:p>
                <a:endParaRPr lang="en-US" dirty="0"/>
              </a:p>
              <a:p>
                <a:r>
                  <a:rPr lang="en-US" dirty="0"/>
                  <a:t>Algorithm:</a:t>
                </a:r>
              </a:p>
              <a:p>
                <a:pPr marL="342900" indent="-342900">
                  <a:buFont typeface="Arial" panose="020B0604020202020204" pitchFamily="34" charset="0"/>
                  <a:buChar char="•"/>
                </a:pPr>
                <a:r>
                  <a:rPr lang="en-US" dirty="0"/>
                  <a:t>Start with an initial point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(0)</m:t>
                        </m:r>
                      </m:sup>
                    </m:sSup>
                  </m:oMath>
                </a14:m>
                <a:r>
                  <a:rPr lang="en-US" dirty="0"/>
                  <a:t> and initial residual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𝒓</m:t>
                        </m:r>
                      </m:e>
                      <m:sup>
                        <m:r>
                          <a:rPr lang="en-GB" b="0" i="1" smtClean="0">
                            <a:latin typeface="Cambria Math" panose="02040503050406030204" pitchFamily="18" charset="0"/>
                          </a:rPr>
                          <m:t>(0)</m:t>
                        </m:r>
                      </m:sup>
                    </m:sSup>
                    <m:r>
                      <a:rPr lang="en-GB" b="0" i="1" smtClean="0">
                        <a:latin typeface="Cambria Math" panose="02040503050406030204" pitchFamily="18" charset="0"/>
                      </a:rPr>
                      <m:t>=</m:t>
                    </m:r>
                    <m:r>
                      <a:rPr lang="en-GB" b="0" i="1" smtClean="0">
                        <a:latin typeface="Cambria Math" panose="02040503050406030204" pitchFamily="18" charset="0"/>
                      </a:rPr>
                      <m:t>𝒃</m:t>
                    </m:r>
                    <m:r>
                      <a:rPr lang="en-GB" b="0" i="1" smtClean="0">
                        <a:latin typeface="Cambria Math" panose="02040503050406030204" pitchFamily="18" charset="0"/>
                      </a:rPr>
                      <m:t>−</m:t>
                    </m:r>
                    <m:r>
                      <a:rPr lang="en-GB" b="0" i="1" smtClean="0">
                        <a:latin typeface="Cambria Math" panose="02040503050406030204" pitchFamily="18" charset="0"/>
                      </a:rPr>
                      <m:t>𝑨</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d>
                          <m:dPr>
                            <m:ctrlPr>
                              <a:rPr lang="en-GB" b="0" i="1" smtClean="0">
                                <a:latin typeface="Cambria Math" panose="02040503050406030204" pitchFamily="18" charset="0"/>
                              </a:rPr>
                            </m:ctrlPr>
                          </m:dPr>
                          <m:e>
                            <m:r>
                              <a:rPr lang="en-GB" b="0" i="1" smtClean="0">
                                <a:latin typeface="Cambria Math" panose="02040503050406030204" pitchFamily="18" charset="0"/>
                              </a:rPr>
                              <m:t>0</m:t>
                            </m:r>
                          </m:e>
                        </m:d>
                      </m:sup>
                    </m:sSup>
                  </m:oMath>
                </a14:m>
                <a:r>
                  <a:rPr lang="en-US" dirty="0"/>
                  <a:t>.</a:t>
                </a:r>
              </a:p>
              <a:p>
                <a:pPr marL="342900" indent="-342900">
                  <a:buFont typeface="Arial" panose="020B0604020202020204" pitchFamily="34" charset="0"/>
                  <a:buChar char="•"/>
                </a:pPr>
                <a:r>
                  <a:rPr lang="en-US" dirty="0"/>
                  <a:t>Pick a direction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𝒔</m:t>
                        </m:r>
                      </m:e>
                      <m:sub>
                        <m:r>
                          <a:rPr lang="en-GB" b="0" i="1" smtClean="0">
                            <a:latin typeface="Cambria Math" panose="02040503050406030204" pitchFamily="18" charset="0"/>
                          </a:rPr>
                          <m:t>0</m:t>
                        </m:r>
                      </m:sub>
                    </m:sSub>
                  </m:oMath>
                </a14:m>
                <a:r>
                  <a:rPr lang="en-US" dirty="0"/>
                  <a:t> and compute step size: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𝛼</m:t>
                        </m:r>
                      </m:e>
                      <m:sub>
                        <m:r>
                          <a:rPr lang="en-GB" b="0" i="1" smtClean="0">
                            <a:latin typeface="Cambria Math" panose="02040503050406030204" pitchFamily="18" charset="0"/>
                          </a:rPr>
                          <m:t>0</m:t>
                        </m:r>
                      </m:sub>
                    </m:sSub>
                    <m:r>
                      <a:rPr lang="en-GB" b="0" i="1" smtClean="0">
                        <a:latin typeface="Cambria Math" panose="02040503050406030204" pitchFamily="18" charset="0"/>
                      </a:rPr>
                      <m:t>=</m:t>
                    </m:r>
                    <m:f>
                      <m:fPr>
                        <m:ctrlPr>
                          <a:rPr lang="en-GB" b="0" i="1" smtClean="0">
                            <a:latin typeface="Cambria Math" panose="02040503050406030204" pitchFamily="18" charset="0"/>
                          </a:rPr>
                        </m:ctrlPr>
                      </m:fPr>
                      <m:num>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𝒔</m:t>
                            </m:r>
                          </m:e>
                          <m:sub>
                            <m:r>
                              <a:rPr lang="en-GB" b="0" i="1" smtClean="0">
                                <a:latin typeface="Cambria Math" panose="02040503050406030204" pitchFamily="18" charset="0"/>
                              </a:rPr>
                              <m:t>0</m:t>
                            </m:r>
                          </m:sub>
                          <m:sup>
                            <m:r>
                              <a:rPr lang="en-GB" b="0" i="1" smtClean="0">
                                <a:latin typeface="Cambria Math" panose="02040503050406030204" pitchFamily="18" charset="0"/>
                              </a:rPr>
                              <m:t>𝑇</m:t>
                            </m:r>
                          </m:sup>
                        </m:sSubSup>
                        <m:sSup>
                          <m:sSupPr>
                            <m:ctrlPr>
                              <a:rPr lang="en-GB" i="1">
                                <a:latin typeface="Cambria Math" panose="02040503050406030204" pitchFamily="18" charset="0"/>
                              </a:rPr>
                            </m:ctrlPr>
                          </m:sSupPr>
                          <m:e>
                            <m:r>
                              <a:rPr lang="en-GB" i="1">
                                <a:latin typeface="Cambria Math" panose="02040503050406030204" pitchFamily="18" charset="0"/>
                              </a:rPr>
                              <m:t>𝒓</m:t>
                            </m:r>
                          </m:e>
                          <m:sup>
                            <m:r>
                              <a:rPr lang="en-GB" i="1">
                                <a:latin typeface="Cambria Math" panose="02040503050406030204" pitchFamily="18" charset="0"/>
                              </a:rPr>
                              <m:t>(0)</m:t>
                            </m:r>
                          </m:sup>
                        </m:sSup>
                      </m:num>
                      <m:den>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𝒔</m:t>
                            </m:r>
                          </m:e>
                          <m:sub>
                            <m:r>
                              <a:rPr lang="en-GB" b="0" i="1" smtClean="0">
                                <a:latin typeface="Cambria Math" panose="02040503050406030204" pitchFamily="18" charset="0"/>
                              </a:rPr>
                              <m:t>0</m:t>
                            </m:r>
                          </m:sub>
                          <m:sup>
                            <m:r>
                              <a:rPr lang="en-GB" b="0" i="1" smtClean="0">
                                <a:latin typeface="Cambria Math" panose="02040503050406030204" pitchFamily="18" charset="0"/>
                              </a:rPr>
                              <m:t>𝑇</m:t>
                            </m:r>
                          </m:sup>
                        </m:sSubSup>
                        <m:r>
                          <a:rPr lang="en-GB" b="0" i="1" smtClean="0">
                            <a:latin typeface="Cambria Math" panose="02040503050406030204" pitchFamily="18" charset="0"/>
                          </a:rPr>
                          <m:t>𝑨</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𝒔</m:t>
                            </m:r>
                          </m:e>
                          <m:sub>
                            <m:r>
                              <a:rPr lang="en-GB" b="0" i="1" smtClean="0">
                                <a:latin typeface="Cambria Math" panose="02040503050406030204" pitchFamily="18" charset="0"/>
                              </a:rPr>
                              <m:t>0</m:t>
                            </m:r>
                          </m:sub>
                        </m:sSub>
                      </m:den>
                    </m:f>
                  </m:oMath>
                </a14:m>
                <a:endParaRPr lang="en-GB" b="0" dirty="0"/>
              </a:p>
              <a:p>
                <a:pPr marL="342900" indent="-342900">
                  <a:buFont typeface="Arial" panose="020B0604020202020204" pitchFamily="34" charset="0"/>
                  <a:buChar char="•"/>
                </a:pPr>
                <a:r>
                  <a:rPr lang="en-US" dirty="0"/>
                  <a:t>Update point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(1)</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(0)</m:t>
                        </m:r>
                      </m:sup>
                    </m:sSup>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𝛼</m:t>
                        </m:r>
                      </m:e>
                      <m:sub>
                        <m:r>
                          <a:rPr lang="en-GB" b="0" i="1" smtClean="0">
                            <a:latin typeface="Cambria Math" panose="02040503050406030204" pitchFamily="18" charset="0"/>
                          </a:rPr>
                          <m:t>0</m:t>
                        </m:r>
                      </m:sub>
                    </m:sSub>
                    <m:sSub>
                      <m:sSubPr>
                        <m:ctrlPr>
                          <a:rPr lang="en-GB" b="0" i="1" smtClean="0">
                            <a:latin typeface="Cambria Math" panose="02040503050406030204" pitchFamily="18" charset="0"/>
                          </a:rPr>
                        </m:ctrlPr>
                      </m:sSubPr>
                      <m:e>
                        <m:r>
                          <a:rPr lang="en-GB" b="0" i="1" smtClean="0">
                            <a:latin typeface="Cambria Math" panose="02040503050406030204" pitchFamily="18" charset="0"/>
                          </a:rPr>
                          <m:t>𝒔</m:t>
                        </m:r>
                      </m:e>
                      <m:sub>
                        <m:r>
                          <a:rPr lang="en-GB" b="0" i="1" smtClean="0">
                            <a:latin typeface="Cambria Math" panose="02040503050406030204" pitchFamily="18" charset="0"/>
                          </a:rPr>
                          <m:t>0</m:t>
                        </m:r>
                      </m:sub>
                    </m:sSub>
                  </m:oMath>
                </a14:m>
                <a:endParaRPr lang="en-GB" b="0" dirty="0"/>
              </a:p>
              <a:p>
                <a:pPr marL="342900" indent="-342900">
                  <a:buFont typeface="Arial" panose="020B0604020202020204" pitchFamily="34" charset="0"/>
                  <a:buChar char="•"/>
                </a:pPr>
                <a:r>
                  <a:rPr lang="en-US" dirty="0"/>
                  <a:t>Update residual: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𝒓</m:t>
                        </m:r>
                      </m:e>
                      <m:sup>
                        <m:r>
                          <a:rPr lang="en-GB" b="0" i="1" smtClean="0">
                            <a:latin typeface="Cambria Math" panose="02040503050406030204" pitchFamily="18" charset="0"/>
                          </a:rPr>
                          <m:t>(1)</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𝒓</m:t>
                        </m:r>
                      </m:e>
                      <m:sup>
                        <m:r>
                          <a:rPr lang="en-GB" b="0" i="1" smtClean="0">
                            <a:latin typeface="Cambria Math" panose="02040503050406030204" pitchFamily="18" charset="0"/>
                          </a:rPr>
                          <m:t>(0)</m:t>
                        </m:r>
                      </m:sup>
                    </m:sSup>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𝛼</m:t>
                        </m:r>
                      </m:e>
                      <m:sub>
                        <m:r>
                          <a:rPr lang="en-GB" b="0" i="1" smtClean="0">
                            <a:latin typeface="Cambria Math" panose="02040503050406030204" pitchFamily="18" charset="0"/>
                          </a:rPr>
                          <m:t>0</m:t>
                        </m:r>
                      </m:sub>
                    </m:sSub>
                    <m:r>
                      <a:rPr lang="en-GB" b="0" i="1" smtClean="0">
                        <a:latin typeface="Cambria Math" panose="02040503050406030204" pitchFamily="18" charset="0"/>
                      </a:rPr>
                      <m:t>𝑨</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𝒔</m:t>
                        </m:r>
                      </m:e>
                      <m:sub>
                        <m:r>
                          <a:rPr lang="en-GB" b="0" i="1" smtClean="0">
                            <a:latin typeface="Cambria Math" panose="02040503050406030204" pitchFamily="18" charset="0"/>
                          </a:rPr>
                          <m:t>0</m:t>
                        </m:r>
                      </m:sub>
                    </m:sSub>
                  </m:oMath>
                </a14:m>
                <a:endParaRPr lang="en-US" dirty="0"/>
              </a:p>
              <a:p>
                <a:pPr marL="342900" indent="-342900">
                  <a:buFont typeface="Arial" panose="020B0604020202020204" pitchFamily="34" charset="0"/>
                  <a:buChar char="•"/>
                </a:pPr>
                <a:r>
                  <a:rPr lang="en-US" dirty="0"/>
                  <a:t>Repeat until </a:t>
                </a:r>
                <a14:m>
                  <m:oMath xmlns:m="http://schemas.openxmlformats.org/officeDocument/2006/math">
                    <m:r>
                      <a:rPr lang="en-US" b="0" i="1" smtClean="0">
                        <a:latin typeface="Cambria Math" panose="02040503050406030204" pitchFamily="18" charset="0"/>
                      </a:rPr>
                      <m:t>𝑛</m:t>
                    </m:r>
                  </m:oMath>
                </a14:m>
                <a:r>
                  <a:rPr lang="en-US" i="1" dirty="0"/>
                  <a:t>.</a:t>
                </a:r>
              </a:p>
              <a:p>
                <a:endParaRPr lang="en-US" dirty="0"/>
              </a:p>
              <a:p>
                <a:endParaRPr lang="en-US" dirty="0"/>
              </a:p>
            </p:txBody>
          </p:sp>
        </mc:Choice>
        <mc:Fallback xmlns="">
          <p:sp>
            <p:nvSpPr>
              <p:cNvPr id="3" name="Tijdelijke aanduiding voor inhoud 2">
                <a:extLst>
                  <a:ext uri="{FF2B5EF4-FFF2-40B4-BE49-F238E27FC236}">
                    <a16:creationId xmlns:a16="http://schemas.microsoft.com/office/drawing/2014/main" id="{2E202ECF-003B-64D8-7712-B7D4E0EB8AFC}"/>
                  </a:ext>
                </a:extLst>
              </p:cNvPr>
              <p:cNvSpPr>
                <a:spLocks noGrp="1" noRot="1" noChangeAspect="1" noMove="1" noResize="1" noEditPoints="1" noAdjustHandles="1" noChangeArrowheads="1" noChangeShapeType="1" noTextEdit="1"/>
              </p:cNvSpPr>
              <p:nvPr>
                <p:ph idx="1"/>
              </p:nvPr>
            </p:nvSpPr>
            <p:spPr>
              <a:blipFill>
                <a:blip r:embed="rId3"/>
                <a:stretch>
                  <a:fillRect l="-1538" t="-2026" b="-1473"/>
                </a:stretch>
              </a:blipFill>
            </p:spPr>
            <p:txBody>
              <a:bodyPr/>
              <a:lstStyle/>
              <a:p>
                <a:r>
                  <a:rPr lang="LID4096">
                    <a:noFill/>
                  </a:rPr>
                  <a:t> </a:t>
                </a:r>
              </a:p>
            </p:txBody>
          </p:sp>
        </mc:Fallback>
      </mc:AlternateContent>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BD927-3295-1DC6-B874-E12016E6C6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7DAD04-B6E6-4FEA-3842-1DB3166B6CBF}"/>
              </a:ext>
            </a:extLst>
          </p:cNvPr>
          <p:cNvSpPr>
            <a:spLocks noGrp="1"/>
          </p:cNvSpPr>
          <p:nvPr>
            <p:ph type="title"/>
          </p:nvPr>
        </p:nvSpPr>
        <p:spPr/>
        <p:txBody>
          <a:bodyPr/>
          <a:lstStyle/>
          <a:p>
            <a:r>
              <a:rPr lang="en-GB" sz="2600" b="1">
                <a:latin typeface="Calibri"/>
              </a:rPr>
              <a:t>Conjugate gradient method</a:t>
            </a:r>
            <a:endParaRPr sz="2600" b="1">
              <a:latin typeface="Calibri"/>
            </a:endParaRPr>
          </a:p>
        </p:txBody>
      </p:sp>
      <mc:AlternateContent xmlns:mc="http://schemas.openxmlformats.org/markup-compatibility/2006" xmlns:a14="http://schemas.microsoft.com/office/drawing/2010/main">
        <mc:Choice Requires="a14">
          <p:sp>
            <p:nvSpPr>
              <p:cNvPr id="3" name="Tijdelijke aanduiding voor inhoud 2">
                <a:extLst>
                  <a:ext uri="{FF2B5EF4-FFF2-40B4-BE49-F238E27FC236}">
                    <a16:creationId xmlns:a16="http://schemas.microsoft.com/office/drawing/2014/main" id="{9BFFE1CA-38DF-4812-FC26-1869C563F52B}"/>
                  </a:ext>
                </a:extLst>
              </p:cNvPr>
              <p:cNvSpPr>
                <a:spLocks noGrp="1"/>
              </p:cNvSpPr>
              <p:nvPr>
                <p:ph idx="1"/>
              </p:nvPr>
            </p:nvSpPr>
            <p:spPr/>
            <p:txBody>
              <a:bodyPr/>
              <a:lstStyle/>
              <a:p>
                <a:r>
                  <a:rPr lang="en-GB" dirty="0"/>
                  <a:t>The directions are chosen to be conjugate with respect to </a:t>
                </a:r>
                <a14:m>
                  <m:oMath xmlns:m="http://schemas.openxmlformats.org/officeDocument/2006/math">
                    <m:r>
                      <a:rPr lang="en-GB" b="0" i="1" smtClean="0">
                        <a:latin typeface="Cambria Math" panose="02040503050406030204" pitchFamily="18" charset="0"/>
                      </a:rPr>
                      <m:t>𝑨</m:t>
                    </m:r>
                  </m:oMath>
                </a14:m>
                <a:r>
                  <a:rPr lang="en-US" dirty="0"/>
                  <a:t>, i.e., </a:t>
                </a:r>
                <a14:m>
                  <m:oMath xmlns:m="http://schemas.openxmlformats.org/officeDocument/2006/math">
                    <m:sSubSup>
                      <m:sSubSupPr>
                        <m:ctrlPr>
                          <a:rPr lang="en-GB" b="1" i="1" smtClean="0">
                            <a:latin typeface="Cambria Math" panose="02040503050406030204" pitchFamily="18" charset="0"/>
                          </a:rPr>
                        </m:ctrlPr>
                      </m:sSubSupPr>
                      <m:e>
                        <m:r>
                          <a:rPr lang="en-GB" b="1" i="1" smtClean="0">
                            <a:latin typeface="Cambria Math" panose="02040503050406030204" pitchFamily="18" charset="0"/>
                          </a:rPr>
                          <m:t>𝒔</m:t>
                        </m:r>
                      </m:e>
                      <m:sub>
                        <m:r>
                          <a:rPr lang="en-GB" b="0" i="1" smtClean="0">
                            <a:latin typeface="Cambria Math" panose="02040503050406030204" pitchFamily="18" charset="0"/>
                          </a:rPr>
                          <m:t>𝑖</m:t>
                        </m:r>
                      </m:sub>
                      <m:sup>
                        <m:r>
                          <a:rPr lang="en-GB" b="0" i="1" smtClean="0">
                            <a:latin typeface="Cambria Math" panose="02040503050406030204" pitchFamily="18" charset="0"/>
                          </a:rPr>
                          <m:t>𝑇</m:t>
                        </m:r>
                      </m:sup>
                    </m:sSubSup>
                    <m:r>
                      <a:rPr lang="en-GB" b="1" i="1" smtClean="0">
                        <a:latin typeface="Cambria Math" panose="02040503050406030204" pitchFamily="18" charset="0"/>
                      </a:rPr>
                      <m:t>𝑨</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𝑗</m:t>
                        </m:r>
                      </m:sub>
                    </m:sSub>
                    <m:r>
                      <a:rPr lang="en-GB" b="0" i="1" smtClean="0">
                        <a:latin typeface="Cambria Math" panose="02040503050406030204" pitchFamily="18" charset="0"/>
                      </a:rPr>
                      <m:t>=0</m:t>
                    </m:r>
                  </m:oMath>
                </a14:m>
                <a:r>
                  <a:rPr lang="en-US" dirty="0"/>
                  <a:t> for </a:t>
                </a:r>
                <a14:m>
                  <m:oMath xmlns:m="http://schemas.openxmlformats.org/officeDocument/2006/math">
                    <m:r>
                      <a:rPr lang="en-GB" b="0" i="1" smtClean="0">
                        <a:latin typeface="Cambria Math" panose="02040503050406030204" pitchFamily="18" charset="0"/>
                      </a:rPr>
                      <m:t>𝑖</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𝑗</m:t>
                    </m:r>
                  </m:oMath>
                </a14:m>
                <a:r>
                  <a:rPr lang="en-US" dirty="0"/>
                  <a:t>.</a:t>
                </a:r>
              </a:p>
              <a:p>
                <a:endParaRPr lang="en-US" dirty="0"/>
              </a:p>
            </p:txBody>
          </p:sp>
        </mc:Choice>
        <mc:Fallback xmlns="">
          <p:sp>
            <p:nvSpPr>
              <p:cNvPr id="3" name="Tijdelijke aanduiding voor inhoud 2">
                <a:extLst>
                  <a:ext uri="{FF2B5EF4-FFF2-40B4-BE49-F238E27FC236}">
                    <a16:creationId xmlns:a16="http://schemas.microsoft.com/office/drawing/2014/main" id="{9BFFE1CA-38DF-4812-FC26-1869C563F52B}"/>
                  </a:ext>
                </a:extLst>
              </p:cNvPr>
              <p:cNvSpPr>
                <a:spLocks noGrp="1" noRot="1" noChangeAspect="1" noMove="1" noResize="1" noEditPoints="1" noAdjustHandles="1" noChangeArrowheads="1" noChangeShapeType="1" noTextEdit="1"/>
              </p:cNvSpPr>
              <p:nvPr>
                <p:ph idx="1"/>
              </p:nvPr>
            </p:nvSpPr>
            <p:spPr>
              <a:blipFill>
                <a:blip r:embed="rId5"/>
                <a:stretch>
                  <a:fillRect l="-1538" t="-1473"/>
                </a:stretch>
              </a:blipFill>
            </p:spPr>
            <p:txBody>
              <a:bodyPr/>
              <a:lstStyle/>
              <a:p>
                <a:r>
                  <a:rPr lang="en-US">
                    <a:noFill/>
                  </a:rPr>
                  <a:t> </a:t>
                </a:r>
              </a:p>
            </p:txBody>
          </p:sp>
        </mc:Fallback>
      </mc:AlternateContent>
      <p:sp>
        <p:nvSpPr>
          <p:cNvPr id="6" name="Tijdelijke aanduiding voor dianummer 5">
            <a:extLst>
              <a:ext uri="{FF2B5EF4-FFF2-40B4-BE49-F238E27FC236}">
                <a16:creationId xmlns:a16="http://schemas.microsoft.com/office/drawing/2014/main" id="{973F8054-8591-482F-C065-850D5D30AB98}"/>
              </a:ext>
            </a:extLst>
          </p:cNvPr>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13</a:t>
            </a:fld>
            <a:endParaRPr lang="en-US"/>
          </a:p>
        </p:txBody>
      </p:sp>
      <p:pic>
        <p:nvPicPr>
          <p:cNvPr id="5" name="conjugate-gradients">
            <a:hlinkClick r:id="" action="ppaction://media"/>
            <a:extLst>
              <a:ext uri="{FF2B5EF4-FFF2-40B4-BE49-F238E27FC236}">
                <a16:creationId xmlns:a16="http://schemas.microsoft.com/office/drawing/2014/main" id="{A07E0FE2-1D39-55C3-331C-97D5065C47C5}"/>
              </a:ext>
            </a:extLst>
          </p:cNvPr>
          <p:cNvPicPr>
            <a:picLocks noChangeAspect="1"/>
          </p:cNvPicPr>
          <p:nvPr>
            <a:videoFile r:link="rId2"/>
            <p:extLst>
              <p:ext uri="{DAA4B4D4-6D71-4841-9C94-3DE7FCFB9230}">
                <p14:media xmlns:p14="http://schemas.microsoft.com/office/powerpoint/2010/main" r:embed="rId1"/>
              </p:ext>
            </p:extLst>
          </p:nvPr>
        </p:nvPicPr>
        <p:blipFill>
          <a:blip r:embed="rId6"/>
          <a:srcRect t="15063" b="10720"/>
          <a:stretch>
            <a:fillRect/>
          </a:stretch>
        </p:blipFill>
        <p:spPr>
          <a:xfrm>
            <a:off x="610100" y="1727905"/>
            <a:ext cx="7826571" cy="2842508"/>
          </a:xfrm>
          <a:prstGeom prst="rect">
            <a:avLst/>
          </a:prstGeom>
        </p:spPr>
      </p:pic>
    </p:spTree>
    <p:extLst>
      <p:ext uri="{BB962C8B-B14F-4D97-AF65-F5344CB8AC3E}">
        <p14:creationId xmlns:p14="http://schemas.microsoft.com/office/powerpoint/2010/main" val="2854794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95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5" fill="hold" display="0">
                  <p:stCondLst>
                    <p:cond delay="indefinite"/>
                  </p:stCondLst>
                </p:cTn>
                <p:tgtEl>
                  <p:spTgt spid="5"/>
                </p:tgtEl>
              </p:cMediaNode>
            </p:video>
            <p:seq concurrent="1" nextAc="seek">
              <p:cTn id="16" restart="whenNotActive" fill="hold" evtFilter="cancelBubble" nodeType="interactiveSeq">
                <p:stCondLst>
                  <p:cond evt="onClick" delay="0">
                    <p:tgtEl>
                      <p:spTgt spid="5"/>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2600">
                <a:latin typeface="Calibri"/>
              </a:rPr>
              <a:t>Experiment</a:t>
            </a:r>
            <a:endParaRPr sz="2600" b="1">
              <a:latin typeface="Calibri"/>
            </a:endParaRPr>
          </a:p>
        </p:txBody>
      </p:sp>
      <mc:AlternateContent xmlns:mc="http://schemas.openxmlformats.org/markup-compatibility/2006" xmlns:a14="http://schemas.microsoft.com/office/drawing/2010/main">
        <mc:Choice Requires="a14">
          <p:sp>
            <p:nvSpPr>
              <p:cNvPr id="11" name="Tijdelijke aanduiding voor inhoud 10">
                <a:extLst>
                  <a:ext uri="{FF2B5EF4-FFF2-40B4-BE49-F238E27FC236}">
                    <a16:creationId xmlns:a16="http://schemas.microsoft.com/office/drawing/2014/main" id="{208AC068-79AC-8246-CE28-EF9AF4B46612}"/>
                  </a:ext>
                </a:extLst>
              </p:cNvPr>
              <p:cNvSpPr>
                <a:spLocks noGrp="1"/>
              </p:cNvSpPr>
              <p:nvPr>
                <p:ph idx="1"/>
              </p:nvPr>
            </p:nvSpPr>
            <p:spPr>
              <a:xfrm>
                <a:off x="610099" y="1260000"/>
                <a:ext cx="7655219" cy="3310413"/>
              </a:xfrm>
            </p:spPr>
            <p:txBody>
              <a:bodyPr/>
              <a:lstStyle/>
              <a:p>
                <a:r>
                  <a:rPr lang="en-GB"/>
                  <a:t>Consider a 24 x 24 grid tiling (</a:t>
                </a:r>
                <a14:m>
                  <m:oMath xmlns:m="http://schemas.openxmlformats.org/officeDocument/2006/math">
                    <m:r>
                      <a:rPr lang="en-GB" b="0" i="1" smtClean="0">
                        <a:latin typeface="Cambria Math" panose="02040503050406030204" pitchFamily="18" charset="0"/>
                      </a:rPr>
                      <m:t>𝑛</m:t>
                    </m:r>
                    <m:r>
                      <a:rPr lang="en-GB" b="0" i="1" smtClean="0">
                        <a:latin typeface="Cambria Math" panose="02040503050406030204" pitchFamily="18" charset="0"/>
                      </a:rPr>
                      <m:t>=576</m:t>
                    </m:r>
                  </m:oMath>
                </a14:m>
                <a:r>
                  <a:rPr lang="en-US"/>
                  <a:t>) with</a:t>
                </a:r>
                <a:r>
                  <a:rPr lang="en-GB" b="0"/>
                  <a:t> </a:t>
                </a:r>
                <a14:m>
                  <m:oMath xmlns:m="http://schemas.openxmlformats.org/officeDocument/2006/math">
                    <m:r>
                      <a:rPr lang="en-GB" b="0" i="1" smtClean="0">
                        <a:latin typeface="Cambria Math" panose="02040503050406030204" pitchFamily="18" charset="0"/>
                      </a:rPr>
                      <m:t>𝑐</m:t>
                    </m:r>
                    <m:r>
                      <a:rPr lang="en-GB" b="0" i="1" smtClean="0">
                        <a:latin typeface="Cambria Math" panose="02040503050406030204" pitchFamily="18" charset="0"/>
                      </a:rPr>
                      <m:t>=0.4</m:t>
                    </m:r>
                  </m:oMath>
                </a14:m>
                <a:r>
                  <a:rPr lang="en-US"/>
                  <a:t>.</a:t>
                </a:r>
              </a:p>
              <a:p>
                <a:pPr marL="285750" indent="-285750">
                  <a:buFont typeface="Arial" panose="020B0604020202020204" pitchFamily="34" charset="0"/>
                  <a:buChar char="•"/>
                </a:pPr>
                <a:endParaRPr lang="en-US"/>
              </a:p>
              <a:p>
                <a:pPr marL="285750" indent="-285750">
                  <a:buFont typeface="Arial" panose="020B0604020202020204" pitchFamily="34" charset="0"/>
                  <a:buChar char="•"/>
                </a:pPr>
                <a:endParaRPr lang="en-US"/>
              </a:p>
              <a:p>
                <a:pPr marL="285750" indent="-285750">
                  <a:buFont typeface="Arial" panose="020B0604020202020204" pitchFamily="34" charset="0"/>
                  <a:buChar char="•"/>
                </a:pPr>
                <a:endParaRPr lang="en-US"/>
              </a:p>
              <a:p>
                <a:pPr marL="285750" indent="-285750">
                  <a:buFont typeface="Arial" panose="020B0604020202020204" pitchFamily="34" charset="0"/>
                  <a:buChar char="•"/>
                </a:pPr>
                <a:endParaRPr lang="en-US"/>
              </a:p>
              <a:p>
                <a:pPr marL="285750" indent="-285750">
                  <a:buFont typeface="Arial" panose="020B0604020202020204" pitchFamily="34" charset="0"/>
                  <a:buChar char="•"/>
                </a:pPr>
                <a:endParaRPr lang="en-US"/>
              </a:p>
              <a:p>
                <a:pPr marL="285750" indent="-285750">
                  <a:buFont typeface="Arial" panose="020B0604020202020204" pitchFamily="34" charset="0"/>
                  <a:buChar char="•"/>
                </a:pPr>
                <a:endParaRPr lang="en-US"/>
              </a:p>
              <a:p>
                <a:pPr marL="285750" indent="-285750">
                  <a:buFont typeface="Arial" panose="020B0604020202020204" pitchFamily="34" charset="0"/>
                  <a:buChar char="•"/>
                </a:pPr>
                <a:endParaRPr lang="en-US"/>
              </a:p>
              <a:p>
                <a:pPr marL="285750" indent="-285750">
                  <a:buFont typeface="Arial" panose="020B0604020202020204" pitchFamily="34" charset="0"/>
                  <a:buChar char="•"/>
                </a:pPr>
                <a:endParaRPr lang="en-US"/>
              </a:p>
              <a:p>
                <a:endParaRPr lang="en-US"/>
              </a:p>
            </p:txBody>
          </p:sp>
        </mc:Choice>
        <mc:Fallback xmlns="">
          <p:sp>
            <p:nvSpPr>
              <p:cNvPr id="11" name="Tijdelijke aanduiding voor inhoud 10">
                <a:extLst>
                  <a:ext uri="{FF2B5EF4-FFF2-40B4-BE49-F238E27FC236}">
                    <a16:creationId xmlns:a16="http://schemas.microsoft.com/office/drawing/2014/main" id="{208AC068-79AC-8246-CE28-EF9AF4B46612}"/>
                  </a:ext>
                </a:extLst>
              </p:cNvPr>
              <p:cNvSpPr>
                <a:spLocks noGrp="1" noRot="1" noChangeAspect="1" noMove="1" noResize="1" noEditPoints="1" noAdjustHandles="1" noChangeArrowheads="1" noChangeShapeType="1" noTextEdit="1"/>
              </p:cNvSpPr>
              <p:nvPr>
                <p:ph idx="1"/>
              </p:nvPr>
            </p:nvSpPr>
            <p:spPr>
              <a:xfrm>
                <a:off x="610099" y="1260000"/>
                <a:ext cx="7655219" cy="3310413"/>
              </a:xfrm>
              <a:blipFill>
                <a:blip r:embed="rId3"/>
                <a:stretch>
                  <a:fillRect l="-1592" t="-2026"/>
                </a:stretch>
              </a:blipFill>
            </p:spPr>
            <p:txBody>
              <a:bodyPr/>
              <a:lstStyle/>
              <a:p>
                <a:r>
                  <a:rPr lang="en-US">
                    <a:noFill/>
                  </a:rPr>
                  <a:t> </a:t>
                </a:r>
              </a:p>
            </p:txBody>
          </p:sp>
        </mc:Fallback>
      </mc:AlternateContent>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14</a:t>
            </a:fld>
            <a:endParaRPr lang="en-US"/>
          </a:p>
        </p:txBody>
      </p:sp>
      <p:pic>
        <p:nvPicPr>
          <p:cNvPr id="9" name="Picture 8" descr="image.png"/>
          <p:cNvPicPr>
            <a:picLocks noChangeAspect="1"/>
          </p:cNvPicPr>
          <p:nvPr/>
        </p:nvPicPr>
        <p:blipFill>
          <a:blip r:embed="rId4"/>
          <a:srcRect l="1664" t="7110"/>
          <a:stretch>
            <a:fillRect/>
          </a:stretch>
        </p:blipFill>
        <p:spPr>
          <a:xfrm>
            <a:off x="1926954" y="1759801"/>
            <a:ext cx="4764791" cy="304211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D7113-C19B-9B1C-FE3F-97E099816A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718309-16BB-DBB0-7FEC-4C315985C3B5}"/>
              </a:ext>
            </a:extLst>
          </p:cNvPr>
          <p:cNvSpPr>
            <a:spLocks noGrp="1"/>
          </p:cNvSpPr>
          <p:nvPr>
            <p:ph type="title"/>
          </p:nvPr>
        </p:nvSpPr>
        <p:spPr>
          <a:xfrm>
            <a:off x="612648" y="475488"/>
            <a:ext cx="7918704" cy="548640"/>
          </a:xfrm>
        </p:spPr>
        <p:txBody>
          <a:bodyPr/>
          <a:lstStyle/>
          <a:p>
            <a:r>
              <a:rPr lang="en-GB" sz="2600" b="1">
                <a:solidFill>
                  <a:srgbClr val="FFFFFF"/>
                </a:solidFill>
                <a:latin typeface="Calibri"/>
              </a:rPr>
              <a:t>3. Probabilistic</a:t>
            </a:r>
            <a:r>
              <a:rPr sz="2600" b="1">
                <a:solidFill>
                  <a:srgbClr val="FFFFFF"/>
                </a:solidFill>
                <a:latin typeface="Calibri"/>
              </a:rPr>
              <a:t> numerical approach</a:t>
            </a:r>
          </a:p>
        </p:txBody>
      </p:sp>
      <p:sp>
        <p:nvSpPr>
          <p:cNvPr id="4" name="Tijdelijke aanduiding voor dianummer 3">
            <a:extLst>
              <a:ext uri="{FF2B5EF4-FFF2-40B4-BE49-F238E27FC236}">
                <a16:creationId xmlns:a16="http://schemas.microsoft.com/office/drawing/2014/main" id="{56341FD4-B167-92D3-48D5-126857838A0E}"/>
              </a:ext>
            </a:extLst>
          </p:cNvPr>
          <p:cNvSpPr>
            <a:spLocks noGrp="1"/>
          </p:cNvSpPr>
          <p:nvPr>
            <p:ph type="sldNum" sz="quarter" idx="11"/>
          </p:nvPr>
        </p:nvSpPr>
        <p:spPr/>
        <p:txBody>
          <a:bodyPr/>
          <a:lstStyle/>
          <a:p>
            <a:fld id="{B7CEC10D-CD46-426F-915E-6C78530279CB}" type="slidenum">
              <a:rPr lang="en-US" smtClean="0"/>
              <a:pPr/>
              <a:t>15</a:t>
            </a:fld>
            <a:endParaRPr lang="en-US"/>
          </a:p>
        </p:txBody>
      </p:sp>
      <p:sp>
        <p:nvSpPr>
          <p:cNvPr id="6" name="Oval 5">
            <a:extLst>
              <a:ext uri="{FF2B5EF4-FFF2-40B4-BE49-F238E27FC236}">
                <a16:creationId xmlns:a16="http://schemas.microsoft.com/office/drawing/2014/main" id="{B84B2F09-C35E-2F7B-20F8-0C100EBD4368}"/>
              </a:ext>
            </a:extLst>
          </p:cNvPr>
          <p:cNvSpPr/>
          <p:nvPr/>
        </p:nvSpPr>
        <p:spPr>
          <a:xfrm>
            <a:off x="612000" y="1639411"/>
            <a:ext cx="384048" cy="384048"/>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FFFFFF"/>
                </a:solidFill>
                <a:latin typeface="Calibri"/>
              </a:rPr>
              <a:t>A</a:t>
            </a:r>
            <a:endParaRPr sz="1400" b="1">
              <a:solidFill>
                <a:srgbClr val="FFFFFF"/>
              </a:solidFill>
              <a:latin typeface="Calibri"/>
            </a:endParaRPr>
          </a:p>
        </p:txBody>
      </p:sp>
      <p:sp>
        <p:nvSpPr>
          <p:cNvPr id="7" name="TextBox 6">
            <a:extLst>
              <a:ext uri="{FF2B5EF4-FFF2-40B4-BE49-F238E27FC236}">
                <a16:creationId xmlns:a16="http://schemas.microsoft.com/office/drawing/2014/main" id="{9C6FFDAC-E19F-6597-92AD-A552DF8ACDD1}"/>
              </a:ext>
            </a:extLst>
          </p:cNvPr>
          <p:cNvSpPr txBox="1"/>
          <p:nvPr/>
        </p:nvSpPr>
        <p:spPr>
          <a:xfrm>
            <a:off x="1252080" y="1708324"/>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err="1">
                <a:solidFill>
                  <a:srgbClr val="FFFFFF"/>
                </a:solidFill>
                <a:latin typeface="Calibri"/>
              </a:rPr>
              <a:t>BayesCG</a:t>
            </a:r>
            <a:endParaRPr sz="1400" b="0" i="0">
              <a:solidFill>
                <a:srgbClr val="C9CDE8"/>
              </a:solidFill>
              <a:latin typeface="Calibri"/>
            </a:endParaRPr>
          </a:p>
        </p:txBody>
      </p:sp>
      <p:sp>
        <p:nvSpPr>
          <p:cNvPr id="8" name="Oval 7">
            <a:extLst>
              <a:ext uri="{FF2B5EF4-FFF2-40B4-BE49-F238E27FC236}">
                <a16:creationId xmlns:a16="http://schemas.microsoft.com/office/drawing/2014/main" id="{E705BDBE-573D-6F1B-E988-83F8279E61DF}"/>
              </a:ext>
            </a:extLst>
          </p:cNvPr>
          <p:cNvSpPr/>
          <p:nvPr/>
        </p:nvSpPr>
        <p:spPr>
          <a:xfrm>
            <a:off x="612000" y="2352643"/>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B</a:t>
            </a:r>
            <a:endParaRPr sz="1400" b="1">
              <a:solidFill>
                <a:srgbClr val="101073"/>
              </a:solidFill>
              <a:latin typeface="Calibri"/>
            </a:endParaRPr>
          </a:p>
        </p:txBody>
      </p:sp>
      <p:sp>
        <p:nvSpPr>
          <p:cNvPr id="9" name="TextBox 8">
            <a:extLst>
              <a:ext uri="{FF2B5EF4-FFF2-40B4-BE49-F238E27FC236}">
                <a16:creationId xmlns:a16="http://schemas.microsoft.com/office/drawing/2014/main" id="{30586C04-57E8-D0AC-28AF-14E81F476836}"/>
              </a:ext>
            </a:extLst>
          </p:cNvPr>
          <p:cNvSpPr txBox="1"/>
          <p:nvPr/>
        </p:nvSpPr>
        <p:spPr>
          <a:xfrm>
            <a:off x="1252080" y="2421556"/>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a:solidFill>
                  <a:srgbClr val="FFFFFF"/>
                </a:solidFill>
                <a:latin typeface="Calibri"/>
              </a:rPr>
              <a:t>Uncertainty</a:t>
            </a:r>
            <a:endParaRPr sz="1400" b="0" i="0">
              <a:solidFill>
                <a:srgbClr val="C9CDE8"/>
              </a:solidFill>
              <a:latin typeface="Calibri"/>
            </a:endParaRPr>
          </a:p>
        </p:txBody>
      </p:sp>
    </p:spTree>
    <p:extLst>
      <p:ext uri="{BB962C8B-B14F-4D97-AF65-F5344CB8AC3E}">
        <p14:creationId xmlns:p14="http://schemas.microsoft.com/office/powerpoint/2010/main" val="40503346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b="1" err="1">
                <a:latin typeface="Calibri"/>
              </a:rPr>
              <a:t>BayesCG</a:t>
            </a:r>
            <a:endParaRPr sz="2600" b="1">
              <a:latin typeface="Calibri"/>
            </a:endParaRPr>
          </a:p>
        </p:txBody>
      </p:sp>
      <mc:AlternateContent xmlns:mc="http://schemas.openxmlformats.org/markup-compatibility/2006" xmlns:a14="http://schemas.microsoft.com/office/drawing/2010/main">
        <mc:Choice Requires="a14">
          <p:sp>
            <p:nvSpPr>
              <p:cNvPr id="4" name="Tijdelijke aanduiding voor inhoud 3">
                <a:extLst>
                  <a:ext uri="{FF2B5EF4-FFF2-40B4-BE49-F238E27FC236}">
                    <a16:creationId xmlns:a16="http://schemas.microsoft.com/office/drawing/2014/main" id="{6ECA2006-38E2-1759-671E-B0AA9EDE19E6}"/>
                  </a:ext>
                </a:extLst>
              </p:cNvPr>
              <p:cNvSpPr>
                <a:spLocks noGrp="1"/>
              </p:cNvSpPr>
              <p:nvPr>
                <p:ph idx="1"/>
              </p:nvPr>
            </p:nvSpPr>
            <p:spPr/>
            <p:txBody>
              <a:bodyPr/>
              <a:lstStyle/>
              <a:p>
                <a:r>
                  <a:rPr lang="en-GB"/>
                  <a:t>Put a prior distribution on the unknown: </a:t>
                </a: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𝒙</m:t>
                        </m:r>
                      </m:e>
                    </m:d>
                    <m:r>
                      <a:rPr lang="en-GB" b="0" i="1" smtClean="0">
                        <a:latin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𝒩</m:t>
                    </m:r>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𝒙</m:t>
                        </m:r>
                        <m:r>
                          <a:rPr lang="en-GB" b="0" i="1" smtClean="0">
                            <a:latin typeface="Cambria Math" panose="02040503050406030204" pitchFamily="18" charset="0"/>
                            <a:ea typeface="Cambria Math" panose="02040503050406030204" pitchFamily="18" charset="0"/>
                          </a:rPr>
                          <m:t> </m:t>
                        </m:r>
                      </m:e>
                      <m:e>
                        <m:r>
                          <a:rPr lang="en-GB" b="0" i="1" smtClean="0">
                            <a:latin typeface="Cambria Math" panose="02040503050406030204" pitchFamily="18" charset="0"/>
                            <a:ea typeface="Cambria Math" panose="02040503050406030204" pitchFamily="18" charset="0"/>
                          </a:rPr>
                          <m:t> </m:t>
                        </m:r>
                        <m:sSup>
                          <m:sSupPr>
                            <m:ctrlPr>
                              <a:rPr lang="en-GB" b="0" i="1" smtClean="0">
                                <a:latin typeface="Cambria Math" panose="02040503050406030204" pitchFamily="18" charset="0"/>
                                <a:ea typeface="Cambria Math" panose="02040503050406030204" pitchFamily="18" charset="0"/>
                              </a:rPr>
                            </m:ctrlPr>
                          </m:sSupPr>
                          <m:e>
                            <m:r>
                              <a:rPr lang="en-GB" b="0" i="1" smtClean="0">
                                <a:latin typeface="Cambria Math" panose="02040503050406030204" pitchFamily="18" charset="0"/>
                                <a:ea typeface="Cambria Math" panose="02040503050406030204" pitchFamily="18" charset="0"/>
                              </a:rPr>
                              <m:t>𝒙</m:t>
                            </m:r>
                          </m:e>
                          <m:sup>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0</m:t>
                                </m:r>
                              </m:e>
                            </m:d>
                          </m:sup>
                        </m:sSup>
                        <m:r>
                          <a:rPr lang="en-GB" b="0" i="1" smtClean="0">
                            <a:latin typeface="Cambria Math" panose="02040503050406030204" pitchFamily="18" charset="0"/>
                            <a:ea typeface="Cambria Math" panose="02040503050406030204" pitchFamily="18" charset="0"/>
                          </a:rPr>
                          <m:t>,</m:t>
                        </m:r>
                        <m:sSup>
                          <m:sSupPr>
                            <m:ctrlPr>
                              <a:rPr lang="en-GB" b="0" i="0" smtClean="0">
                                <a:latin typeface="Cambria Math" panose="02040503050406030204" pitchFamily="18" charset="0"/>
                                <a:ea typeface="Cambria Math" panose="02040503050406030204" pitchFamily="18" charset="0"/>
                              </a:rPr>
                            </m:ctrlPr>
                          </m:sSupPr>
                          <m:e>
                            <m:r>
                              <a:rPr lang="en-GB" b="0" i="0" smtClean="0">
                                <a:latin typeface="Cambria Math" panose="02040503050406030204" pitchFamily="18" charset="0"/>
                                <a:ea typeface="Cambria Math" panose="02040503050406030204" pitchFamily="18" charset="0"/>
                              </a:rPr>
                              <m:t>𝜮</m:t>
                            </m:r>
                          </m:e>
                          <m:sup>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0</m:t>
                                </m:r>
                              </m:e>
                            </m:d>
                          </m:sup>
                        </m:sSup>
                      </m:e>
                    </m:d>
                  </m:oMath>
                </a14:m>
                <a:r>
                  <a:rPr lang="en-US"/>
                  <a:t>.</a:t>
                </a:r>
              </a:p>
              <a:p>
                <a:r>
                  <a:rPr lang="en-US"/>
                  <a:t>Now pick </a:t>
                </a:r>
                <a14:m>
                  <m:oMath xmlns:m="http://schemas.openxmlformats.org/officeDocument/2006/math">
                    <m:r>
                      <a:rPr lang="en-GB" b="0" i="1" smtClean="0">
                        <a:latin typeface="Cambria Math" panose="02040503050406030204" pitchFamily="18" charset="0"/>
                      </a:rPr>
                      <m:t>𝑚</m:t>
                    </m:r>
                  </m:oMath>
                </a14:m>
                <a:r>
                  <a:rPr lang="en-US"/>
                  <a:t> search directions </a:t>
                </a:r>
                <a14:m>
                  <m:oMath xmlns:m="http://schemas.openxmlformats.org/officeDocument/2006/math">
                    <m:r>
                      <a:rPr lang="en-GB" b="0" i="1" smtClean="0">
                        <a:latin typeface="Cambria Math" panose="02040503050406030204" pitchFamily="18" charset="0"/>
                      </a:rPr>
                      <m:t>𝑺</m:t>
                    </m:r>
                    <m:r>
                      <a:rPr lang="en-GB" b="0" i="1" smtClean="0">
                        <a:latin typeface="Cambria Math" panose="02040503050406030204" pitchFamily="18" charset="0"/>
                      </a:rPr>
                      <m:t>=</m:t>
                    </m:r>
                    <m:d>
                      <m:dPr>
                        <m:begChr m:val="["/>
                        <m:endChr m:val="]"/>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𝒔</m:t>
                            </m:r>
                          </m:e>
                          <m:sub>
                            <m:r>
                              <a:rPr lang="en-GB" b="0" i="1" smtClean="0">
                                <a:latin typeface="Cambria Math" panose="02040503050406030204" pitchFamily="18" charset="0"/>
                              </a:rPr>
                              <m:t>1</m:t>
                            </m:r>
                          </m:sub>
                        </m:sSub>
                        <m:r>
                          <a:rPr lang="en-GB" b="0" i="1" smtClean="0">
                            <a:latin typeface="Cambria Math" panose="02040503050406030204" pitchFamily="18" charset="0"/>
                          </a:rPr>
                          <m:t> </m:t>
                        </m:r>
                        <m:r>
                          <a:rPr lang="en-US"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𝒔</m:t>
                            </m:r>
                          </m:e>
                          <m:sub>
                            <m:r>
                              <a:rPr lang="en-GB" b="0" i="1" smtClean="0">
                                <a:latin typeface="Cambria Math" panose="02040503050406030204" pitchFamily="18" charset="0"/>
                              </a:rPr>
                              <m:t>𝑚</m:t>
                            </m:r>
                          </m:sub>
                        </m:sSub>
                      </m:e>
                    </m:d>
                  </m:oMath>
                </a14:m>
                <a:r>
                  <a:rPr lang="en-US"/>
                  <a:t>.</a:t>
                </a:r>
              </a:p>
              <a:p>
                <a:r>
                  <a:rPr lang="en-US"/>
                  <a:t>Let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𝑧</m:t>
                        </m:r>
                      </m:e>
                      <m:sub>
                        <m:r>
                          <a:rPr lang="en-GB" b="0" i="1" smtClean="0">
                            <a:latin typeface="Cambria Math" panose="02040503050406030204" pitchFamily="18" charset="0"/>
                          </a:rPr>
                          <m:t>𝑗</m:t>
                        </m:r>
                      </m:sub>
                    </m:sSub>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𝒔</m:t>
                        </m:r>
                      </m:e>
                      <m:sub>
                        <m:r>
                          <a:rPr lang="en-GB" b="0" i="1" smtClean="0">
                            <a:latin typeface="Cambria Math" panose="02040503050406030204" pitchFamily="18" charset="0"/>
                          </a:rPr>
                          <m:t>𝑗</m:t>
                        </m:r>
                      </m:sub>
                      <m:sup>
                        <m:r>
                          <a:rPr lang="en-GB" b="0" i="1" smtClean="0">
                            <a:latin typeface="Cambria Math" panose="02040503050406030204" pitchFamily="18" charset="0"/>
                          </a:rPr>
                          <m:t>𝑇</m:t>
                        </m:r>
                      </m:sup>
                    </m:sSubSup>
                    <m:r>
                      <a:rPr lang="en-GB" b="0" i="1" smtClean="0">
                        <a:latin typeface="Cambria Math" panose="02040503050406030204" pitchFamily="18" charset="0"/>
                      </a:rPr>
                      <m:t>𝑨</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𝒙</m:t>
                        </m:r>
                      </m:e>
                      <m:sup>
                        <m:r>
                          <a:rPr lang="en-GB" b="0" i="1" smtClean="0">
                            <a:latin typeface="Cambria Math" panose="02040503050406030204" pitchFamily="18" charset="0"/>
                          </a:rPr>
                          <m:t>∗</m:t>
                        </m:r>
                      </m:sup>
                    </m:sSup>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𝒔</m:t>
                        </m:r>
                      </m:e>
                      <m:sub>
                        <m:r>
                          <a:rPr lang="en-GB" b="0" i="1" smtClean="0">
                            <a:latin typeface="Cambria Math" panose="02040503050406030204" pitchFamily="18" charset="0"/>
                          </a:rPr>
                          <m:t>𝑗</m:t>
                        </m:r>
                      </m:sub>
                      <m:sup>
                        <m:r>
                          <a:rPr lang="en-GB" b="0" i="1" smtClean="0">
                            <a:latin typeface="Cambria Math" panose="02040503050406030204" pitchFamily="18" charset="0"/>
                          </a:rPr>
                          <m:t>𝑇</m:t>
                        </m:r>
                      </m:sup>
                    </m:sSubSup>
                    <m:r>
                      <a:rPr lang="en-GB" b="0" i="1" smtClean="0">
                        <a:latin typeface="Cambria Math" panose="02040503050406030204" pitchFamily="18" charset="0"/>
                      </a:rPr>
                      <m:t>𝒃</m:t>
                    </m:r>
                  </m:oMath>
                </a14:m>
                <a:r>
                  <a:rPr lang="en-US"/>
                  <a:t> for </a:t>
                </a:r>
                <a14:m>
                  <m:oMath xmlns:m="http://schemas.openxmlformats.org/officeDocument/2006/math">
                    <m:r>
                      <a:rPr lang="en-GB" b="0" i="1" smtClean="0">
                        <a:latin typeface="Cambria Math" panose="02040503050406030204" pitchFamily="18" charset="0"/>
                      </a:rPr>
                      <m:t>𝑗</m:t>
                    </m:r>
                    <m:r>
                      <a:rPr lang="en-GB" b="0" i="1" smtClean="0">
                        <a:latin typeface="Cambria Math" panose="02040503050406030204" pitchFamily="18" charset="0"/>
                      </a:rPr>
                      <m:t>=1,…</m:t>
                    </m:r>
                    <m:r>
                      <a:rPr lang="en-GB" b="0" i="1" smtClean="0">
                        <a:latin typeface="Cambria Math" panose="02040503050406030204" pitchFamily="18" charset="0"/>
                      </a:rPr>
                      <m:t>𝑚</m:t>
                    </m:r>
                  </m:oMath>
                </a14:m>
                <a:r>
                  <a:rPr lang="en-US"/>
                  <a:t>.</a:t>
                </a:r>
              </a:p>
              <a:p>
                <a:r>
                  <a:rPr lang="en-US"/>
                  <a:t>This is a Dirac likelihood, </a:t>
                </a: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𝑧</m:t>
                            </m:r>
                          </m:e>
                          <m:sub>
                            <m:r>
                              <a:rPr lang="en-GB" b="0" i="1" smtClean="0">
                                <a:latin typeface="Cambria Math" panose="02040503050406030204" pitchFamily="18" charset="0"/>
                              </a:rPr>
                              <m:t>𝑗</m:t>
                            </m:r>
                          </m:sub>
                        </m:sSub>
                      </m:e>
                      <m:e>
                        <m:r>
                          <a:rPr lang="en-GB" b="0" i="1" smtClean="0">
                            <a:latin typeface="Cambria Math" panose="02040503050406030204" pitchFamily="18" charset="0"/>
                          </a:rPr>
                          <m:t>𝒙</m:t>
                        </m:r>
                      </m:e>
                    </m:d>
                    <m:r>
                      <a:rPr lang="en-GB" b="0" i="1" smtClean="0">
                        <a:latin typeface="Cambria Math" panose="02040503050406030204" pitchFamily="18" charset="0"/>
                      </a:rPr>
                      <m:t>=</m:t>
                    </m:r>
                    <m:r>
                      <a:rPr lang="en-GB" b="0" i="1" smtClean="0">
                        <a:latin typeface="Cambria Math" panose="02040503050406030204" pitchFamily="18" charset="0"/>
                      </a:rPr>
                      <m:t>𝛿</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𝑧</m:t>
                            </m:r>
                          </m:e>
                          <m:sub>
                            <m:r>
                              <a:rPr lang="en-GB" b="0" i="1" smtClean="0">
                                <a:latin typeface="Cambria Math" panose="02040503050406030204" pitchFamily="18" charset="0"/>
                              </a:rPr>
                              <m:t>𝑗</m:t>
                            </m:r>
                          </m:sub>
                        </m:sSub>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𝒔</m:t>
                            </m:r>
                          </m:e>
                          <m:sub>
                            <m:r>
                              <a:rPr lang="en-GB" b="0" i="1" smtClean="0">
                                <a:latin typeface="Cambria Math" panose="02040503050406030204" pitchFamily="18" charset="0"/>
                              </a:rPr>
                              <m:t>𝑗</m:t>
                            </m:r>
                          </m:sub>
                          <m:sup>
                            <m:r>
                              <a:rPr lang="en-GB" b="0" i="1" smtClean="0">
                                <a:latin typeface="Cambria Math" panose="02040503050406030204" pitchFamily="18" charset="0"/>
                              </a:rPr>
                              <m:t>𝑇</m:t>
                            </m:r>
                          </m:sup>
                        </m:sSubSup>
                        <m:r>
                          <a:rPr lang="en-GB" b="0" i="1" smtClean="0">
                            <a:latin typeface="Cambria Math" panose="02040503050406030204" pitchFamily="18" charset="0"/>
                          </a:rPr>
                          <m:t>𝑨𝒙</m:t>
                        </m:r>
                      </m:e>
                    </m:d>
                    <m:r>
                      <a:rPr lang="en-GB" b="0" i="1" smtClean="0">
                        <a:latin typeface="Cambria Math" panose="02040503050406030204" pitchFamily="18" charset="0"/>
                      </a:rPr>
                      <m:t>.</m:t>
                    </m:r>
                  </m:oMath>
                </a14:m>
                <a:endParaRPr lang="en-GB" b="0"/>
              </a:p>
              <a:p>
                <a:r>
                  <a:rPr lang="en-US"/>
                  <a:t>The posterior is then </a:t>
                </a:r>
              </a:p>
              <a:p>
                <a:pPr/>
                <a14:m>
                  <m:oMathPara xmlns:m="http://schemas.openxmlformats.org/officeDocument/2006/math">
                    <m:oMath>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𝒙</m:t>
                          </m:r>
                        </m:e>
                        <m:e>
                          <m:r>
                            <a:rPr lang="en-GB" b="0" i="1" smtClean="0">
                              <a:latin typeface="Cambria Math" panose="02040503050406030204" pitchFamily="18" charset="0"/>
                            </a:rPr>
                            <m:t>𝑧</m:t>
                          </m:r>
                        </m:e>
                      </m:d>
                      <m:r>
                        <a:rPr lang="en-GB" b="0" i="1" smtClean="0">
                          <a:latin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𝒩</m:t>
                      </m:r>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𝒙</m:t>
                          </m:r>
                        </m:e>
                        <m:e>
                          <m:sSup>
                            <m:sSupPr>
                              <m:ctrlPr>
                                <a:rPr lang="en-GB" b="0" i="1" smtClean="0">
                                  <a:latin typeface="Cambria Math" panose="02040503050406030204" pitchFamily="18" charset="0"/>
                                  <a:ea typeface="Cambria Math" panose="02040503050406030204" pitchFamily="18" charset="0"/>
                                </a:rPr>
                              </m:ctrlPr>
                            </m:sSupPr>
                            <m:e>
                              <m:r>
                                <a:rPr lang="en-GB" b="0" i="1" smtClean="0">
                                  <a:latin typeface="Cambria Math" panose="02040503050406030204" pitchFamily="18" charset="0"/>
                                  <a:ea typeface="Cambria Math" panose="02040503050406030204" pitchFamily="18" charset="0"/>
                                </a:rPr>
                                <m:t>𝒙</m:t>
                              </m:r>
                            </m:e>
                            <m:sup>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𝑚</m:t>
                                  </m:r>
                                </m:e>
                              </m:d>
                            </m:sup>
                          </m:sSup>
                          <m:r>
                            <a:rPr lang="en-GB" b="0" i="1" smtClean="0">
                              <a:latin typeface="Cambria Math" panose="02040503050406030204" pitchFamily="18" charset="0"/>
                              <a:ea typeface="Cambria Math" panose="02040503050406030204" pitchFamily="18" charset="0"/>
                            </a:rPr>
                            <m:t>,</m:t>
                          </m:r>
                          <m:sSup>
                            <m:sSupPr>
                              <m:ctrlPr>
                                <a:rPr lang="en-GB" b="0" i="0" smtClean="0">
                                  <a:latin typeface="Cambria Math" panose="02040503050406030204" pitchFamily="18" charset="0"/>
                                  <a:ea typeface="Cambria Math" panose="02040503050406030204" pitchFamily="18" charset="0"/>
                                </a:rPr>
                              </m:ctrlPr>
                            </m:sSupPr>
                            <m:e>
                              <m:r>
                                <a:rPr lang="en-GB" b="0" i="0" smtClean="0">
                                  <a:latin typeface="Cambria Math" panose="02040503050406030204" pitchFamily="18" charset="0"/>
                                  <a:ea typeface="Cambria Math" panose="02040503050406030204" pitchFamily="18" charset="0"/>
                                </a:rPr>
                                <m:t>𝜮</m:t>
                              </m:r>
                            </m:e>
                            <m:sup>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𝑚</m:t>
                                  </m:r>
                                </m:e>
                              </m:d>
                            </m:sup>
                          </m:sSup>
                        </m:e>
                      </m:d>
                    </m:oMath>
                  </m:oMathPara>
                </a14:m>
                <a:endParaRPr lang="en-GB" b="0">
                  <a:ea typeface="Cambria Math" panose="02040503050406030204" pitchFamily="18" charset="0"/>
                </a:endParaRPr>
              </a:p>
              <a:p>
                <a:r>
                  <a:rPr lang="en-GB" b="0">
                    <a:ea typeface="Cambria Math" panose="02040503050406030204" pitchFamily="18" charset="0"/>
                  </a:rPr>
                  <a:t>whose parameters are an update to the prior’s</a:t>
                </a:r>
              </a:p>
              <a:p>
                <a:pPr/>
                <a14:m>
                  <m:oMathPara xmlns:m="http://schemas.openxmlformats.org/officeDocument/2006/math">
                    <m:oMath>
                      <m:sSup>
                        <m:sSupPr>
                          <m:ctrlPr>
                            <a:rPr lang="en-US" i="1">
                              <a:latin typeface="Cambria Math" panose="02040503050406030204" pitchFamily="18" charset="0"/>
                            </a:rPr>
                          </m:ctrlPr>
                        </m:sSupPr>
                        <m:e>
                          <m:r>
                            <a:rPr lang="en-US" i="1">
                              <a:latin typeface="Cambria Math" panose="02040503050406030204" pitchFamily="18" charset="0"/>
                            </a:rPr>
                            <m:t>𝒙</m:t>
                          </m:r>
                        </m:e>
                        <m:sup>
                          <m:r>
                            <a:rPr lang="en-US" i="1">
                              <a:latin typeface="Cambria Math" panose="02040503050406030204" pitchFamily="18" charset="0"/>
                            </a:rPr>
                            <m:t>(</m:t>
                          </m:r>
                          <m:r>
                            <a:rPr lang="en-US" i="1">
                              <a:latin typeface="Cambria Math" panose="02040503050406030204" pitchFamily="18" charset="0"/>
                            </a:rPr>
                            <m:t>𝑚</m:t>
                          </m:r>
                          <m:r>
                            <a:rPr lang="en-US" i="1">
                              <a:latin typeface="Cambria Math" panose="02040503050406030204" pitchFamily="18" charset="0"/>
                            </a:rPr>
                            <m:t>)</m:t>
                          </m:r>
                        </m:sup>
                      </m:sSup>
                      <m:r>
                        <m:rPr>
                          <m:aln/>
                        </m:rP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𝒙</m:t>
                          </m:r>
                        </m:e>
                        <m:sup>
                          <m:d>
                            <m:dPr>
                              <m:ctrlPr>
                                <a:rPr lang="en-US" i="1">
                                  <a:latin typeface="Cambria Math" panose="02040503050406030204" pitchFamily="18" charset="0"/>
                                </a:rPr>
                              </m:ctrlPr>
                            </m:dPr>
                            <m:e>
                              <m:r>
                                <a:rPr lang="en-US" i="1">
                                  <a:latin typeface="Cambria Math" panose="02040503050406030204" pitchFamily="18" charset="0"/>
                                </a:rPr>
                                <m:t>0</m:t>
                              </m:r>
                            </m:e>
                          </m:d>
                        </m:sup>
                      </m:sSup>
                      <m:r>
                        <a:rPr lang="en-US" i="1">
                          <a:latin typeface="Cambria Math" panose="02040503050406030204" pitchFamily="18" charset="0"/>
                        </a:rPr>
                        <m:t>+</m:t>
                      </m:r>
                      <m:sSup>
                        <m:sSupPr>
                          <m:ctrlPr>
                            <a:rPr lang="en-US">
                              <a:latin typeface="Cambria Math" panose="02040503050406030204" pitchFamily="18" charset="0"/>
                            </a:rPr>
                          </m:ctrlPr>
                        </m:sSupPr>
                        <m:e>
                          <m:r>
                            <a:rPr lang="en-US">
                              <a:latin typeface="Cambria Math" panose="02040503050406030204" pitchFamily="18" charset="0"/>
                            </a:rPr>
                            <m:t>𝜮</m:t>
                          </m:r>
                        </m:e>
                        <m:sup>
                          <m:d>
                            <m:dPr>
                              <m:ctrlPr>
                                <a:rPr lang="en-US" i="1">
                                  <a:latin typeface="Cambria Math" panose="02040503050406030204" pitchFamily="18" charset="0"/>
                                </a:rPr>
                              </m:ctrlPr>
                            </m:dPr>
                            <m:e>
                              <m:r>
                                <a:rPr lang="en-US" i="1">
                                  <a:latin typeface="Cambria Math" panose="02040503050406030204" pitchFamily="18" charset="0"/>
                                </a:rPr>
                                <m:t>0</m:t>
                              </m:r>
                            </m:e>
                          </m:d>
                        </m:sup>
                      </m:sSup>
                      <m:sSup>
                        <m:sSupPr>
                          <m:ctrlPr>
                            <a:rPr lang="en-US" i="1">
                              <a:latin typeface="Cambria Math" panose="02040503050406030204" pitchFamily="18" charset="0"/>
                            </a:rPr>
                          </m:ctrlPr>
                        </m:sSupPr>
                        <m:e>
                          <m:r>
                            <a:rPr lang="en-US" i="1">
                              <a:latin typeface="Cambria Math" panose="02040503050406030204" pitchFamily="18" charset="0"/>
                            </a:rPr>
                            <m:t>𝑨</m:t>
                          </m:r>
                        </m:e>
                        <m:sup>
                          <m:r>
                            <a:rPr lang="en-US" i="1">
                              <a:latin typeface="Cambria Math" panose="02040503050406030204" pitchFamily="18" charset="0"/>
                            </a:rPr>
                            <m:t>𝑇</m:t>
                          </m:r>
                        </m:sup>
                      </m:sSup>
                      <m:r>
                        <a:rPr lang="en-US" i="1">
                          <a:latin typeface="Cambria Math" panose="02040503050406030204" pitchFamily="18" charset="0"/>
                        </a:rPr>
                        <m:t>𝑺</m:t>
                      </m:r>
                      <m:r>
                        <a:rPr lang="en-US" i="1">
                          <a:latin typeface="Cambria Math" panose="02040503050406030204" pitchFamily="18" charset="0"/>
                        </a:rPr>
                        <m:t> </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𝑺</m:t>
                                  </m:r>
                                </m:e>
                                <m:sup>
                                  <m:r>
                                    <a:rPr lang="en-US" i="1">
                                      <a:latin typeface="Cambria Math" panose="02040503050406030204" pitchFamily="18" charset="0"/>
                                    </a:rPr>
                                    <m:t>𝑇</m:t>
                                  </m:r>
                                </m:sup>
                              </m:sSup>
                              <m:r>
                                <a:rPr lang="en-US" i="1">
                                  <a:latin typeface="Cambria Math" panose="02040503050406030204" pitchFamily="18" charset="0"/>
                                </a:rPr>
                                <m:t>𝑨</m:t>
                              </m:r>
                              <m:sSup>
                                <m:sSupPr>
                                  <m:ctrlPr>
                                    <a:rPr lang="en-US">
                                      <a:latin typeface="Cambria Math" panose="02040503050406030204" pitchFamily="18" charset="0"/>
                                    </a:rPr>
                                  </m:ctrlPr>
                                </m:sSupPr>
                                <m:e>
                                  <m:r>
                                    <a:rPr lang="en-US">
                                      <a:latin typeface="Cambria Math" panose="02040503050406030204" pitchFamily="18" charset="0"/>
                                    </a:rPr>
                                    <m:t>𝜮</m:t>
                                  </m:r>
                                </m:e>
                                <m:sup>
                                  <m:r>
                                    <a:rPr lang="en-GB" b="0" i="1" smtClean="0">
                                      <a:latin typeface="Cambria Math" panose="02040503050406030204" pitchFamily="18" charset="0"/>
                                    </a:rPr>
                                    <m:t>(</m:t>
                                  </m:r>
                                  <m:r>
                                    <a:rPr lang="en-US" i="1">
                                      <a:latin typeface="Cambria Math" panose="02040503050406030204" pitchFamily="18" charset="0"/>
                                    </a:rPr>
                                    <m:t>0</m:t>
                                  </m:r>
                                  <m:r>
                                    <a:rPr lang="en-GB" b="0" i="1" smtClean="0">
                                      <a:latin typeface="Cambria Math" panose="02040503050406030204" pitchFamily="18" charset="0"/>
                                    </a:rPr>
                                    <m:t>)</m:t>
                                  </m:r>
                                </m:sup>
                              </m:sSup>
                              <m:sSup>
                                <m:sSupPr>
                                  <m:ctrlPr>
                                    <a:rPr lang="en-US" i="1">
                                      <a:latin typeface="Cambria Math" panose="02040503050406030204" pitchFamily="18" charset="0"/>
                                    </a:rPr>
                                  </m:ctrlPr>
                                </m:sSupPr>
                                <m:e>
                                  <m:r>
                                    <a:rPr lang="en-US" i="1">
                                      <a:latin typeface="Cambria Math" panose="02040503050406030204" pitchFamily="18" charset="0"/>
                                    </a:rPr>
                                    <m:t>𝑨</m:t>
                                  </m:r>
                                </m:e>
                                <m:sup>
                                  <m:r>
                                    <a:rPr lang="en-US" i="1">
                                      <a:latin typeface="Cambria Math" panose="02040503050406030204" pitchFamily="18" charset="0"/>
                                    </a:rPr>
                                    <m:t>𝑇</m:t>
                                  </m:r>
                                </m:sup>
                              </m:sSup>
                              <m:r>
                                <a:rPr lang="en-US" i="1">
                                  <a:latin typeface="Cambria Math" panose="02040503050406030204" pitchFamily="18" charset="0"/>
                                </a:rPr>
                                <m:t>𝑺</m:t>
                              </m:r>
                            </m:e>
                          </m:d>
                        </m:e>
                        <m:sup>
                          <m:r>
                            <a:rPr lang="en-US" i="1">
                              <a:latin typeface="Cambria Math" panose="02040503050406030204" pitchFamily="18" charset="0"/>
                            </a:rPr>
                            <m:t>−1</m:t>
                          </m:r>
                        </m:sup>
                      </m:sSup>
                      <m:sSup>
                        <m:sSupPr>
                          <m:ctrlPr>
                            <a:rPr lang="en-US" i="1">
                              <a:latin typeface="Cambria Math" panose="02040503050406030204" pitchFamily="18" charset="0"/>
                            </a:rPr>
                          </m:ctrlPr>
                        </m:sSupPr>
                        <m:e>
                          <m:r>
                            <a:rPr lang="en-US" i="1">
                              <a:latin typeface="Cambria Math" panose="02040503050406030204" pitchFamily="18" charset="0"/>
                            </a:rPr>
                            <m:t>𝑺</m:t>
                          </m:r>
                        </m:e>
                        <m:sup>
                          <m:r>
                            <a:rPr lang="en-US" i="1">
                              <a:latin typeface="Cambria Math" panose="02040503050406030204" pitchFamily="18" charset="0"/>
                            </a:rPr>
                            <m:t>𝑇</m:t>
                          </m:r>
                        </m:sup>
                      </m:sSup>
                      <m:d>
                        <m:dPr>
                          <m:ctrlPr>
                            <a:rPr lang="en-US" i="1">
                              <a:latin typeface="Cambria Math" panose="02040503050406030204" pitchFamily="18" charset="0"/>
                            </a:rPr>
                          </m:ctrlPr>
                        </m:dPr>
                        <m:e>
                          <m:r>
                            <a:rPr lang="en-US" i="1">
                              <a:latin typeface="Cambria Math" panose="02040503050406030204" pitchFamily="18" charset="0"/>
                            </a:rPr>
                            <m:t>𝒃</m:t>
                          </m:r>
                          <m:r>
                            <a:rPr lang="en-US" i="1">
                              <a:latin typeface="Cambria Math" panose="02040503050406030204" pitchFamily="18" charset="0"/>
                            </a:rPr>
                            <m:t>−</m:t>
                          </m:r>
                          <m:r>
                            <a:rPr lang="en-US" i="1">
                              <a:latin typeface="Cambria Math" panose="02040503050406030204" pitchFamily="18" charset="0"/>
                            </a:rPr>
                            <m:t>𝑨</m:t>
                          </m:r>
                          <m:sSup>
                            <m:sSupPr>
                              <m:ctrlPr>
                                <a:rPr lang="en-US" i="1">
                                  <a:latin typeface="Cambria Math" panose="02040503050406030204" pitchFamily="18" charset="0"/>
                                </a:rPr>
                              </m:ctrlPr>
                            </m:sSupPr>
                            <m:e>
                              <m:r>
                                <a:rPr lang="en-US" i="1">
                                  <a:latin typeface="Cambria Math" panose="02040503050406030204" pitchFamily="18" charset="0"/>
                                </a:rPr>
                                <m:t>𝒙</m:t>
                              </m:r>
                            </m:e>
                            <m:sup>
                              <m:d>
                                <m:dPr>
                                  <m:ctrlPr>
                                    <a:rPr lang="en-US" i="1">
                                      <a:latin typeface="Cambria Math" panose="02040503050406030204" pitchFamily="18" charset="0"/>
                                    </a:rPr>
                                  </m:ctrlPr>
                                </m:dPr>
                                <m:e>
                                  <m:r>
                                    <a:rPr lang="en-US" i="1">
                                      <a:latin typeface="Cambria Math" panose="02040503050406030204" pitchFamily="18" charset="0"/>
                                    </a:rPr>
                                    <m:t>0</m:t>
                                  </m:r>
                                </m:e>
                              </m:d>
                            </m:sup>
                          </m:sSup>
                        </m:e>
                      </m:d>
                    </m:oMath>
                    <m:oMath>
                      <m:sSup>
                        <m:sSupPr>
                          <m:ctrlPr>
                            <a:rPr lang="en-US">
                              <a:latin typeface="Cambria Math" panose="02040503050406030204" pitchFamily="18" charset="0"/>
                            </a:rPr>
                          </m:ctrlPr>
                        </m:sSupPr>
                        <m:e>
                          <m:r>
                            <a:rPr lang="en-US">
                              <a:latin typeface="Cambria Math" panose="02040503050406030204" pitchFamily="18" charset="0"/>
                            </a:rPr>
                            <m:t>𝜮</m:t>
                          </m:r>
                        </m:e>
                        <m:sup>
                          <m:r>
                            <a:rPr lang="en-US" i="1">
                              <a:latin typeface="Cambria Math" panose="02040503050406030204" pitchFamily="18" charset="0"/>
                            </a:rPr>
                            <m:t>(</m:t>
                          </m:r>
                          <m:r>
                            <a:rPr lang="en-US" i="1">
                              <a:latin typeface="Cambria Math" panose="02040503050406030204" pitchFamily="18" charset="0"/>
                            </a:rPr>
                            <m:t>𝑚</m:t>
                          </m:r>
                          <m:r>
                            <a:rPr lang="en-US" i="1">
                              <a:latin typeface="Cambria Math" panose="02040503050406030204" pitchFamily="18" charset="0"/>
                            </a:rPr>
                            <m:t>)</m:t>
                          </m:r>
                        </m:sup>
                      </m:sSup>
                      <m:r>
                        <m:rPr>
                          <m:aln/>
                        </m:rPr>
                        <a:rPr lang="en-US" i="1">
                          <a:latin typeface="Cambria Math" panose="02040503050406030204" pitchFamily="18" charset="0"/>
                        </a:rPr>
                        <m:t>=</m:t>
                      </m:r>
                      <m:sSup>
                        <m:sSupPr>
                          <m:ctrlPr>
                            <a:rPr lang="en-US">
                              <a:latin typeface="Cambria Math" panose="02040503050406030204" pitchFamily="18" charset="0"/>
                            </a:rPr>
                          </m:ctrlPr>
                        </m:sSupPr>
                        <m:e>
                          <m:r>
                            <a:rPr lang="en-US">
                              <a:latin typeface="Cambria Math" panose="02040503050406030204" pitchFamily="18" charset="0"/>
                            </a:rPr>
                            <m:t>𝜮</m:t>
                          </m:r>
                        </m:e>
                        <m:sup>
                          <m:d>
                            <m:dPr>
                              <m:ctrlPr>
                                <a:rPr lang="en-US" i="1">
                                  <a:latin typeface="Cambria Math" panose="02040503050406030204" pitchFamily="18" charset="0"/>
                                </a:rPr>
                              </m:ctrlPr>
                            </m:dPr>
                            <m:e>
                              <m:r>
                                <a:rPr lang="en-US" i="1">
                                  <a:latin typeface="Cambria Math" panose="02040503050406030204" pitchFamily="18" charset="0"/>
                                </a:rPr>
                                <m:t>0</m:t>
                              </m:r>
                            </m:e>
                          </m:d>
                        </m:sup>
                      </m:sSup>
                      <m:r>
                        <a:rPr lang="en-US" i="1">
                          <a:latin typeface="Cambria Math" panose="02040503050406030204" pitchFamily="18" charset="0"/>
                        </a:rPr>
                        <m:t>−</m:t>
                      </m:r>
                      <m:sSup>
                        <m:sSupPr>
                          <m:ctrlPr>
                            <a:rPr lang="en-US">
                              <a:latin typeface="Cambria Math" panose="02040503050406030204" pitchFamily="18" charset="0"/>
                            </a:rPr>
                          </m:ctrlPr>
                        </m:sSupPr>
                        <m:e>
                          <m:r>
                            <a:rPr lang="en-US">
                              <a:latin typeface="Cambria Math" panose="02040503050406030204" pitchFamily="18" charset="0"/>
                            </a:rPr>
                            <m:t>𝜮</m:t>
                          </m:r>
                        </m:e>
                        <m:sup>
                          <m:d>
                            <m:dPr>
                              <m:ctrlPr>
                                <a:rPr lang="en-US" i="1">
                                  <a:latin typeface="Cambria Math" panose="02040503050406030204" pitchFamily="18" charset="0"/>
                                </a:rPr>
                              </m:ctrlPr>
                            </m:dPr>
                            <m:e>
                              <m:r>
                                <a:rPr lang="en-US" i="1">
                                  <a:latin typeface="Cambria Math" panose="02040503050406030204" pitchFamily="18" charset="0"/>
                                </a:rPr>
                                <m:t>0</m:t>
                              </m:r>
                            </m:e>
                          </m:d>
                        </m:sup>
                      </m:sSup>
                      <m:sSup>
                        <m:sSupPr>
                          <m:ctrlPr>
                            <a:rPr lang="en-US" i="1">
                              <a:latin typeface="Cambria Math" panose="02040503050406030204" pitchFamily="18" charset="0"/>
                            </a:rPr>
                          </m:ctrlPr>
                        </m:sSupPr>
                        <m:e>
                          <m:r>
                            <a:rPr lang="en-US" i="1">
                              <a:latin typeface="Cambria Math" panose="02040503050406030204" pitchFamily="18" charset="0"/>
                            </a:rPr>
                            <m:t>𝑨</m:t>
                          </m:r>
                        </m:e>
                        <m:sup>
                          <m:r>
                            <a:rPr lang="en-US" i="1">
                              <a:latin typeface="Cambria Math" panose="02040503050406030204" pitchFamily="18" charset="0"/>
                            </a:rPr>
                            <m:t>𝑇</m:t>
                          </m:r>
                        </m:sup>
                      </m:sSup>
                      <m:r>
                        <a:rPr lang="en-US" i="1">
                          <a:latin typeface="Cambria Math" panose="02040503050406030204" pitchFamily="18" charset="0"/>
                        </a:rPr>
                        <m:t>𝑺</m:t>
                      </m:r>
                      <m:r>
                        <a:rPr lang="en-US" i="1">
                          <a:latin typeface="Cambria Math" panose="02040503050406030204" pitchFamily="18" charset="0"/>
                        </a:rPr>
                        <m:t> </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𝑺</m:t>
                                  </m:r>
                                </m:e>
                                <m:sup>
                                  <m:r>
                                    <a:rPr lang="en-US" i="1">
                                      <a:latin typeface="Cambria Math" panose="02040503050406030204" pitchFamily="18" charset="0"/>
                                    </a:rPr>
                                    <m:t>𝑇</m:t>
                                  </m:r>
                                </m:sup>
                              </m:sSup>
                              <m:r>
                                <a:rPr lang="en-US" i="1">
                                  <a:latin typeface="Cambria Math" panose="02040503050406030204" pitchFamily="18" charset="0"/>
                                </a:rPr>
                                <m:t>𝑨</m:t>
                              </m:r>
                              <m:sSup>
                                <m:sSupPr>
                                  <m:ctrlPr>
                                    <a:rPr lang="en-US">
                                      <a:latin typeface="Cambria Math" panose="02040503050406030204" pitchFamily="18" charset="0"/>
                                    </a:rPr>
                                  </m:ctrlPr>
                                </m:sSupPr>
                                <m:e>
                                  <m:r>
                                    <a:rPr lang="en-US">
                                      <a:latin typeface="Cambria Math" panose="02040503050406030204" pitchFamily="18" charset="0"/>
                                    </a:rPr>
                                    <m:t>𝜮</m:t>
                                  </m:r>
                                </m:e>
                                <m:sup>
                                  <m:r>
                                    <a:rPr lang="en-GB" b="0" i="1" smtClean="0">
                                      <a:latin typeface="Cambria Math" panose="02040503050406030204" pitchFamily="18" charset="0"/>
                                    </a:rPr>
                                    <m:t>(</m:t>
                                  </m:r>
                                  <m:r>
                                    <a:rPr lang="en-US" i="1">
                                      <a:latin typeface="Cambria Math" panose="02040503050406030204" pitchFamily="18" charset="0"/>
                                    </a:rPr>
                                    <m:t>0</m:t>
                                  </m:r>
                                  <m:r>
                                    <a:rPr lang="en-GB" b="0" i="1" smtClean="0">
                                      <a:latin typeface="Cambria Math" panose="02040503050406030204" pitchFamily="18" charset="0"/>
                                    </a:rPr>
                                    <m:t>)</m:t>
                                  </m:r>
                                </m:sup>
                              </m:sSup>
                              <m:sSup>
                                <m:sSupPr>
                                  <m:ctrlPr>
                                    <a:rPr lang="en-US" i="1">
                                      <a:latin typeface="Cambria Math" panose="02040503050406030204" pitchFamily="18" charset="0"/>
                                    </a:rPr>
                                  </m:ctrlPr>
                                </m:sSupPr>
                                <m:e>
                                  <m:r>
                                    <a:rPr lang="en-US" i="1">
                                      <a:latin typeface="Cambria Math" panose="02040503050406030204" pitchFamily="18" charset="0"/>
                                    </a:rPr>
                                    <m:t>𝑨</m:t>
                                  </m:r>
                                </m:e>
                                <m:sup>
                                  <m:r>
                                    <a:rPr lang="en-US" i="1">
                                      <a:latin typeface="Cambria Math" panose="02040503050406030204" pitchFamily="18" charset="0"/>
                                    </a:rPr>
                                    <m:t>𝑇</m:t>
                                  </m:r>
                                </m:sup>
                              </m:sSup>
                              <m:r>
                                <a:rPr lang="en-US" i="1">
                                  <a:latin typeface="Cambria Math" panose="02040503050406030204" pitchFamily="18" charset="0"/>
                                </a:rPr>
                                <m:t>𝑺</m:t>
                              </m:r>
                            </m:e>
                          </m:d>
                        </m:e>
                        <m:sup>
                          <m:r>
                            <a:rPr lang="en-US" i="1">
                              <a:latin typeface="Cambria Math" panose="02040503050406030204" pitchFamily="18" charset="0"/>
                            </a:rPr>
                            <m:t>−1</m:t>
                          </m:r>
                        </m:sup>
                      </m:sSup>
                      <m:sSup>
                        <m:sSupPr>
                          <m:ctrlPr>
                            <a:rPr lang="en-US" i="1">
                              <a:latin typeface="Cambria Math" panose="02040503050406030204" pitchFamily="18" charset="0"/>
                            </a:rPr>
                          </m:ctrlPr>
                        </m:sSupPr>
                        <m:e>
                          <m:r>
                            <a:rPr lang="en-US" i="1">
                              <a:latin typeface="Cambria Math" panose="02040503050406030204" pitchFamily="18" charset="0"/>
                            </a:rPr>
                            <m:t>𝑺</m:t>
                          </m:r>
                        </m:e>
                        <m:sup>
                          <m:r>
                            <a:rPr lang="en-US" i="1">
                              <a:latin typeface="Cambria Math" panose="02040503050406030204" pitchFamily="18" charset="0"/>
                            </a:rPr>
                            <m:t>𝑇</m:t>
                          </m:r>
                        </m:sup>
                      </m:sSup>
                      <m:r>
                        <a:rPr lang="en-US" i="1">
                          <a:latin typeface="Cambria Math" panose="02040503050406030204" pitchFamily="18" charset="0"/>
                        </a:rPr>
                        <m:t>𝑨</m:t>
                      </m:r>
                      <m:sSup>
                        <m:sSupPr>
                          <m:ctrlPr>
                            <a:rPr lang="en-US">
                              <a:latin typeface="Cambria Math" panose="02040503050406030204" pitchFamily="18" charset="0"/>
                            </a:rPr>
                          </m:ctrlPr>
                        </m:sSupPr>
                        <m:e>
                          <m:r>
                            <a:rPr lang="en-US">
                              <a:latin typeface="Cambria Math" panose="02040503050406030204" pitchFamily="18" charset="0"/>
                            </a:rPr>
                            <m:t>𝜮</m:t>
                          </m:r>
                        </m:e>
                        <m:sup>
                          <m:r>
                            <a:rPr lang="en-US">
                              <a:latin typeface="Cambria Math" panose="02040503050406030204" pitchFamily="18" charset="0"/>
                            </a:rPr>
                            <m:t>(0)</m:t>
                          </m:r>
                        </m:sup>
                      </m:sSup>
                    </m:oMath>
                  </m:oMathPara>
                </a14:m>
                <a:endParaRPr lang="en-US"/>
              </a:p>
              <a:p>
                <a:endParaRPr lang="en-GB" b="0">
                  <a:ea typeface="Cambria Math" panose="02040503050406030204" pitchFamily="18" charset="0"/>
                </a:endParaRPr>
              </a:p>
            </p:txBody>
          </p:sp>
        </mc:Choice>
        <mc:Fallback xmlns="">
          <p:sp>
            <p:nvSpPr>
              <p:cNvPr id="4" name="Tijdelijke aanduiding voor inhoud 3">
                <a:extLst>
                  <a:ext uri="{FF2B5EF4-FFF2-40B4-BE49-F238E27FC236}">
                    <a16:creationId xmlns:a16="http://schemas.microsoft.com/office/drawing/2014/main" id="{6ECA2006-38E2-1759-671E-B0AA9EDE19E6}"/>
                  </a:ext>
                </a:extLst>
              </p:cNvPr>
              <p:cNvSpPr>
                <a:spLocks noGrp="1" noRot="1" noChangeAspect="1" noMove="1" noResize="1" noEditPoints="1" noAdjustHandles="1" noChangeArrowheads="1" noChangeShapeType="1" noTextEdit="1"/>
              </p:cNvSpPr>
              <p:nvPr>
                <p:ph idx="1"/>
              </p:nvPr>
            </p:nvSpPr>
            <p:spPr>
              <a:blipFill>
                <a:blip r:embed="rId4"/>
                <a:stretch>
                  <a:fillRect l="-1538" t="-1289"/>
                </a:stretch>
              </a:blipFill>
            </p:spPr>
            <p:txBody>
              <a:bodyPr/>
              <a:lstStyle/>
              <a:p>
                <a:r>
                  <a:rPr lang="en-US">
                    <a:noFill/>
                  </a:rPr>
                  <a:t> </a:t>
                </a:r>
              </a:p>
            </p:txBody>
          </p:sp>
        </mc:Fallback>
      </mc:AlternateContent>
      <p:sp>
        <p:nvSpPr>
          <p:cNvPr id="6" name="Tijdelijke aanduiding voor dianummer 5"/>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16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12B91-64D9-8363-F299-76FD67D707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74E6D3-2393-ED6B-7E02-C3F632BBF4A6}"/>
              </a:ext>
            </a:extLst>
          </p:cNvPr>
          <p:cNvSpPr>
            <a:spLocks noGrp="1"/>
          </p:cNvSpPr>
          <p:nvPr>
            <p:ph type="title"/>
          </p:nvPr>
        </p:nvSpPr>
        <p:spPr/>
        <p:txBody>
          <a:bodyPr/>
          <a:lstStyle/>
          <a:p>
            <a:r>
              <a:rPr sz="2600" b="1" err="1">
                <a:latin typeface="Calibri"/>
              </a:rPr>
              <a:t>BayesCG</a:t>
            </a:r>
            <a:endParaRPr sz="2600" b="1">
              <a:latin typeface="Calibri"/>
            </a:endParaRPr>
          </a:p>
        </p:txBody>
      </p:sp>
      <p:pic>
        <p:nvPicPr>
          <p:cNvPr id="3" name="bayescg">
            <a:hlinkClick r:id="" action="ppaction://media"/>
            <a:extLst>
              <a:ext uri="{FF2B5EF4-FFF2-40B4-BE49-F238E27FC236}">
                <a16:creationId xmlns:a16="http://schemas.microsoft.com/office/drawing/2014/main" id="{D018DC47-A225-60F5-52DF-463C16BCB8A3}"/>
              </a:ext>
            </a:extLst>
          </p:cNvPr>
          <p:cNvPicPr>
            <a:picLocks noGrp="1" noChangeAspect="1"/>
          </p:cNvPicPr>
          <p:nvPr>
            <p:ph idx="1"/>
            <a:videoFile r:link="rId2"/>
            <p:extLst>
              <p:ext uri="{DAA4B4D4-6D71-4841-9C94-3DE7FCFB9230}">
                <p14:media xmlns:p14="http://schemas.microsoft.com/office/powerpoint/2010/main" r:embed="rId1"/>
              </p:ext>
            </p:extLst>
          </p:nvPr>
        </p:nvPicPr>
        <p:blipFill>
          <a:blip r:embed="rId5"/>
          <a:stretch>
            <a:fillRect/>
          </a:stretch>
        </p:blipFill>
        <p:spPr>
          <a:xfrm>
            <a:off x="612000" y="1201168"/>
            <a:ext cx="7449393" cy="3645151"/>
          </a:xfrm>
        </p:spPr>
      </p:pic>
      <p:sp>
        <p:nvSpPr>
          <p:cNvPr id="6" name="Tijdelijke aanduiding voor dianummer 5">
            <a:extLst>
              <a:ext uri="{FF2B5EF4-FFF2-40B4-BE49-F238E27FC236}">
                <a16:creationId xmlns:a16="http://schemas.microsoft.com/office/drawing/2014/main" id="{13C425EF-3A6E-146E-09CD-BD5402B3CE49}"/>
              </a:ext>
            </a:extLst>
          </p:cNvPr>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17</a:t>
            </a:fld>
            <a:endParaRPr lang="en-US"/>
          </a:p>
        </p:txBody>
      </p:sp>
    </p:spTree>
    <p:extLst>
      <p:ext uri="{BB962C8B-B14F-4D97-AF65-F5344CB8AC3E}">
        <p14:creationId xmlns:p14="http://schemas.microsoft.com/office/powerpoint/2010/main" val="1781073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963BCC5-5E0E-E0C0-22E3-30FF41A31F1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4F00810C-347B-18FB-67F3-40F0A27AEBF4}"/>
                  </a:ext>
                </a:extLst>
              </p:cNvPr>
              <p:cNvSpPr>
                <a:spLocks noGrp="1"/>
              </p:cNvSpPr>
              <p:nvPr>
                <p:ph type="title"/>
              </p:nvPr>
            </p:nvSpPr>
            <p:spPr>
              <a:xfrm>
                <a:off x="612648" y="475488"/>
                <a:ext cx="7918704" cy="548640"/>
              </a:xfrm>
            </p:spPr>
            <p:txBody>
              <a:bodyPr/>
              <a:lstStyle/>
              <a:p>
                <a:r>
                  <a:rPr lang="en-GB" sz="2600" b="1">
                    <a:solidFill>
                      <a:srgbClr val="FFFFFF"/>
                    </a:solidFill>
                    <a:latin typeface="Calibri"/>
                  </a:rPr>
                  <a:t>4. Message passing approach to </a:t>
                </a:r>
                <a14:m>
                  <m:oMath xmlns:m="http://schemas.openxmlformats.org/officeDocument/2006/math">
                    <m:r>
                      <a:rPr lang="en-US" sz="2800" i="1" dirty="0">
                        <a:solidFill>
                          <a:srgbClr val="FFFFFF"/>
                        </a:solidFill>
                        <a:latin typeface="Cambria Math" panose="02040503050406030204" pitchFamily="18" charset="0"/>
                      </a:rPr>
                      <m:t>𝐴</m:t>
                    </m:r>
                    <m:r>
                      <a:rPr lang="en-US" sz="2800" dirty="0">
                        <a:solidFill>
                          <a:srgbClr val="FFFFFF"/>
                        </a:solidFill>
                        <a:latin typeface="Cambria Math" panose="02040503050406030204" pitchFamily="18" charset="0"/>
                      </a:rPr>
                      <m:t>𝐱</m:t>
                    </m:r>
                    <m:r>
                      <a:rPr lang="en-US" sz="2800" dirty="0">
                        <a:solidFill>
                          <a:srgbClr val="FFFFFF"/>
                        </a:solidFill>
                        <a:latin typeface="Cambria Math" panose="02040503050406030204" pitchFamily="18" charset="0"/>
                      </a:rPr>
                      <m:t>=</m:t>
                    </m:r>
                    <m:r>
                      <a:rPr lang="en-US" sz="2800" dirty="0">
                        <a:solidFill>
                          <a:srgbClr val="FFFFFF"/>
                        </a:solidFill>
                        <a:latin typeface="Cambria Math" panose="02040503050406030204" pitchFamily="18" charset="0"/>
                      </a:rPr>
                      <m:t>𝐛</m:t>
                    </m:r>
                  </m:oMath>
                </a14:m>
                <a:endParaRPr sz="2600" b="1">
                  <a:solidFill>
                    <a:srgbClr val="FFFFFF"/>
                  </a:solidFill>
                  <a:latin typeface="Calibri"/>
                </a:endParaRPr>
              </a:p>
            </p:txBody>
          </p:sp>
        </mc:Choice>
        <mc:Fallback xmlns="">
          <p:sp>
            <p:nvSpPr>
              <p:cNvPr id="2" name="Title 1">
                <a:extLst>
                  <a:ext uri="{FF2B5EF4-FFF2-40B4-BE49-F238E27FC236}">
                    <a16:creationId xmlns:a16="http://schemas.microsoft.com/office/drawing/2014/main" id="{4F00810C-347B-18FB-67F3-40F0A27AEBF4}"/>
                  </a:ext>
                </a:extLst>
              </p:cNvPr>
              <p:cNvSpPr>
                <a:spLocks noGrp="1" noRot="1" noChangeAspect="1" noMove="1" noResize="1" noEditPoints="1" noAdjustHandles="1" noChangeArrowheads="1" noChangeShapeType="1" noTextEdit="1"/>
              </p:cNvSpPr>
              <p:nvPr>
                <p:ph type="title"/>
              </p:nvPr>
            </p:nvSpPr>
            <p:spPr>
              <a:xfrm>
                <a:off x="612648" y="475488"/>
                <a:ext cx="7918704" cy="548640"/>
              </a:xfrm>
              <a:blipFill>
                <a:blip r:embed="rId3"/>
                <a:stretch>
                  <a:fillRect l="-2540" t="-27778"/>
                </a:stretch>
              </a:blipFill>
            </p:spPr>
            <p:txBody>
              <a:bodyPr/>
              <a:lstStyle/>
              <a:p>
                <a:r>
                  <a:rPr lang="en-US">
                    <a:noFill/>
                  </a:rPr>
                  <a:t> </a:t>
                </a:r>
              </a:p>
            </p:txBody>
          </p:sp>
        </mc:Fallback>
      </mc:AlternateContent>
      <p:sp>
        <p:nvSpPr>
          <p:cNvPr id="4" name="Tijdelijke aanduiding voor dianummer 3">
            <a:extLst>
              <a:ext uri="{FF2B5EF4-FFF2-40B4-BE49-F238E27FC236}">
                <a16:creationId xmlns:a16="http://schemas.microsoft.com/office/drawing/2014/main" id="{3010F51B-558E-7F7E-5F87-85F1C2624AE1}"/>
              </a:ext>
            </a:extLst>
          </p:cNvPr>
          <p:cNvSpPr>
            <a:spLocks noGrp="1"/>
          </p:cNvSpPr>
          <p:nvPr>
            <p:ph type="sldNum" sz="quarter" idx="11"/>
          </p:nvPr>
        </p:nvSpPr>
        <p:spPr/>
        <p:txBody>
          <a:bodyPr/>
          <a:lstStyle/>
          <a:p>
            <a:fld id="{B7CEC10D-CD46-426F-915E-6C78530279CB}" type="slidenum">
              <a:rPr lang="en-US" smtClean="0"/>
              <a:pPr/>
              <a:t>18</a:t>
            </a:fld>
            <a:endParaRPr lang="en-US"/>
          </a:p>
        </p:txBody>
      </p:sp>
      <p:sp>
        <p:nvSpPr>
          <p:cNvPr id="6" name="Oval 5">
            <a:extLst>
              <a:ext uri="{FF2B5EF4-FFF2-40B4-BE49-F238E27FC236}">
                <a16:creationId xmlns:a16="http://schemas.microsoft.com/office/drawing/2014/main" id="{AA39226F-3B33-C6E2-CA71-CB6BC00B6E43}"/>
              </a:ext>
            </a:extLst>
          </p:cNvPr>
          <p:cNvSpPr/>
          <p:nvPr/>
        </p:nvSpPr>
        <p:spPr>
          <a:xfrm>
            <a:off x="612000" y="1639411"/>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A</a:t>
            </a:r>
            <a:endParaRPr sz="1400" b="1">
              <a:solidFill>
                <a:srgbClr val="101073"/>
              </a:solidFill>
              <a:latin typeface="Calibri"/>
            </a:endParaRPr>
          </a:p>
        </p:txBody>
      </p:sp>
      <p:sp>
        <p:nvSpPr>
          <p:cNvPr id="7" name="TextBox 6">
            <a:extLst>
              <a:ext uri="{FF2B5EF4-FFF2-40B4-BE49-F238E27FC236}">
                <a16:creationId xmlns:a16="http://schemas.microsoft.com/office/drawing/2014/main" id="{F330C549-E42B-6959-FC5A-C506273D4B2F}"/>
              </a:ext>
            </a:extLst>
          </p:cNvPr>
          <p:cNvSpPr txBox="1"/>
          <p:nvPr/>
        </p:nvSpPr>
        <p:spPr>
          <a:xfrm>
            <a:off x="1252080" y="1708324"/>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a:solidFill>
                  <a:srgbClr val="FFFFFF"/>
                </a:solidFill>
                <a:latin typeface="Calibri"/>
              </a:rPr>
              <a:t>Setup</a:t>
            </a:r>
            <a:endParaRPr sz="1400" b="0" i="0">
              <a:solidFill>
                <a:srgbClr val="C9CDE8"/>
              </a:solidFill>
              <a:latin typeface="Calibri"/>
            </a:endParaRPr>
          </a:p>
        </p:txBody>
      </p:sp>
      <p:sp>
        <p:nvSpPr>
          <p:cNvPr id="8" name="Oval 7">
            <a:extLst>
              <a:ext uri="{FF2B5EF4-FFF2-40B4-BE49-F238E27FC236}">
                <a16:creationId xmlns:a16="http://schemas.microsoft.com/office/drawing/2014/main" id="{C1F97D8D-385C-B7AD-85FE-4A00C9CE9756}"/>
              </a:ext>
            </a:extLst>
          </p:cNvPr>
          <p:cNvSpPr/>
          <p:nvPr/>
        </p:nvSpPr>
        <p:spPr>
          <a:xfrm>
            <a:off x="612000" y="2352643"/>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B</a:t>
            </a:r>
            <a:endParaRPr sz="1400" b="1">
              <a:solidFill>
                <a:srgbClr val="101073"/>
              </a:solidFill>
              <a:latin typeface="Calibri"/>
            </a:endParaRPr>
          </a:p>
        </p:txBody>
      </p:sp>
      <p:sp>
        <p:nvSpPr>
          <p:cNvPr id="9" name="TextBox 8">
            <a:extLst>
              <a:ext uri="{FF2B5EF4-FFF2-40B4-BE49-F238E27FC236}">
                <a16:creationId xmlns:a16="http://schemas.microsoft.com/office/drawing/2014/main" id="{FE3E6C40-28A7-8E37-8C4A-C4DCFC82E921}"/>
              </a:ext>
            </a:extLst>
          </p:cNvPr>
          <p:cNvSpPr txBox="1"/>
          <p:nvPr/>
        </p:nvSpPr>
        <p:spPr>
          <a:xfrm>
            <a:off x="1252080" y="2448639"/>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Forney-style Factor Graphs</a:t>
            </a:r>
            <a:endParaRPr sz="1400" b="0" i="0">
              <a:solidFill>
                <a:srgbClr val="C9CDE8"/>
              </a:solidFill>
              <a:latin typeface="Calibri"/>
            </a:endParaRPr>
          </a:p>
        </p:txBody>
      </p:sp>
      <p:sp>
        <p:nvSpPr>
          <p:cNvPr id="3" name="Oval 2">
            <a:extLst>
              <a:ext uri="{FF2B5EF4-FFF2-40B4-BE49-F238E27FC236}">
                <a16:creationId xmlns:a16="http://schemas.microsoft.com/office/drawing/2014/main" id="{8FC5B2EB-16F0-14AC-A763-91B8EBBF8231}"/>
              </a:ext>
            </a:extLst>
          </p:cNvPr>
          <p:cNvSpPr/>
          <p:nvPr/>
        </p:nvSpPr>
        <p:spPr>
          <a:xfrm>
            <a:off x="612000" y="3061037"/>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C</a:t>
            </a:r>
            <a:endParaRPr sz="1400" b="1">
              <a:solidFill>
                <a:srgbClr val="101073"/>
              </a:solidFill>
              <a:latin typeface="Calibri"/>
            </a:endParaRPr>
          </a:p>
        </p:txBody>
      </p:sp>
      <p:sp>
        <p:nvSpPr>
          <p:cNvPr id="5" name="TextBox 4">
            <a:extLst>
              <a:ext uri="{FF2B5EF4-FFF2-40B4-BE49-F238E27FC236}">
                <a16:creationId xmlns:a16="http://schemas.microsoft.com/office/drawing/2014/main" id="{3F03B7BB-8C5F-4A07-9613-3A4A200A6933}"/>
              </a:ext>
            </a:extLst>
          </p:cNvPr>
          <p:cNvSpPr txBox="1"/>
          <p:nvPr/>
        </p:nvSpPr>
        <p:spPr>
          <a:xfrm>
            <a:off x="1252080" y="3157033"/>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Belief propagation</a:t>
            </a:r>
            <a:endParaRPr sz="1400" b="0" i="0">
              <a:solidFill>
                <a:srgbClr val="C9CDE8"/>
              </a:solidFill>
              <a:latin typeface="Calibri"/>
            </a:endParaRPr>
          </a:p>
        </p:txBody>
      </p:sp>
      <p:sp>
        <p:nvSpPr>
          <p:cNvPr id="10" name="Oval 9">
            <a:extLst>
              <a:ext uri="{FF2B5EF4-FFF2-40B4-BE49-F238E27FC236}">
                <a16:creationId xmlns:a16="http://schemas.microsoft.com/office/drawing/2014/main" id="{6E9459EA-D507-4303-C3DE-DE2956F4C675}"/>
              </a:ext>
            </a:extLst>
          </p:cNvPr>
          <p:cNvSpPr/>
          <p:nvPr/>
        </p:nvSpPr>
        <p:spPr>
          <a:xfrm>
            <a:off x="612000" y="3772347"/>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D</a:t>
            </a:r>
            <a:endParaRPr sz="1400" b="1">
              <a:solidFill>
                <a:srgbClr val="101073"/>
              </a:solidFill>
              <a:latin typeface="Calibri"/>
            </a:endParaRP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E726399-27D1-5DD5-2B2B-5454A4A31E63}"/>
                  </a:ext>
                </a:extLst>
              </p:cNvPr>
              <p:cNvSpPr txBox="1"/>
              <p:nvPr/>
            </p:nvSpPr>
            <p:spPr>
              <a:xfrm>
                <a:off x="1252080" y="3868343"/>
                <a:ext cx="6949440" cy="246221"/>
              </a:xfrm>
              <a:prstGeom prst="rect">
                <a:avLst/>
              </a:prstGeom>
              <a:noFill/>
            </p:spPr>
            <p:txBody>
              <a:bodyPr wrap="square" lIns="0" tIns="0" rIns="0" bIns="0" anchor="ctr">
                <a:spAutoFit/>
              </a:bodyPr>
              <a:lstStyle/>
              <a:p>
                <a:pPr>
                  <a:spcAft>
                    <a:spcPts val="600"/>
                  </a:spcAft>
                </a:pPr>
                <a:r>
                  <a:rPr lang="en-US" sz="1600" b="1">
                    <a:solidFill>
                      <a:srgbClr val="FFFFFF"/>
                    </a:solidFill>
                  </a:rPr>
                  <a:t>Solving </a:t>
                </a:r>
                <a14:m>
                  <m:oMath xmlns:m="http://schemas.openxmlformats.org/officeDocument/2006/math">
                    <m:r>
                      <a:rPr lang="en-US" sz="1600" b="1" i="1" dirty="0">
                        <a:solidFill>
                          <a:srgbClr val="FFFFFF"/>
                        </a:solidFill>
                        <a:latin typeface="Cambria Math" panose="02040503050406030204" pitchFamily="18" charset="0"/>
                      </a:rPr>
                      <m:t>𝐴</m:t>
                    </m:r>
                    <m:r>
                      <a:rPr lang="en-US" sz="1600" b="1" dirty="0">
                        <a:solidFill>
                          <a:srgbClr val="FFFFFF"/>
                        </a:solidFill>
                        <a:latin typeface="Cambria Math" panose="02040503050406030204" pitchFamily="18" charset="0"/>
                      </a:rPr>
                      <m:t>𝐱</m:t>
                    </m:r>
                    <m:r>
                      <a:rPr lang="en-US" sz="1600" b="1" dirty="0">
                        <a:solidFill>
                          <a:srgbClr val="FFFFFF"/>
                        </a:solidFill>
                        <a:latin typeface="Cambria Math" panose="02040503050406030204" pitchFamily="18" charset="0"/>
                      </a:rPr>
                      <m:t>=</m:t>
                    </m:r>
                    <m:r>
                      <a:rPr lang="en-US" sz="1600" b="1" dirty="0">
                        <a:solidFill>
                          <a:srgbClr val="FFFFFF"/>
                        </a:solidFill>
                        <a:latin typeface="Cambria Math" panose="02040503050406030204" pitchFamily="18" charset="0"/>
                      </a:rPr>
                      <m:t>𝐛</m:t>
                    </m:r>
                  </m:oMath>
                </a14:m>
                <a:r>
                  <a:rPr lang="en-US" sz="1600" b="1">
                    <a:solidFill>
                      <a:srgbClr val="FFFFFF"/>
                    </a:solidFill>
                  </a:rPr>
                  <a:t> by Message-Passing on a Factor-Graph</a:t>
                </a:r>
                <a:endParaRPr lang="en-US" sz="1400">
                  <a:solidFill>
                    <a:srgbClr val="C9CDE8"/>
                  </a:solidFill>
                </a:endParaRPr>
              </a:p>
            </p:txBody>
          </p:sp>
        </mc:Choice>
        <mc:Fallback xmlns="">
          <p:sp>
            <p:nvSpPr>
              <p:cNvPr id="11" name="TextBox 10">
                <a:extLst>
                  <a:ext uri="{FF2B5EF4-FFF2-40B4-BE49-F238E27FC236}">
                    <a16:creationId xmlns:a16="http://schemas.microsoft.com/office/drawing/2014/main" id="{CE726399-27D1-5DD5-2B2B-5454A4A31E63}"/>
                  </a:ext>
                </a:extLst>
              </p:cNvPr>
              <p:cNvSpPr txBox="1">
                <a:spLocks noRot="1" noChangeAspect="1" noMove="1" noResize="1" noEditPoints="1" noAdjustHandles="1" noChangeArrowheads="1" noChangeShapeType="1" noTextEdit="1"/>
              </p:cNvSpPr>
              <p:nvPr/>
            </p:nvSpPr>
            <p:spPr>
              <a:xfrm>
                <a:off x="1252080" y="3868343"/>
                <a:ext cx="6949440" cy="246221"/>
              </a:xfrm>
              <a:prstGeom prst="rect">
                <a:avLst/>
              </a:prstGeom>
              <a:blipFill>
                <a:blip r:embed="rId4"/>
                <a:stretch>
                  <a:fillRect l="-1754" t="-27500" b="-50000"/>
                </a:stretch>
              </a:blipFill>
            </p:spPr>
            <p:txBody>
              <a:bodyPr/>
              <a:lstStyle/>
              <a:p>
                <a:r>
                  <a:rPr lang="en-US">
                    <a:noFill/>
                  </a:rPr>
                  <a:t> </a:t>
                </a:r>
              </a:p>
            </p:txBody>
          </p:sp>
        </mc:Fallback>
      </mc:AlternateContent>
    </p:spTree>
    <p:extLst>
      <p:ext uri="{BB962C8B-B14F-4D97-AF65-F5344CB8AC3E}">
        <p14:creationId xmlns:p14="http://schemas.microsoft.com/office/powerpoint/2010/main" val="1209517097"/>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62080-2B44-2D9D-14C2-8FC0B4A84D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8A34908-4F7B-A84E-9410-B00BFD3A7E1E}"/>
                  </a:ext>
                </a:extLst>
              </p:cNvPr>
              <p:cNvSpPr>
                <a:spLocks noGrp="1"/>
              </p:cNvSpPr>
              <p:nvPr>
                <p:ph type="title"/>
              </p:nvPr>
            </p:nvSpPr>
            <p:spPr>
              <a:xfrm>
                <a:off x="612648" y="475488"/>
                <a:ext cx="7918704" cy="548640"/>
              </a:xfrm>
            </p:spPr>
            <p:txBody>
              <a:bodyPr/>
              <a:lstStyle/>
              <a:p>
                <a:r>
                  <a:rPr lang="en-GB" sz="2600">
                    <a:solidFill>
                      <a:srgbClr val="FFFFFF"/>
                    </a:solidFill>
                  </a:rPr>
                  <a:t>4. Message passing approach to </a:t>
                </a:r>
                <a14:m>
                  <m:oMath xmlns:m="http://schemas.openxmlformats.org/officeDocument/2006/math">
                    <m:r>
                      <a:rPr lang="en-US" sz="2800" i="1" dirty="0">
                        <a:solidFill>
                          <a:srgbClr val="FFFFFF"/>
                        </a:solidFill>
                        <a:latin typeface="Cambria Math" panose="02040503050406030204" pitchFamily="18" charset="0"/>
                      </a:rPr>
                      <m:t>𝐴</m:t>
                    </m:r>
                    <m:r>
                      <a:rPr lang="en-US" sz="2800" dirty="0">
                        <a:solidFill>
                          <a:srgbClr val="FFFFFF"/>
                        </a:solidFill>
                        <a:latin typeface="Cambria Math" panose="02040503050406030204" pitchFamily="18" charset="0"/>
                      </a:rPr>
                      <m:t>𝐱</m:t>
                    </m:r>
                    <m:r>
                      <a:rPr lang="en-US" sz="2800" dirty="0">
                        <a:solidFill>
                          <a:srgbClr val="FFFFFF"/>
                        </a:solidFill>
                        <a:latin typeface="Cambria Math" panose="02040503050406030204" pitchFamily="18" charset="0"/>
                      </a:rPr>
                      <m:t>=</m:t>
                    </m:r>
                    <m:r>
                      <a:rPr lang="en-US" sz="2800" dirty="0">
                        <a:solidFill>
                          <a:srgbClr val="FFFFFF"/>
                        </a:solidFill>
                        <a:latin typeface="Cambria Math" panose="02040503050406030204" pitchFamily="18" charset="0"/>
                      </a:rPr>
                      <m:t>𝐛</m:t>
                    </m:r>
                  </m:oMath>
                </a14:m>
                <a:endParaRPr sz="2600" b="1">
                  <a:solidFill>
                    <a:srgbClr val="FFFFFF"/>
                  </a:solidFill>
                  <a:latin typeface="Calibri"/>
                </a:endParaRPr>
              </a:p>
            </p:txBody>
          </p:sp>
        </mc:Choice>
        <mc:Fallback xmlns="">
          <p:sp>
            <p:nvSpPr>
              <p:cNvPr id="2" name="Title 1">
                <a:extLst>
                  <a:ext uri="{FF2B5EF4-FFF2-40B4-BE49-F238E27FC236}">
                    <a16:creationId xmlns:a16="http://schemas.microsoft.com/office/drawing/2014/main" id="{28A34908-4F7B-A84E-9410-B00BFD3A7E1E}"/>
                  </a:ext>
                </a:extLst>
              </p:cNvPr>
              <p:cNvSpPr>
                <a:spLocks noGrp="1" noRot="1" noChangeAspect="1" noMove="1" noResize="1" noEditPoints="1" noAdjustHandles="1" noChangeArrowheads="1" noChangeShapeType="1" noTextEdit="1"/>
              </p:cNvSpPr>
              <p:nvPr>
                <p:ph type="title"/>
              </p:nvPr>
            </p:nvSpPr>
            <p:spPr>
              <a:xfrm>
                <a:off x="612648" y="475488"/>
                <a:ext cx="7918704" cy="548640"/>
              </a:xfrm>
              <a:blipFill>
                <a:blip r:embed="rId3"/>
                <a:stretch>
                  <a:fillRect l="-2540" t="-27778"/>
                </a:stretch>
              </a:blipFill>
            </p:spPr>
            <p:txBody>
              <a:bodyPr/>
              <a:lstStyle/>
              <a:p>
                <a:r>
                  <a:rPr lang="en-US">
                    <a:noFill/>
                  </a:rPr>
                  <a:t> </a:t>
                </a:r>
              </a:p>
            </p:txBody>
          </p:sp>
        </mc:Fallback>
      </mc:AlternateContent>
      <p:sp>
        <p:nvSpPr>
          <p:cNvPr id="4" name="Tijdelijke aanduiding voor dianummer 3">
            <a:extLst>
              <a:ext uri="{FF2B5EF4-FFF2-40B4-BE49-F238E27FC236}">
                <a16:creationId xmlns:a16="http://schemas.microsoft.com/office/drawing/2014/main" id="{99D1E5EC-AA32-62DD-306D-40385B59A401}"/>
              </a:ext>
            </a:extLst>
          </p:cNvPr>
          <p:cNvSpPr>
            <a:spLocks noGrp="1"/>
          </p:cNvSpPr>
          <p:nvPr>
            <p:ph type="sldNum" sz="quarter" idx="11"/>
          </p:nvPr>
        </p:nvSpPr>
        <p:spPr/>
        <p:txBody>
          <a:bodyPr/>
          <a:lstStyle/>
          <a:p>
            <a:fld id="{B7CEC10D-CD46-426F-915E-6C78530279CB}" type="slidenum">
              <a:rPr lang="en-US" smtClean="0"/>
              <a:pPr/>
              <a:t>19</a:t>
            </a:fld>
            <a:endParaRPr lang="en-US"/>
          </a:p>
        </p:txBody>
      </p:sp>
      <p:sp>
        <p:nvSpPr>
          <p:cNvPr id="6" name="Oval 5">
            <a:extLst>
              <a:ext uri="{FF2B5EF4-FFF2-40B4-BE49-F238E27FC236}">
                <a16:creationId xmlns:a16="http://schemas.microsoft.com/office/drawing/2014/main" id="{0966A2FC-38A4-ABDB-2A36-B15FD99965D0}"/>
              </a:ext>
            </a:extLst>
          </p:cNvPr>
          <p:cNvSpPr/>
          <p:nvPr/>
        </p:nvSpPr>
        <p:spPr>
          <a:xfrm>
            <a:off x="612000" y="1639411"/>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chemeClr val="bg1"/>
                </a:solidFill>
                <a:latin typeface="Calibri"/>
              </a:rPr>
              <a:t>A</a:t>
            </a:r>
            <a:endParaRPr sz="1400" b="1">
              <a:solidFill>
                <a:schemeClr val="bg1"/>
              </a:solidFill>
              <a:latin typeface="Calibri"/>
            </a:endParaRPr>
          </a:p>
        </p:txBody>
      </p:sp>
      <p:sp>
        <p:nvSpPr>
          <p:cNvPr id="7" name="TextBox 6">
            <a:extLst>
              <a:ext uri="{FF2B5EF4-FFF2-40B4-BE49-F238E27FC236}">
                <a16:creationId xmlns:a16="http://schemas.microsoft.com/office/drawing/2014/main" id="{12C98ED4-E92A-0BC9-80FE-E20B88193767}"/>
              </a:ext>
            </a:extLst>
          </p:cNvPr>
          <p:cNvSpPr txBox="1"/>
          <p:nvPr/>
        </p:nvSpPr>
        <p:spPr>
          <a:xfrm>
            <a:off x="1252080" y="1708324"/>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a:solidFill>
                  <a:srgbClr val="FFFFFF"/>
                </a:solidFill>
                <a:latin typeface="Calibri"/>
              </a:rPr>
              <a:t>Setup</a:t>
            </a:r>
            <a:endParaRPr sz="1400" b="0" i="0">
              <a:solidFill>
                <a:srgbClr val="C9CDE8"/>
              </a:solidFill>
              <a:latin typeface="Calibri"/>
            </a:endParaRPr>
          </a:p>
        </p:txBody>
      </p:sp>
      <p:sp>
        <p:nvSpPr>
          <p:cNvPr id="8" name="Oval 7">
            <a:extLst>
              <a:ext uri="{FF2B5EF4-FFF2-40B4-BE49-F238E27FC236}">
                <a16:creationId xmlns:a16="http://schemas.microsoft.com/office/drawing/2014/main" id="{84EDDDB7-22C1-7205-C0F1-E635ECF39F6A}"/>
              </a:ext>
            </a:extLst>
          </p:cNvPr>
          <p:cNvSpPr/>
          <p:nvPr/>
        </p:nvSpPr>
        <p:spPr>
          <a:xfrm>
            <a:off x="612000" y="2352643"/>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B</a:t>
            </a:r>
            <a:endParaRPr sz="1400" b="1">
              <a:solidFill>
                <a:srgbClr val="101073"/>
              </a:solidFill>
              <a:latin typeface="Calibri"/>
            </a:endParaRPr>
          </a:p>
        </p:txBody>
      </p:sp>
      <p:sp>
        <p:nvSpPr>
          <p:cNvPr id="9" name="TextBox 8">
            <a:extLst>
              <a:ext uri="{FF2B5EF4-FFF2-40B4-BE49-F238E27FC236}">
                <a16:creationId xmlns:a16="http://schemas.microsoft.com/office/drawing/2014/main" id="{563DD1FF-03D7-2BF6-2359-DBE9C72EE473}"/>
              </a:ext>
            </a:extLst>
          </p:cNvPr>
          <p:cNvSpPr txBox="1"/>
          <p:nvPr/>
        </p:nvSpPr>
        <p:spPr>
          <a:xfrm>
            <a:off x="1252080" y="2448639"/>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Forney-style Factor Graphs</a:t>
            </a:r>
            <a:endParaRPr sz="1400" b="0" i="0">
              <a:solidFill>
                <a:srgbClr val="C9CDE8"/>
              </a:solidFill>
              <a:latin typeface="Calibri"/>
            </a:endParaRPr>
          </a:p>
        </p:txBody>
      </p:sp>
      <p:sp>
        <p:nvSpPr>
          <p:cNvPr id="3" name="Oval 2">
            <a:extLst>
              <a:ext uri="{FF2B5EF4-FFF2-40B4-BE49-F238E27FC236}">
                <a16:creationId xmlns:a16="http://schemas.microsoft.com/office/drawing/2014/main" id="{A05F6E93-9792-E1B9-A4FD-0B76886304EA}"/>
              </a:ext>
            </a:extLst>
          </p:cNvPr>
          <p:cNvSpPr/>
          <p:nvPr/>
        </p:nvSpPr>
        <p:spPr>
          <a:xfrm>
            <a:off x="612000" y="3061037"/>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C</a:t>
            </a:r>
            <a:endParaRPr sz="1400" b="1">
              <a:solidFill>
                <a:srgbClr val="101073"/>
              </a:solidFill>
              <a:latin typeface="Calibri"/>
            </a:endParaRPr>
          </a:p>
        </p:txBody>
      </p:sp>
      <p:sp>
        <p:nvSpPr>
          <p:cNvPr id="5" name="TextBox 4">
            <a:extLst>
              <a:ext uri="{FF2B5EF4-FFF2-40B4-BE49-F238E27FC236}">
                <a16:creationId xmlns:a16="http://schemas.microsoft.com/office/drawing/2014/main" id="{AE28A373-61AE-90A7-2353-A231BC9BBAA0}"/>
              </a:ext>
            </a:extLst>
          </p:cNvPr>
          <p:cNvSpPr txBox="1"/>
          <p:nvPr/>
        </p:nvSpPr>
        <p:spPr>
          <a:xfrm>
            <a:off x="1252080" y="3157033"/>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Belief propagation</a:t>
            </a:r>
            <a:endParaRPr sz="1400" b="0" i="0">
              <a:solidFill>
                <a:srgbClr val="C9CDE8"/>
              </a:solidFill>
              <a:latin typeface="Calibri"/>
            </a:endParaRPr>
          </a:p>
        </p:txBody>
      </p:sp>
      <p:sp>
        <p:nvSpPr>
          <p:cNvPr id="10" name="Oval 9">
            <a:extLst>
              <a:ext uri="{FF2B5EF4-FFF2-40B4-BE49-F238E27FC236}">
                <a16:creationId xmlns:a16="http://schemas.microsoft.com/office/drawing/2014/main" id="{49BC38E7-2178-6184-2A01-D1583553F935}"/>
              </a:ext>
            </a:extLst>
          </p:cNvPr>
          <p:cNvSpPr/>
          <p:nvPr/>
        </p:nvSpPr>
        <p:spPr>
          <a:xfrm>
            <a:off x="612000" y="3772347"/>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D</a:t>
            </a:r>
            <a:endParaRPr sz="1400" b="1">
              <a:solidFill>
                <a:srgbClr val="101073"/>
              </a:solidFill>
              <a:latin typeface="Calibri"/>
            </a:endParaRP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48FA6C1-5EEA-4770-6AA5-9D2598740B87}"/>
                  </a:ext>
                </a:extLst>
              </p:cNvPr>
              <p:cNvSpPr txBox="1"/>
              <p:nvPr/>
            </p:nvSpPr>
            <p:spPr>
              <a:xfrm>
                <a:off x="1252080" y="3868343"/>
                <a:ext cx="6949440" cy="246221"/>
              </a:xfrm>
              <a:prstGeom prst="rect">
                <a:avLst/>
              </a:prstGeom>
              <a:noFill/>
            </p:spPr>
            <p:txBody>
              <a:bodyPr wrap="square" lIns="0" tIns="0" rIns="0" bIns="0" anchor="ctr">
                <a:spAutoFit/>
              </a:bodyPr>
              <a:lstStyle/>
              <a:p>
                <a:pPr>
                  <a:spcAft>
                    <a:spcPts val="600"/>
                  </a:spcAft>
                </a:pPr>
                <a:r>
                  <a:rPr lang="en-US" sz="1600" b="1">
                    <a:solidFill>
                      <a:srgbClr val="FFFFFF"/>
                    </a:solidFill>
                  </a:rPr>
                  <a:t>Solving </a:t>
                </a:r>
                <a14:m>
                  <m:oMath xmlns:m="http://schemas.openxmlformats.org/officeDocument/2006/math">
                    <m:r>
                      <a:rPr lang="en-US" sz="1600" b="1" i="1" dirty="0">
                        <a:solidFill>
                          <a:srgbClr val="FFFFFF"/>
                        </a:solidFill>
                        <a:latin typeface="Cambria Math" panose="02040503050406030204" pitchFamily="18" charset="0"/>
                      </a:rPr>
                      <m:t>𝐴</m:t>
                    </m:r>
                    <m:r>
                      <a:rPr lang="en-US" sz="1600" b="1" dirty="0">
                        <a:solidFill>
                          <a:srgbClr val="FFFFFF"/>
                        </a:solidFill>
                        <a:latin typeface="Cambria Math" panose="02040503050406030204" pitchFamily="18" charset="0"/>
                      </a:rPr>
                      <m:t>𝐱</m:t>
                    </m:r>
                    <m:r>
                      <a:rPr lang="en-US" sz="1600" b="1" dirty="0">
                        <a:solidFill>
                          <a:srgbClr val="FFFFFF"/>
                        </a:solidFill>
                        <a:latin typeface="Cambria Math" panose="02040503050406030204" pitchFamily="18" charset="0"/>
                      </a:rPr>
                      <m:t>=</m:t>
                    </m:r>
                    <m:r>
                      <a:rPr lang="en-US" sz="1600" b="1" dirty="0">
                        <a:solidFill>
                          <a:srgbClr val="FFFFFF"/>
                        </a:solidFill>
                        <a:latin typeface="Cambria Math" panose="02040503050406030204" pitchFamily="18" charset="0"/>
                      </a:rPr>
                      <m:t>𝐛</m:t>
                    </m:r>
                  </m:oMath>
                </a14:m>
                <a:r>
                  <a:rPr lang="en-US" sz="1600" b="1">
                    <a:solidFill>
                      <a:srgbClr val="FFFFFF"/>
                    </a:solidFill>
                  </a:rPr>
                  <a:t> by Message-Passing on a Factor-Graph</a:t>
                </a:r>
                <a:endParaRPr lang="en-US" sz="1400">
                  <a:solidFill>
                    <a:srgbClr val="C9CDE8"/>
                  </a:solidFill>
                </a:endParaRPr>
              </a:p>
            </p:txBody>
          </p:sp>
        </mc:Choice>
        <mc:Fallback xmlns="">
          <p:sp>
            <p:nvSpPr>
              <p:cNvPr id="11" name="TextBox 10">
                <a:extLst>
                  <a:ext uri="{FF2B5EF4-FFF2-40B4-BE49-F238E27FC236}">
                    <a16:creationId xmlns:a16="http://schemas.microsoft.com/office/drawing/2014/main" id="{E48FA6C1-5EEA-4770-6AA5-9D2598740B87}"/>
                  </a:ext>
                </a:extLst>
              </p:cNvPr>
              <p:cNvSpPr txBox="1">
                <a:spLocks noRot="1" noChangeAspect="1" noMove="1" noResize="1" noEditPoints="1" noAdjustHandles="1" noChangeArrowheads="1" noChangeShapeType="1" noTextEdit="1"/>
              </p:cNvSpPr>
              <p:nvPr/>
            </p:nvSpPr>
            <p:spPr>
              <a:xfrm>
                <a:off x="1252080" y="3868343"/>
                <a:ext cx="6949440" cy="246221"/>
              </a:xfrm>
              <a:prstGeom prst="rect">
                <a:avLst/>
              </a:prstGeom>
              <a:blipFill>
                <a:blip r:embed="rId4"/>
                <a:stretch>
                  <a:fillRect l="-1754" t="-27500" b="-50000"/>
                </a:stretch>
              </a:blipFill>
            </p:spPr>
            <p:txBody>
              <a:bodyPr/>
              <a:lstStyle/>
              <a:p>
                <a:r>
                  <a:rPr lang="en-US">
                    <a:noFill/>
                  </a:rPr>
                  <a:t> </a:t>
                </a:r>
              </a:p>
            </p:txBody>
          </p:sp>
        </mc:Fallback>
      </mc:AlternateContent>
    </p:spTree>
    <p:extLst>
      <p:ext uri="{BB962C8B-B14F-4D97-AF65-F5344CB8AC3E}">
        <p14:creationId xmlns:p14="http://schemas.microsoft.com/office/powerpoint/2010/main" val="2691451113"/>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0" name="Graphic 59">
            <a:extLst>
              <a:ext uri="{FF2B5EF4-FFF2-40B4-BE49-F238E27FC236}">
                <a16:creationId xmlns:a16="http://schemas.microsoft.com/office/drawing/2014/main" id="{F5D74157-229C-E54F-BE11-44F12D2CCF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4492" y="3206399"/>
            <a:ext cx="4105275" cy="581025"/>
          </a:xfrm>
          <a:prstGeom prst="rect">
            <a:avLst/>
          </a:prstGeom>
        </p:spPr>
      </p:pic>
      <p:sp>
        <p:nvSpPr>
          <p:cNvPr id="2" name="Title 1">
            <a:extLst>
              <a:ext uri="{FF2B5EF4-FFF2-40B4-BE49-F238E27FC236}">
                <a16:creationId xmlns:a16="http://schemas.microsoft.com/office/drawing/2014/main" id="{C5708759-DEE7-4D5F-8E1F-3BFC32F388E6}"/>
              </a:ext>
            </a:extLst>
          </p:cNvPr>
          <p:cNvSpPr>
            <a:spLocks noGrp="1"/>
          </p:cNvSpPr>
          <p:nvPr>
            <p:ph type="title"/>
          </p:nvPr>
        </p:nvSpPr>
        <p:spPr/>
        <p:txBody>
          <a:bodyPr/>
          <a:lstStyle/>
          <a:p>
            <a:r>
              <a:rPr lang="en-US"/>
              <a:t>Message-passing approach: Setup </a:t>
            </a:r>
            <a:endParaRPr lang="LID4096"/>
          </a:p>
        </p:txBody>
      </p:sp>
      <p:pic>
        <p:nvPicPr>
          <p:cNvPr id="5" name="Graphic 4">
            <a:extLst>
              <a:ext uri="{FF2B5EF4-FFF2-40B4-BE49-F238E27FC236}">
                <a16:creationId xmlns:a16="http://schemas.microsoft.com/office/drawing/2014/main" id="{800A5DAF-03DB-D338-AA78-9810DF2C8F9A}"/>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4"/>
              </a:ext>
            </a:extLst>
          </a:blip>
          <a:stretch>
            <a:fillRect/>
          </a:stretch>
        </p:blipFill>
        <p:spPr>
          <a:xfrm>
            <a:off x="2558145" y="938676"/>
            <a:ext cx="762000" cy="561975"/>
          </a:xfrm>
          <a:prstGeom prst="rect">
            <a:avLst/>
          </a:prstGeom>
        </p:spPr>
      </p:pic>
      <p:pic>
        <p:nvPicPr>
          <p:cNvPr id="7" name="Graphic 6">
            <a:extLst>
              <a:ext uri="{FF2B5EF4-FFF2-40B4-BE49-F238E27FC236}">
                <a16:creationId xmlns:a16="http://schemas.microsoft.com/office/drawing/2014/main" id="{21CE8137-2B6E-A2B2-9AA4-29E20AB1F02F}"/>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5"/>
              </a:ext>
            </a:extLst>
          </a:blip>
          <a:stretch>
            <a:fillRect/>
          </a:stretch>
        </p:blipFill>
        <p:spPr>
          <a:xfrm>
            <a:off x="2439081" y="2747790"/>
            <a:ext cx="1000126" cy="571500"/>
          </a:xfrm>
          <a:prstGeom prst="rect">
            <a:avLst/>
          </a:prstGeom>
        </p:spPr>
      </p:pic>
      <p:pic>
        <p:nvPicPr>
          <p:cNvPr id="9" name="Graphic 8">
            <a:extLst>
              <a:ext uri="{FF2B5EF4-FFF2-40B4-BE49-F238E27FC236}">
                <a16:creationId xmlns:a16="http://schemas.microsoft.com/office/drawing/2014/main" id="{80779A37-942A-DD37-DC78-4EB23690E71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958040" y="46596"/>
            <a:ext cx="2381250" cy="1228725"/>
          </a:xfrm>
          <a:prstGeom prst="rect">
            <a:avLst/>
          </a:prstGeom>
        </p:spPr>
      </p:pic>
      <p:pic>
        <p:nvPicPr>
          <p:cNvPr id="13" name="Graphic 12">
            <a:extLst>
              <a:ext uri="{FF2B5EF4-FFF2-40B4-BE49-F238E27FC236}">
                <a16:creationId xmlns:a16="http://schemas.microsoft.com/office/drawing/2014/main" id="{B55FEEA0-D182-502A-5507-EE461D37FFB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2958536" y="3461113"/>
            <a:ext cx="1333500" cy="561975"/>
          </a:xfrm>
          <a:prstGeom prst="rect">
            <a:avLst/>
          </a:prstGeom>
        </p:spPr>
      </p:pic>
      <p:pic>
        <p:nvPicPr>
          <p:cNvPr id="15" name="Graphic 14">
            <a:extLst>
              <a:ext uri="{FF2B5EF4-FFF2-40B4-BE49-F238E27FC236}">
                <a16:creationId xmlns:a16="http://schemas.microsoft.com/office/drawing/2014/main" id="{BB645F7D-29D6-D8C4-9648-41455ECAA93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292036" y="-776031"/>
            <a:ext cx="571500" cy="561975"/>
          </a:xfrm>
          <a:prstGeom prst="rect">
            <a:avLst/>
          </a:prstGeom>
        </p:spPr>
      </p:pic>
      <p:pic>
        <p:nvPicPr>
          <p:cNvPr id="17" name="Graphic 16">
            <a:extLst>
              <a:ext uri="{FF2B5EF4-FFF2-40B4-BE49-F238E27FC236}">
                <a16:creationId xmlns:a16="http://schemas.microsoft.com/office/drawing/2014/main" id="{98CD45FC-9B16-A62D-0F13-25804104B60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5059432" y="-854808"/>
            <a:ext cx="381000" cy="561975"/>
          </a:xfrm>
          <a:prstGeom prst="rect">
            <a:avLst/>
          </a:prstGeom>
        </p:spPr>
      </p:pic>
      <p:pic>
        <p:nvPicPr>
          <p:cNvPr id="19" name="Graphic 18">
            <a:extLst>
              <a:ext uri="{FF2B5EF4-FFF2-40B4-BE49-F238E27FC236}">
                <a16:creationId xmlns:a16="http://schemas.microsoft.com/office/drawing/2014/main" id="{432118B7-7F86-AECE-DD99-8A8F687A1E39}"/>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5540624" y="-854808"/>
            <a:ext cx="381000" cy="561975"/>
          </a:xfrm>
          <a:prstGeom prst="rect">
            <a:avLst/>
          </a:prstGeom>
        </p:spPr>
      </p:pic>
      <p:pic>
        <p:nvPicPr>
          <p:cNvPr id="21" name="Graphic 20">
            <a:extLst>
              <a:ext uri="{FF2B5EF4-FFF2-40B4-BE49-F238E27FC236}">
                <a16:creationId xmlns:a16="http://schemas.microsoft.com/office/drawing/2014/main" id="{7F27DDD6-0461-1160-C489-C34790003C19}"/>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11"/>
              </a:ext>
            </a:extLst>
          </a:blip>
          <a:stretch>
            <a:fillRect/>
          </a:stretch>
        </p:blipFill>
        <p:spPr>
          <a:xfrm>
            <a:off x="1462770" y="1478316"/>
            <a:ext cx="2952750" cy="828675"/>
          </a:xfrm>
          <a:prstGeom prst="rect">
            <a:avLst/>
          </a:prstGeom>
        </p:spPr>
      </p:pic>
      <p:pic>
        <p:nvPicPr>
          <p:cNvPr id="23" name="Graphic 22">
            <a:extLst>
              <a:ext uri="{FF2B5EF4-FFF2-40B4-BE49-F238E27FC236}">
                <a16:creationId xmlns:a16="http://schemas.microsoft.com/office/drawing/2014/main" id="{ED6B6ABD-3A24-2086-1E9D-F310D9955ADD}"/>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12"/>
              </a:ext>
            </a:extLst>
          </a:blip>
          <a:stretch>
            <a:fillRect/>
          </a:stretch>
        </p:blipFill>
        <p:spPr>
          <a:xfrm>
            <a:off x="1605645" y="2306991"/>
            <a:ext cx="2667000" cy="561975"/>
          </a:xfrm>
          <a:prstGeom prst="rect">
            <a:avLst/>
          </a:prstGeom>
        </p:spPr>
      </p:pic>
      <p:pic>
        <p:nvPicPr>
          <p:cNvPr id="25" name="Graphic 24">
            <a:extLst>
              <a:ext uri="{FF2B5EF4-FFF2-40B4-BE49-F238E27FC236}">
                <a16:creationId xmlns:a16="http://schemas.microsoft.com/office/drawing/2014/main" id="{6896C233-3DE6-0BE6-4C1E-258137E0ED1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1577411" y="-442812"/>
            <a:ext cx="2762250" cy="561975"/>
          </a:xfrm>
          <a:prstGeom prst="rect">
            <a:avLst/>
          </a:prstGeom>
        </p:spPr>
      </p:pic>
      <p:pic>
        <p:nvPicPr>
          <p:cNvPr id="27" name="Graphic 26">
            <a:extLst>
              <a:ext uri="{FF2B5EF4-FFF2-40B4-BE49-F238E27FC236}">
                <a16:creationId xmlns:a16="http://schemas.microsoft.com/office/drawing/2014/main" id="{57F60218-46C6-92DD-0884-DB7B514D750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4292036" y="3775128"/>
            <a:ext cx="4000500" cy="561975"/>
          </a:xfrm>
          <a:prstGeom prst="rect">
            <a:avLst/>
          </a:prstGeom>
        </p:spPr>
      </p:pic>
      <p:pic>
        <p:nvPicPr>
          <p:cNvPr id="29" name="Graphic 28">
            <a:extLst>
              <a:ext uri="{FF2B5EF4-FFF2-40B4-BE49-F238E27FC236}">
                <a16:creationId xmlns:a16="http://schemas.microsoft.com/office/drawing/2014/main" id="{1A932749-23F0-B381-286B-074A495A473A}"/>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3873749" y="2637279"/>
            <a:ext cx="4095750" cy="809625"/>
          </a:xfrm>
          <a:prstGeom prst="rect">
            <a:avLst/>
          </a:prstGeom>
        </p:spPr>
      </p:pic>
      <p:pic>
        <p:nvPicPr>
          <p:cNvPr id="31" name="Graphic 30">
            <a:extLst>
              <a:ext uri="{FF2B5EF4-FFF2-40B4-BE49-F238E27FC236}">
                <a16:creationId xmlns:a16="http://schemas.microsoft.com/office/drawing/2014/main" id="{242D3254-6906-C418-6A7D-A7373991DFF6}"/>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9823093" y="4037297"/>
            <a:ext cx="5143500" cy="561975"/>
          </a:xfrm>
          <a:prstGeom prst="rect">
            <a:avLst/>
          </a:prstGeom>
        </p:spPr>
      </p:pic>
      <p:pic>
        <p:nvPicPr>
          <p:cNvPr id="33" name="Graphic 32">
            <a:extLst>
              <a:ext uri="{FF2B5EF4-FFF2-40B4-BE49-F238E27FC236}">
                <a16:creationId xmlns:a16="http://schemas.microsoft.com/office/drawing/2014/main" id="{1758C6D7-C23F-C7EA-B34B-42FB712C9506}"/>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4815911" y="145162"/>
            <a:ext cx="3619500" cy="2371725"/>
          </a:xfrm>
          <a:prstGeom prst="rect">
            <a:avLst/>
          </a:prstGeom>
        </p:spPr>
      </p:pic>
      <p:pic>
        <p:nvPicPr>
          <p:cNvPr id="39" name="Graphic 38">
            <a:extLst>
              <a:ext uri="{FF2B5EF4-FFF2-40B4-BE49-F238E27FC236}">
                <a16:creationId xmlns:a16="http://schemas.microsoft.com/office/drawing/2014/main" id="{F824FBBB-51D9-7C3F-997A-3B0AF9E3D403}"/>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9007403" y="1040280"/>
            <a:ext cx="3067050" cy="1924050"/>
          </a:xfrm>
          <a:prstGeom prst="rect">
            <a:avLst/>
          </a:prstGeom>
        </p:spPr>
      </p:pic>
      <p:sp>
        <p:nvSpPr>
          <p:cNvPr id="40" name="Rectangle 39">
            <a:extLst>
              <a:ext uri="{FF2B5EF4-FFF2-40B4-BE49-F238E27FC236}">
                <a16:creationId xmlns:a16="http://schemas.microsoft.com/office/drawing/2014/main" id="{440E4D4C-CB82-D376-5CA1-B9686FEB87EB}"/>
              </a:ext>
            </a:extLst>
          </p:cNvPr>
          <p:cNvSpPr>
            <a:spLocks noGrp="1" noRot="1" noMove="1" noResize="1" noEditPoints="1" noAdjustHandles="1" noChangeArrowheads="1" noChangeShapeType="1"/>
          </p:cNvSpPr>
          <p:nvPr/>
        </p:nvSpPr>
        <p:spPr>
          <a:xfrm>
            <a:off x="3094719" y="2428167"/>
            <a:ext cx="1425122" cy="31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41" name="Rectangle 40">
            <a:extLst>
              <a:ext uri="{FF2B5EF4-FFF2-40B4-BE49-F238E27FC236}">
                <a16:creationId xmlns:a16="http://schemas.microsoft.com/office/drawing/2014/main" id="{7171F4FE-6F66-0A1C-E327-8DFA27078C7C}"/>
              </a:ext>
            </a:extLst>
          </p:cNvPr>
          <p:cNvSpPr>
            <a:spLocks noGrp="1" noRot="1" noMove="1" noResize="1" noEditPoints="1" noAdjustHandles="1" noChangeArrowheads="1" noChangeShapeType="1"/>
          </p:cNvSpPr>
          <p:nvPr/>
        </p:nvSpPr>
        <p:spPr>
          <a:xfrm>
            <a:off x="1732871" y="3295859"/>
            <a:ext cx="1706337" cy="3970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43" name="Rectangle 42">
            <a:extLst>
              <a:ext uri="{FF2B5EF4-FFF2-40B4-BE49-F238E27FC236}">
                <a16:creationId xmlns:a16="http://schemas.microsoft.com/office/drawing/2014/main" id="{F3CA9F8C-DE7D-8AB9-7BD4-6F9F6849F51E}"/>
              </a:ext>
            </a:extLst>
          </p:cNvPr>
          <p:cNvSpPr>
            <a:spLocks noGrp="1" noRot="1" noMove="1" noResize="1" noEditPoints="1" noAdjustHandles="1" noChangeArrowheads="1" noChangeShapeType="1"/>
          </p:cNvSpPr>
          <p:nvPr/>
        </p:nvSpPr>
        <p:spPr>
          <a:xfrm>
            <a:off x="3439207" y="3295859"/>
            <a:ext cx="1706337" cy="3970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44" name="TextBox 43">
            <a:extLst>
              <a:ext uri="{FF2B5EF4-FFF2-40B4-BE49-F238E27FC236}">
                <a16:creationId xmlns:a16="http://schemas.microsoft.com/office/drawing/2014/main" id="{F7E37C87-E72C-CD2F-9DFA-EE603BA87E6D}"/>
              </a:ext>
            </a:extLst>
          </p:cNvPr>
          <p:cNvSpPr txBox="1"/>
          <p:nvPr/>
        </p:nvSpPr>
        <p:spPr>
          <a:xfrm>
            <a:off x="5521605" y="1034997"/>
            <a:ext cx="2580130" cy="369332"/>
          </a:xfrm>
          <a:prstGeom prst="rect">
            <a:avLst/>
          </a:prstGeom>
          <a:noFill/>
        </p:spPr>
        <p:txBody>
          <a:bodyPr wrap="none" rtlCol="0">
            <a:spAutoFit/>
          </a:bodyPr>
          <a:lstStyle/>
          <a:p>
            <a:r>
              <a:rPr lang="en-US"/>
              <a:t>Goal: Solve Linear System</a:t>
            </a:r>
            <a:endParaRPr lang="LID4096"/>
          </a:p>
        </p:txBody>
      </p:sp>
      <p:sp>
        <p:nvSpPr>
          <p:cNvPr id="45" name="TextBox 44">
            <a:extLst>
              <a:ext uri="{FF2B5EF4-FFF2-40B4-BE49-F238E27FC236}">
                <a16:creationId xmlns:a16="http://schemas.microsoft.com/office/drawing/2014/main" id="{E563630A-3A15-55A6-CC6C-5FEFFD1DBE98}"/>
              </a:ext>
            </a:extLst>
          </p:cNvPr>
          <p:cNvSpPr txBox="1"/>
          <p:nvPr/>
        </p:nvSpPr>
        <p:spPr>
          <a:xfrm>
            <a:off x="5699026" y="1707987"/>
            <a:ext cx="2225289" cy="369332"/>
          </a:xfrm>
          <a:prstGeom prst="rect">
            <a:avLst/>
          </a:prstGeom>
          <a:noFill/>
        </p:spPr>
        <p:txBody>
          <a:bodyPr wrap="none" rtlCol="0">
            <a:spAutoFit/>
          </a:bodyPr>
          <a:lstStyle/>
          <a:p>
            <a:r>
              <a:rPr lang="en-US"/>
              <a:t>Multivariate Gaussian</a:t>
            </a:r>
            <a:endParaRPr lang="LID4096"/>
          </a:p>
        </p:txBody>
      </p:sp>
      <p:sp>
        <p:nvSpPr>
          <p:cNvPr id="46" name="TextBox 45">
            <a:extLst>
              <a:ext uri="{FF2B5EF4-FFF2-40B4-BE49-F238E27FC236}">
                <a16:creationId xmlns:a16="http://schemas.microsoft.com/office/drawing/2014/main" id="{367B20FE-70A4-DEC4-00A8-EBEDF92FF61D}"/>
              </a:ext>
            </a:extLst>
          </p:cNvPr>
          <p:cNvSpPr txBox="1"/>
          <p:nvPr/>
        </p:nvSpPr>
        <p:spPr>
          <a:xfrm>
            <a:off x="6441216" y="2403312"/>
            <a:ext cx="740908" cy="369332"/>
          </a:xfrm>
          <a:prstGeom prst="rect">
            <a:avLst/>
          </a:prstGeom>
          <a:noFill/>
        </p:spPr>
        <p:txBody>
          <a:bodyPr wrap="none" rtlCol="0">
            <a:spAutoFit/>
          </a:bodyPr>
          <a:lstStyle/>
          <a:p>
            <a:r>
              <a:rPr lang="en-US"/>
              <a:t>Mode</a:t>
            </a:r>
            <a:endParaRPr lang="LID4096"/>
          </a:p>
        </p:txBody>
      </p:sp>
      <p:sp>
        <p:nvSpPr>
          <p:cNvPr id="47" name="TextBox 46">
            <a:extLst>
              <a:ext uri="{FF2B5EF4-FFF2-40B4-BE49-F238E27FC236}">
                <a16:creationId xmlns:a16="http://schemas.microsoft.com/office/drawing/2014/main" id="{435AB014-59A2-A555-D5C5-4AA1C6D8E413}"/>
              </a:ext>
            </a:extLst>
          </p:cNvPr>
          <p:cNvSpPr txBox="1">
            <a:spLocks noGrp="1" noRot="1" noMove="1" noResize="1" noEditPoints="1" noAdjustHandles="1" noChangeArrowheads="1" noChangeShapeType="1"/>
          </p:cNvSpPr>
          <p:nvPr/>
        </p:nvSpPr>
        <p:spPr>
          <a:xfrm>
            <a:off x="5641831" y="2848874"/>
            <a:ext cx="2339679" cy="369332"/>
          </a:xfrm>
          <a:prstGeom prst="rect">
            <a:avLst/>
          </a:prstGeom>
          <a:noFill/>
        </p:spPr>
        <p:txBody>
          <a:bodyPr wrap="none" rtlCol="0">
            <a:spAutoFit/>
          </a:bodyPr>
          <a:lstStyle/>
          <a:p>
            <a:r>
              <a:rPr lang="en-US"/>
              <a:t>-configuration at mode</a:t>
            </a:r>
            <a:endParaRPr lang="LID4096"/>
          </a:p>
        </p:txBody>
      </p:sp>
      <p:sp>
        <p:nvSpPr>
          <p:cNvPr id="48" name="TextBox 47">
            <a:extLst>
              <a:ext uri="{FF2B5EF4-FFF2-40B4-BE49-F238E27FC236}">
                <a16:creationId xmlns:a16="http://schemas.microsoft.com/office/drawing/2014/main" id="{4794C16E-98DE-9EDD-5BC4-0AFF06321E57}"/>
              </a:ext>
            </a:extLst>
          </p:cNvPr>
          <p:cNvSpPr txBox="1">
            <a:spLocks noGrp="1" noRot="1" noMove="1" noResize="1" noEditPoints="1" noAdjustHandles="1" noChangeArrowheads="1" noChangeShapeType="1"/>
          </p:cNvSpPr>
          <p:nvPr/>
        </p:nvSpPr>
        <p:spPr>
          <a:xfrm>
            <a:off x="5647441" y="3309703"/>
            <a:ext cx="2328458" cy="369332"/>
          </a:xfrm>
          <a:prstGeom prst="rect">
            <a:avLst/>
          </a:prstGeom>
          <a:noFill/>
        </p:spPr>
        <p:txBody>
          <a:bodyPr wrap="none" rtlCol="0">
            <a:spAutoFit/>
          </a:bodyPr>
          <a:lstStyle/>
          <a:p>
            <a:r>
              <a:rPr lang="en-US"/>
              <a:t>-configuration at mean</a:t>
            </a:r>
            <a:endParaRPr lang="LID4096"/>
          </a:p>
        </p:txBody>
      </p:sp>
      <p:pic>
        <p:nvPicPr>
          <p:cNvPr id="50" name="Graphic 49">
            <a:extLst>
              <a:ext uri="{FF2B5EF4-FFF2-40B4-BE49-F238E27FC236}">
                <a16:creationId xmlns:a16="http://schemas.microsoft.com/office/drawing/2014/main" id="{669D0D62-5C47-586B-3F9E-8892A93B74F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56774" y="2785194"/>
            <a:ext cx="381000" cy="561975"/>
          </a:xfrm>
          <a:prstGeom prst="rect">
            <a:avLst/>
          </a:prstGeom>
        </p:spPr>
      </p:pic>
      <p:pic>
        <p:nvPicPr>
          <p:cNvPr id="52" name="Graphic 51">
            <a:extLst>
              <a:ext uri="{FF2B5EF4-FFF2-40B4-BE49-F238E27FC236}">
                <a16:creationId xmlns:a16="http://schemas.microsoft.com/office/drawing/2014/main" id="{C9960EDB-5CBB-9AA1-8ED4-626FF48BA92C}"/>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56774" y="3242395"/>
            <a:ext cx="381000" cy="561975"/>
          </a:xfrm>
          <a:prstGeom prst="rect">
            <a:avLst/>
          </a:prstGeom>
        </p:spPr>
      </p:pic>
      <p:sp>
        <p:nvSpPr>
          <p:cNvPr id="61" name="TextBox 60">
            <a:extLst>
              <a:ext uri="{FF2B5EF4-FFF2-40B4-BE49-F238E27FC236}">
                <a16:creationId xmlns:a16="http://schemas.microsoft.com/office/drawing/2014/main" id="{760F876D-0AE3-C9FA-1C30-1EF343248AA9}"/>
              </a:ext>
            </a:extLst>
          </p:cNvPr>
          <p:cNvSpPr txBox="1"/>
          <p:nvPr/>
        </p:nvSpPr>
        <p:spPr>
          <a:xfrm>
            <a:off x="3030520" y="4052615"/>
            <a:ext cx="3082960" cy="369332"/>
          </a:xfrm>
          <a:prstGeom prst="rect">
            <a:avLst/>
          </a:prstGeom>
          <a:noFill/>
        </p:spPr>
        <p:txBody>
          <a:bodyPr wrap="none" rtlCol="0">
            <a:spAutoFit/>
          </a:bodyPr>
          <a:lstStyle/>
          <a:p>
            <a:r>
              <a:rPr lang="en-US"/>
              <a:t>How to find the mode / mean?</a:t>
            </a:r>
            <a:endParaRPr lang="LID4096"/>
          </a:p>
        </p:txBody>
      </p:sp>
    </p:spTree>
    <p:extLst>
      <p:ext uri="{BB962C8B-B14F-4D97-AF65-F5344CB8AC3E}">
        <p14:creationId xmlns:p14="http://schemas.microsoft.com/office/powerpoint/2010/main" val="2860035172"/>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40"/>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5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8"/>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52"/>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grpId="1" nodeType="clickEffect">
                                  <p:stCondLst>
                                    <p:cond delay="0"/>
                                  </p:stCondLst>
                                  <p:childTnLst>
                                    <p:set>
                                      <p:cBhvr>
                                        <p:cTn id="50" dur="1" fill="hold">
                                          <p:stCondLst>
                                            <p:cond delay="0"/>
                                          </p:stCondLst>
                                        </p:cTn>
                                        <p:tgtEl>
                                          <p:spTgt spid="41"/>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1" presetClass="exit" presetSubtype="0" fill="hold" grpId="1" nodeType="clickEffect">
                                  <p:stCondLst>
                                    <p:cond delay="0"/>
                                  </p:stCondLst>
                                  <p:childTnLst>
                                    <p:set>
                                      <p:cBhvr>
                                        <p:cTn id="54" dur="1" fill="hold">
                                          <p:stCondLst>
                                            <p:cond delay="0"/>
                                          </p:stCondLst>
                                        </p:cTn>
                                        <p:tgtEl>
                                          <p:spTgt spid="43"/>
                                        </p:tgtEl>
                                        <p:attrNameLst>
                                          <p:attrName>style.visibility</p:attrName>
                                        </p:attrNameLst>
                                      </p:cBhvr>
                                      <p:to>
                                        <p:strVal val="hidden"/>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40" grpId="1" animBg="1"/>
      <p:bldP spid="41" grpId="0" animBg="1"/>
      <p:bldP spid="41" grpId="1" animBg="1"/>
      <p:bldP spid="43" grpId="0" animBg="1"/>
      <p:bldP spid="43" grpId="1" animBg="1"/>
      <p:bldP spid="44" grpId="0"/>
      <p:bldP spid="45" grpId="0"/>
      <p:bldP spid="46" grpId="0"/>
      <p:bldP spid="47" grpId="0"/>
      <p:bldP spid="48" grpId="0"/>
      <p:bldP spid="61"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B9D2B-90C0-39D8-9E34-0CE1CB9B09EB}"/>
            </a:ext>
          </a:extLst>
        </p:cNvPr>
        <p:cNvGrpSpPr/>
        <p:nvPr/>
      </p:nvGrpSpPr>
      <p:grpSpPr>
        <a:xfrm>
          <a:off x="0" y="0"/>
          <a:ext cx="0" cy="0"/>
          <a:chOff x="0" y="0"/>
          <a:chExt cx="0" cy="0"/>
        </a:xfrm>
      </p:grpSpPr>
      <p:pic>
        <p:nvPicPr>
          <p:cNvPr id="53" name="Picture 52">
            <a:extLst>
              <a:ext uri="{FF2B5EF4-FFF2-40B4-BE49-F238E27FC236}">
                <a16:creationId xmlns:a16="http://schemas.microsoft.com/office/drawing/2014/main" id="{6DAEB40F-1C98-0E05-D90F-B8C96401D8BD}"/>
              </a:ext>
            </a:extLst>
          </p:cNvPr>
          <p:cNvPicPr>
            <a:picLocks noChangeAspect="1"/>
          </p:cNvPicPr>
          <p:nvPr/>
        </p:nvPicPr>
        <p:blipFill>
          <a:blip r:embed="rId3"/>
          <a:stretch>
            <a:fillRect/>
          </a:stretch>
        </p:blipFill>
        <p:spPr>
          <a:xfrm>
            <a:off x="4941639" y="950274"/>
            <a:ext cx="2621271" cy="3689196"/>
          </a:xfrm>
          <a:prstGeom prst="rect">
            <a:avLst/>
          </a:prstGeom>
        </p:spPr>
      </p:pic>
      <p:sp>
        <p:nvSpPr>
          <p:cNvPr id="2" name="Title 1">
            <a:extLst>
              <a:ext uri="{FF2B5EF4-FFF2-40B4-BE49-F238E27FC236}">
                <a16:creationId xmlns:a16="http://schemas.microsoft.com/office/drawing/2014/main" id="{1CD50DC5-75BF-5D65-8BD2-B26F32999CD3}"/>
              </a:ext>
            </a:extLst>
          </p:cNvPr>
          <p:cNvSpPr>
            <a:spLocks noGrp="1"/>
          </p:cNvSpPr>
          <p:nvPr>
            <p:ph type="title"/>
          </p:nvPr>
        </p:nvSpPr>
        <p:spPr/>
        <p:txBody>
          <a:bodyPr/>
          <a:lstStyle/>
          <a:p>
            <a:r>
              <a:rPr lang="en-US"/>
              <a:t>Message-passing approach: Setup </a:t>
            </a:r>
            <a:endParaRPr lang="LID4096"/>
          </a:p>
        </p:txBody>
      </p:sp>
      <p:pic>
        <p:nvPicPr>
          <p:cNvPr id="9" name="Graphic 8">
            <a:extLst>
              <a:ext uri="{FF2B5EF4-FFF2-40B4-BE49-F238E27FC236}">
                <a16:creationId xmlns:a16="http://schemas.microsoft.com/office/drawing/2014/main" id="{D733F91D-FE68-148E-9952-962667AB89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958040" y="46596"/>
            <a:ext cx="2381250" cy="1228725"/>
          </a:xfrm>
          <a:prstGeom prst="rect">
            <a:avLst/>
          </a:prstGeom>
        </p:spPr>
      </p:pic>
      <p:pic>
        <p:nvPicPr>
          <p:cNvPr id="13" name="Graphic 12">
            <a:extLst>
              <a:ext uri="{FF2B5EF4-FFF2-40B4-BE49-F238E27FC236}">
                <a16:creationId xmlns:a16="http://schemas.microsoft.com/office/drawing/2014/main" id="{986A92A8-6AC9-FF6D-E977-87166BA898F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2958536" y="3461113"/>
            <a:ext cx="1333500" cy="561975"/>
          </a:xfrm>
          <a:prstGeom prst="rect">
            <a:avLst/>
          </a:prstGeom>
        </p:spPr>
      </p:pic>
      <p:pic>
        <p:nvPicPr>
          <p:cNvPr id="15" name="Graphic 14">
            <a:extLst>
              <a:ext uri="{FF2B5EF4-FFF2-40B4-BE49-F238E27FC236}">
                <a16:creationId xmlns:a16="http://schemas.microsoft.com/office/drawing/2014/main" id="{BDCDCD70-D158-C436-4DA7-B502363C21B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292036" y="-776031"/>
            <a:ext cx="571500" cy="561975"/>
          </a:xfrm>
          <a:prstGeom prst="rect">
            <a:avLst/>
          </a:prstGeom>
        </p:spPr>
      </p:pic>
      <p:pic>
        <p:nvPicPr>
          <p:cNvPr id="17" name="Graphic 16">
            <a:extLst>
              <a:ext uri="{FF2B5EF4-FFF2-40B4-BE49-F238E27FC236}">
                <a16:creationId xmlns:a16="http://schemas.microsoft.com/office/drawing/2014/main" id="{307B9D45-6DC3-1311-E44E-962B866A3E6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059432" y="-854808"/>
            <a:ext cx="381000" cy="561975"/>
          </a:xfrm>
          <a:prstGeom prst="rect">
            <a:avLst/>
          </a:prstGeom>
        </p:spPr>
      </p:pic>
      <p:pic>
        <p:nvPicPr>
          <p:cNvPr id="19" name="Graphic 18">
            <a:extLst>
              <a:ext uri="{FF2B5EF4-FFF2-40B4-BE49-F238E27FC236}">
                <a16:creationId xmlns:a16="http://schemas.microsoft.com/office/drawing/2014/main" id="{6E8E0296-5AEE-B083-D416-8220968C7CE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5540624" y="-854808"/>
            <a:ext cx="381000" cy="561975"/>
          </a:xfrm>
          <a:prstGeom prst="rect">
            <a:avLst/>
          </a:prstGeom>
        </p:spPr>
      </p:pic>
      <p:pic>
        <p:nvPicPr>
          <p:cNvPr id="25" name="Graphic 24">
            <a:extLst>
              <a:ext uri="{FF2B5EF4-FFF2-40B4-BE49-F238E27FC236}">
                <a16:creationId xmlns:a16="http://schemas.microsoft.com/office/drawing/2014/main" id="{EAA42D88-F82C-2624-348F-BA5C0612311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1577411" y="-442812"/>
            <a:ext cx="2762250" cy="561975"/>
          </a:xfrm>
          <a:prstGeom prst="rect">
            <a:avLst/>
          </a:prstGeom>
        </p:spPr>
      </p:pic>
      <p:pic>
        <p:nvPicPr>
          <p:cNvPr id="27" name="Graphic 26">
            <a:extLst>
              <a:ext uri="{FF2B5EF4-FFF2-40B4-BE49-F238E27FC236}">
                <a16:creationId xmlns:a16="http://schemas.microsoft.com/office/drawing/2014/main" id="{97BA79A6-818A-FFED-4FC1-30939DB4BB1C}"/>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4292036" y="3775128"/>
            <a:ext cx="4000500" cy="561975"/>
          </a:xfrm>
          <a:prstGeom prst="rect">
            <a:avLst/>
          </a:prstGeom>
        </p:spPr>
      </p:pic>
      <p:pic>
        <p:nvPicPr>
          <p:cNvPr id="29" name="Graphic 28">
            <a:extLst>
              <a:ext uri="{FF2B5EF4-FFF2-40B4-BE49-F238E27FC236}">
                <a16:creationId xmlns:a16="http://schemas.microsoft.com/office/drawing/2014/main" id="{C83A39C8-5F10-FA57-E26F-DCCFA6210940}"/>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3873749" y="2637279"/>
            <a:ext cx="4095750" cy="809625"/>
          </a:xfrm>
          <a:prstGeom prst="rect">
            <a:avLst/>
          </a:prstGeom>
        </p:spPr>
      </p:pic>
      <p:pic>
        <p:nvPicPr>
          <p:cNvPr id="31" name="Graphic 30">
            <a:extLst>
              <a:ext uri="{FF2B5EF4-FFF2-40B4-BE49-F238E27FC236}">
                <a16:creationId xmlns:a16="http://schemas.microsoft.com/office/drawing/2014/main" id="{2B538C18-B7EC-8E68-5DB9-C6E7C1334903}"/>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9823093" y="4037297"/>
            <a:ext cx="5143500" cy="561975"/>
          </a:xfrm>
          <a:prstGeom prst="rect">
            <a:avLst/>
          </a:prstGeom>
        </p:spPr>
      </p:pic>
      <p:pic>
        <p:nvPicPr>
          <p:cNvPr id="33" name="Graphic 32">
            <a:extLst>
              <a:ext uri="{FF2B5EF4-FFF2-40B4-BE49-F238E27FC236}">
                <a16:creationId xmlns:a16="http://schemas.microsoft.com/office/drawing/2014/main" id="{C056863E-8290-803B-0F72-6E9319BB536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4815911" y="145162"/>
            <a:ext cx="3619500" cy="2371725"/>
          </a:xfrm>
          <a:prstGeom prst="rect">
            <a:avLst/>
          </a:prstGeom>
        </p:spPr>
      </p:pic>
      <p:pic>
        <p:nvPicPr>
          <p:cNvPr id="4" name="Graphic 3">
            <a:extLst>
              <a:ext uri="{FF2B5EF4-FFF2-40B4-BE49-F238E27FC236}">
                <a16:creationId xmlns:a16="http://schemas.microsoft.com/office/drawing/2014/main" id="{935512E2-5C4A-B9DF-2466-62952733CDB0}"/>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12000" y="1609725"/>
            <a:ext cx="3067050" cy="1924050"/>
          </a:xfrm>
          <a:prstGeom prst="rect">
            <a:avLst/>
          </a:prstGeom>
        </p:spPr>
      </p:pic>
      <p:pic>
        <p:nvPicPr>
          <p:cNvPr id="30" name="Graphic 29">
            <a:extLst>
              <a:ext uri="{FF2B5EF4-FFF2-40B4-BE49-F238E27FC236}">
                <a16:creationId xmlns:a16="http://schemas.microsoft.com/office/drawing/2014/main" id="{2B254D05-35AE-743A-43F6-D7E7A6F3496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907275" y="1385887"/>
            <a:ext cx="2476500" cy="2371725"/>
          </a:xfrm>
          <a:prstGeom prst="rect">
            <a:avLst/>
          </a:prstGeom>
        </p:spPr>
      </p:pic>
      <p:pic>
        <p:nvPicPr>
          <p:cNvPr id="34" name="Graphic 33">
            <a:extLst>
              <a:ext uri="{FF2B5EF4-FFF2-40B4-BE49-F238E27FC236}">
                <a16:creationId xmlns:a16="http://schemas.microsoft.com/office/drawing/2014/main" id="{43515A2F-7F85-0D9D-FB2C-B035779E9AD2}"/>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16"/>
              </a:ext>
            </a:extLst>
          </a:blip>
          <a:stretch>
            <a:fillRect/>
          </a:stretch>
        </p:blipFill>
        <p:spPr>
          <a:xfrm>
            <a:off x="3728149" y="2028825"/>
            <a:ext cx="5048250" cy="904875"/>
          </a:xfrm>
          <a:prstGeom prst="rect">
            <a:avLst/>
          </a:prstGeom>
        </p:spPr>
      </p:pic>
      <p:pic>
        <p:nvPicPr>
          <p:cNvPr id="36" name="Graphic 35">
            <a:extLst>
              <a:ext uri="{FF2B5EF4-FFF2-40B4-BE49-F238E27FC236}">
                <a16:creationId xmlns:a16="http://schemas.microsoft.com/office/drawing/2014/main" id="{C4B3AA85-ECC1-0C7D-98BC-818B01C856C2}"/>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775899" y="1357776"/>
            <a:ext cx="2952750" cy="828675"/>
          </a:xfrm>
          <a:prstGeom prst="rect">
            <a:avLst/>
          </a:prstGeom>
        </p:spPr>
      </p:pic>
      <p:pic>
        <p:nvPicPr>
          <p:cNvPr id="49" name="Graphic 48">
            <a:extLst>
              <a:ext uri="{FF2B5EF4-FFF2-40B4-BE49-F238E27FC236}">
                <a16:creationId xmlns:a16="http://schemas.microsoft.com/office/drawing/2014/main" id="{486AF9C0-9EB0-D587-4DD6-EBD0C4E72368}"/>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4823524" y="3355026"/>
            <a:ext cx="2857500" cy="838200"/>
          </a:xfrm>
          <a:prstGeom prst="rect">
            <a:avLst/>
          </a:prstGeom>
        </p:spPr>
      </p:pic>
      <p:sp>
        <p:nvSpPr>
          <p:cNvPr id="54" name="TextBox 53">
            <a:extLst>
              <a:ext uri="{FF2B5EF4-FFF2-40B4-BE49-F238E27FC236}">
                <a16:creationId xmlns:a16="http://schemas.microsoft.com/office/drawing/2014/main" id="{D8DEB1B6-81D4-2935-D8F9-5977CA4C3FCC}"/>
              </a:ext>
            </a:extLst>
          </p:cNvPr>
          <p:cNvSpPr txBox="1"/>
          <p:nvPr/>
        </p:nvSpPr>
        <p:spPr>
          <a:xfrm>
            <a:off x="7785136" y="3589460"/>
            <a:ext cx="750077" cy="369332"/>
          </a:xfrm>
          <a:prstGeom prst="rect">
            <a:avLst/>
          </a:prstGeom>
          <a:noFill/>
        </p:spPr>
        <p:txBody>
          <a:bodyPr wrap="none" rtlCol="0">
            <a:spAutoFit/>
          </a:bodyPr>
          <a:lstStyle/>
          <a:p>
            <a:pPr algn="ctr"/>
            <a:r>
              <a:rPr lang="en-US"/>
              <a:t>Unary</a:t>
            </a:r>
            <a:endParaRPr lang="LID4096"/>
          </a:p>
        </p:txBody>
      </p:sp>
      <p:sp>
        <p:nvSpPr>
          <p:cNvPr id="55" name="TextBox 54">
            <a:extLst>
              <a:ext uri="{FF2B5EF4-FFF2-40B4-BE49-F238E27FC236}">
                <a16:creationId xmlns:a16="http://schemas.microsoft.com/office/drawing/2014/main" id="{61098B37-3865-9D1A-8240-222D38EB1E2F}"/>
              </a:ext>
            </a:extLst>
          </p:cNvPr>
          <p:cNvSpPr txBox="1"/>
          <p:nvPr/>
        </p:nvSpPr>
        <p:spPr>
          <a:xfrm>
            <a:off x="7769907" y="4169054"/>
            <a:ext cx="780535" cy="369332"/>
          </a:xfrm>
          <a:prstGeom prst="rect">
            <a:avLst/>
          </a:prstGeom>
          <a:noFill/>
        </p:spPr>
        <p:txBody>
          <a:bodyPr wrap="none" rtlCol="0">
            <a:spAutoFit/>
          </a:bodyPr>
          <a:lstStyle/>
          <a:p>
            <a:pPr algn="ctr"/>
            <a:r>
              <a:rPr lang="en-US"/>
              <a:t>Binary</a:t>
            </a:r>
            <a:endParaRPr lang="LID4096"/>
          </a:p>
        </p:txBody>
      </p:sp>
      <p:pic>
        <p:nvPicPr>
          <p:cNvPr id="59" name="Graphic 58">
            <a:extLst>
              <a:ext uri="{FF2B5EF4-FFF2-40B4-BE49-F238E27FC236}">
                <a16:creationId xmlns:a16="http://schemas.microsoft.com/office/drawing/2014/main" id="{4DA43C54-0758-488D-5D8E-B1DAB8F2FDC2}"/>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4778375" y="2808287"/>
            <a:ext cx="2952750" cy="809625"/>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FA099005-C2FC-8DCD-6CC4-003F94D5746F}"/>
                  </a:ext>
                </a:extLst>
              </p:cNvPr>
              <p:cNvSpPr txBox="1"/>
              <p:nvPr/>
            </p:nvSpPr>
            <p:spPr>
              <a:xfrm>
                <a:off x="1400673" y="4704613"/>
                <a:ext cx="1504771" cy="369332"/>
              </a:xfrm>
              <a:prstGeom prst="rect">
                <a:avLst/>
              </a:prstGeom>
              <a:noFill/>
            </p:spPr>
            <p:txBody>
              <a:bodyPr wrap="none" rtlCol="0">
                <a:spAutoFit/>
              </a:bodyPr>
              <a:lstStyle/>
              <a:p>
                <a:r>
                  <a:rPr lang="en-US"/>
                  <a:t>Structure of </a:t>
                </a:r>
                <a14:m>
                  <m:oMath xmlns:m="http://schemas.openxmlformats.org/officeDocument/2006/math">
                    <m:r>
                      <a:rPr lang="en-US" i="1" dirty="0" smtClean="0">
                        <a:latin typeface="Cambria Math" panose="02040503050406030204" pitchFamily="18" charset="0"/>
                      </a:rPr>
                      <m:t>𝐴</m:t>
                    </m:r>
                  </m:oMath>
                </a14:m>
                <a:endParaRPr lang="LID4096"/>
              </a:p>
            </p:txBody>
          </p:sp>
        </mc:Choice>
        <mc:Fallback xmlns="">
          <p:sp>
            <p:nvSpPr>
              <p:cNvPr id="61" name="TextBox 60">
                <a:extLst>
                  <a:ext uri="{FF2B5EF4-FFF2-40B4-BE49-F238E27FC236}">
                    <a16:creationId xmlns:a16="http://schemas.microsoft.com/office/drawing/2014/main" id="{FA099005-C2FC-8DCD-6CC4-003F94D5746F}"/>
                  </a:ext>
                </a:extLst>
              </p:cNvPr>
              <p:cNvSpPr txBox="1">
                <a:spLocks noRot="1" noChangeAspect="1" noMove="1" noResize="1" noEditPoints="1" noAdjustHandles="1" noChangeArrowheads="1" noChangeShapeType="1" noTextEdit="1"/>
              </p:cNvSpPr>
              <p:nvPr/>
            </p:nvSpPr>
            <p:spPr>
              <a:xfrm>
                <a:off x="1400673" y="4704613"/>
                <a:ext cx="1504771" cy="369332"/>
              </a:xfrm>
              <a:prstGeom prst="rect">
                <a:avLst/>
              </a:prstGeom>
              <a:blipFill>
                <a:blip r:embed="rId20"/>
                <a:stretch>
                  <a:fillRect l="-3644" t="-10000" b="-26667"/>
                </a:stretch>
              </a:blipFill>
            </p:spPr>
            <p:txBody>
              <a:bodyPr/>
              <a:lstStyle/>
              <a:p>
                <a:r>
                  <a:rPr lang="en-US">
                    <a:noFill/>
                  </a:rPr>
                  <a:t> </a:t>
                </a:r>
              </a:p>
            </p:txBody>
          </p:sp>
        </mc:Fallback>
      </mc:AlternateContent>
      <p:pic>
        <p:nvPicPr>
          <p:cNvPr id="65" name="Graphic 64">
            <a:extLst>
              <a:ext uri="{FF2B5EF4-FFF2-40B4-BE49-F238E27FC236}">
                <a16:creationId xmlns:a16="http://schemas.microsoft.com/office/drawing/2014/main" id="{D2842395-F1A4-4A4A-1AD2-D5CBF771F194}"/>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4921155" y="4067970"/>
            <a:ext cx="2667000" cy="561975"/>
          </a:xfrm>
          <a:prstGeom prst="rect">
            <a:avLst/>
          </a:prstGeom>
        </p:spPr>
      </p:pic>
      <p:pic>
        <p:nvPicPr>
          <p:cNvPr id="5" name="Picture 4">
            <a:extLst>
              <a:ext uri="{FF2B5EF4-FFF2-40B4-BE49-F238E27FC236}">
                <a16:creationId xmlns:a16="http://schemas.microsoft.com/office/drawing/2014/main" id="{7D406BDF-5DA4-F9AC-A75E-8E7E81483B85}"/>
              </a:ext>
            </a:extLst>
          </p:cNvPr>
          <p:cNvPicPr>
            <a:picLocks noChangeAspect="1"/>
          </p:cNvPicPr>
          <p:nvPr/>
        </p:nvPicPr>
        <p:blipFill>
          <a:blip r:embed="rId22"/>
          <a:srcRect t="-2046" r="33681" b="799"/>
          <a:stretch>
            <a:fillRect/>
          </a:stretch>
        </p:blipFill>
        <p:spPr>
          <a:xfrm>
            <a:off x="1635972" y="3740702"/>
            <a:ext cx="1019653" cy="1047956"/>
          </a:xfrm>
          <a:prstGeom prst="rect">
            <a:avLst/>
          </a:prstGeom>
        </p:spPr>
      </p:pic>
    </p:spTree>
    <p:extLst>
      <p:ext uri="{BB962C8B-B14F-4D97-AF65-F5344CB8AC3E}">
        <p14:creationId xmlns:p14="http://schemas.microsoft.com/office/powerpoint/2010/main" val="1071371640"/>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1"/>
                                        </p:tgtEl>
                                        <p:attrNameLst>
                                          <p:attrName>style.visibility</p:attrName>
                                        </p:attrNameLst>
                                      </p:cBhvr>
                                      <p:to>
                                        <p:strVal val="visible"/>
                                      </p:to>
                                    </p:set>
                                  </p:childTnLst>
                                </p:cTn>
                              </p:par>
                              <p:par>
                                <p:cTn id="9" presetID="1" presetClass="exit" presetSubtype="0" fill="hold" nodeType="with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par>
                                <p:cTn id="15" presetID="1" presetClass="exit" presetSubtype="0" fill="hold" nodeType="withEffect">
                                  <p:stCondLst>
                                    <p:cond delay="0"/>
                                  </p:stCondLst>
                                  <p:childTnLst>
                                    <p:set>
                                      <p:cBhvr>
                                        <p:cTn id="16" dur="1" fill="hold">
                                          <p:stCondLst>
                                            <p:cond delay="0"/>
                                          </p:stCondLst>
                                        </p:cTn>
                                        <p:tgtEl>
                                          <p:spTgt spid="53"/>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5" grpId="0"/>
      <p:bldP spid="61"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00DCC-45FB-82BC-EE57-2B818BAD87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A86530-4874-85E5-AFF8-ACA0DFB80D10}"/>
              </a:ext>
            </a:extLst>
          </p:cNvPr>
          <p:cNvSpPr>
            <a:spLocks noGrp="1"/>
          </p:cNvSpPr>
          <p:nvPr>
            <p:ph type="title"/>
          </p:nvPr>
        </p:nvSpPr>
        <p:spPr/>
        <p:txBody>
          <a:bodyPr/>
          <a:lstStyle/>
          <a:p>
            <a:r>
              <a:rPr lang="en-US"/>
              <a:t>Message-passing approach: Setup </a:t>
            </a:r>
            <a:endParaRPr lang="LID4096"/>
          </a:p>
        </p:txBody>
      </p:sp>
      <p:pic>
        <p:nvPicPr>
          <p:cNvPr id="9" name="Graphic 8">
            <a:extLst>
              <a:ext uri="{FF2B5EF4-FFF2-40B4-BE49-F238E27FC236}">
                <a16:creationId xmlns:a16="http://schemas.microsoft.com/office/drawing/2014/main" id="{42AE6173-78F2-5ACB-E9A5-BD6FB525318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58040" y="46596"/>
            <a:ext cx="2381250" cy="1228725"/>
          </a:xfrm>
          <a:prstGeom prst="rect">
            <a:avLst/>
          </a:prstGeom>
        </p:spPr>
      </p:pic>
      <p:pic>
        <p:nvPicPr>
          <p:cNvPr id="13" name="Graphic 12">
            <a:extLst>
              <a:ext uri="{FF2B5EF4-FFF2-40B4-BE49-F238E27FC236}">
                <a16:creationId xmlns:a16="http://schemas.microsoft.com/office/drawing/2014/main" id="{D3E34090-E606-E6B9-5A3A-87DE7FF634D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958536" y="3461113"/>
            <a:ext cx="1333500" cy="561975"/>
          </a:xfrm>
          <a:prstGeom prst="rect">
            <a:avLst/>
          </a:prstGeom>
        </p:spPr>
      </p:pic>
      <p:pic>
        <p:nvPicPr>
          <p:cNvPr id="15" name="Graphic 14">
            <a:extLst>
              <a:ext uri="{FF2B5EF4-FFF2-40B4-BE49-F238E27FC236}">
                <a16:creationId xmlns:a16="http://schemas.microsoft.com/office/drawing/2014/main" id="{E41C2DC8-075C-5953-9594-F17FDCC3D40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292036" y="-776031"/>
            <a:ext cx="571500" cy="561975"/>
          </a:xfrm>
          <a:prstGeom prst="rect">
            <a:avLst/>
          </a:prstGeom>
        </p:spPr>
      </p:pic>
      <p:pic>
        <p:nvPicPr>
          <p:cNvPr id="17" name="Graphic 16">
            <a:extLst>
              <a:ext uri="{FF2B5EF4-FFF2-40B4-BE49-F238E27FC236}">
                <a16:creationId xmlns:a16="http://schemas.microsoft.com/office/drawing/2014/main" id="{70174BE5-DE7A-36EF-1AE0-26B724A31C6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5059432" y="-854808"/>
            <a:ext cx="381000" cy="561975"/>
          </a:xfrm>
          <a:prstGeom prst="rect">
            <a:avLst/>
          </a:prstGeom>
        </p:spPr>
      </p:pic>
      <p:pic>
        <p:nvPicPr>
          <p:cNvPr id="19" name="Graphic 18">
            <a:extLst>
              <a:ext uri="{FF2B5EF4-FFF2-40B4-BE49-F238E27FC236}">
                <a16:creationId xmlns:a16="http://schemas.microsoft.com/office/drawing/2014/main" id="{B2D67ED6-179F-E82F-A375-9E1717533B3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540624" y="-854808"/>
            <a:ext cx="381000" cy="561975"/>
          </a:xfrm>
          <a:prstGeom prst="rect">
            <a:avLst/>
          </a:prstGeom>
        </p:spPr>
      </p:pic>
      <p:pic>
        <p:nvPicPr>
          <p:cNvPr id="25" name="Graphic 24">
            <a:extLst>
              <a:ext uri="{FF2B5EF4-FFF2-40B4-BE49-F238E27FC236}">
                <a16:creationId xmlns:a16="http://schemas.microsoft.com/office/drawing/2014/main" id="{68784F43-5337-9138-D611-54923661CF2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577411" y="-442812"/>
            <a:ext cx="2762250" cy="561975"/>
          </a:xfrm>
          <a:prstGeom prst="rect">
            <a:avLst/>
          </a:prstGeom>
        </p:spPr>
      </p:pic>
      <p:pic>
        <p:nvPicPr>
          <p:cNvPr id="27" name="Graphic 26">
            <a:extLst>
              <a:ext uri="{FF2B5EF4-FFF2-40B4-BE49-F238E27FC236}">
                <a16:creationId xmlns:a16="http://schemas.microsoft.com/office/drawing/2014/main" id="{2CAB4471-DCC2-1291-D8E0-E3B54EC3111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4292036" y="3775128"/>
            <a:ext cx="4000500" cy="561975"/>
          </a:xfrm>
          <a:prstGeom prst="rect">
            <a:avLst/>
          </a:prstGeom>
        </p:spPr>
      </p:pic>
      <p:pic>
        <p:nvPicPr>
          <p:cNvPr id="29" name="Graphic 28">
            <a:extLst>
              <a:ext uri="{FF2B5EF4-FFF2-40B4-BE49-F238E27FC236}">
                <a16:creationId xmlns:a16="http://schemas.microsoft.com/office/drawing/2014/main" id="{6337535A-4834-8DBD-9A53-B4EC31014A9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3873749" y="2637279"/>
            <a:ext cx="4095750" cy="809625"/>
          </a:xfrm>
          <a:prstGeom prst="rect">
            <a:avLst/>
          </a:prstGeom>
        </p:spPr>
      </p:pic>
      <p:pic>
        <p:nvPicPr>
          <p:cNvPr id="31" name="Graphic 30">
            <a:extLst>
              <a:ext uri="{FF2B5EF4-FFF2-40B4-BE49-F238E27FC236}">
                <a16:creationId xmlns:a16="http://schemas.microsoft.com/office/drawing/2014/main" id="{8B9236E7-DEE1-B423-8CBA-AAAB74BD9316}"/>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823093" y="4037297"/>
            <a:ext cx="5143500" cy="561975"/>
          </a:xfrm>
          <a:prstGeom prst="rect">
            <a:avLst/>
          </a:prstGeom>
        </p:spPr>
      </p:pic>
      <p:pic>
        <p:nvPicPr>
          <p:cNvPr id="33" name="Graphic 32">
            <a:extLst>
              <a:ext uri="{FF2B5EF4-FFF2-40B4-BE49-F238E27FC236}">
                <a16:creationId xmlns:a16="http://schemas.microsoft.com/office/drawing/2014/main" id="{167C3A45-3352-8EAF-2243-396BA356111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4815911" y="145162"/>
            <a:ext cx="3619500" cy="2371725"/>
          </a:xfrm>
          <a:prstGeom prst="rect">
            <a:avLst/>
          </a:prstGeom>
        </p:spPr>
      </p:pic>
      <p:pic>
        <p:nvPicPr>
          <p:cNvPr id="11" name="Graphic 10">
            <a:extLst>
              <a:ext uri="{FF2B5EF4-FFF2-40B4-BE49-F238E27FC236}">
                <a16:creationId xmlns:a16="http://schemas.microsoft.com/office/drawing/2014/main" id="{14CC3C1E-B4FF-2FED-1364-C202E817FF08}"/>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728149" y="2028825"/>
            <a:ext cx="5048250" cy="904875"/>
          </a:xfrm>
          <a:prstGeom prst="rect">
            <a:avLst/>
          </a:prstGeom>
        </p:spPr>
      </p:pic>
      <p:pic>
        <p:nvPicPr>
          <p:cNvPr id="14" name="Graphic 13">
            <a:extLst>
              <a:ext uri="{FF2B5EF4-FFF2-40B4-BE49-F238E27FC236}">
                <a16:creationId xmlns:a16="http://schemas.microsoft.com/office/drawing/2014/main" id="{DBE940BF-ED7A-0AFA-B49A-F2E699F52B6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4775899" y="1357776"/>
            <a:ext cx="2952750" cy="828675"/>
          </a:xfrm>
          <a:prstGeom prst="rect">
            <a:avLst/>
          </a:prstGeom>
        </p:spPr>
      </p:pic>
      <p:pic>
        <p:nvPicPr>
          <p:cNvPr id="7" name="Graphic 6">
            <a:extLst>
              <a:ext uri="{FF2B5EF4-FFF2-40B4-BE49-F238E27FC236}">
                <a16:creationId xmlns:a16="http://schemas.microsoft.com/office/drawing/2014/main" id="{263278E9-913D-6364-67BA-060489F6AE20}"/>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612000" y="1165666"/>
            <a:ext cx="3448050" cy="2943225"/>
          </a:xfrm>
          <a:prstGeom prst="rect">
            <a:avLst/>
          </a:prstGeom>
        </p:spPr>
      </p:pic>
      <p:pic>
        <p:nvPicPr>
          <p:cNvPr id="12" name="Graphic 11">
            <a:extLst>
              <a:ext uri="{FF2B5EF4-FFF2-40B4-BE49-F238E27FC236}">
                <a16:creationId xmlns:a16="http://schemas.microsoft.com/office/drawing/2014/main" id="{82C30B55-A7A7-F653-095B-6F7A30AE85C7}"/>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4823524" y="3355026"/>
            <a:ext cx="2857500" cy="838200"/>
          </a:xfrm>
          <a:prstGeom prst="rect">
            <a:avLst/>
          </a:prstGeom>
        </p:spPr>
      </p:pic>
      <p:pic>
        <p:nvPicPr>
          <p:cNvPr id="21" name="Graphic 20">
            <a:extLst>
              <a:ext uri="{FF2B5EF4-FFF2-40B4-BE49-F238E27FC236}">
                <a16:creationId xmlns:a16="http://schemas.microsoft.com/office/drawing/2014/main" id="{6E4EF850-7121-5300-22AB-676566D2A8FC}"/>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778375" y="2808287"/>
            <a:ext cx="2952750" cy="809625"/>
          </a:xfrm>
          <a:prstGeom prst="rect">
            <a:avLst/>
          </a:prstGeom>
        </p:spPr>
      </p:pic>
      <p:sp>
        <p:nvSpPr>
          <p:cNvPr id="23" name="TextBox 22">
            <a:extLst>
              <a:ext uri="{FF2B5EF4-FFF2-40B4-BE49-F238E27FC236}">
                <a16:creationId xmlns:a16="http://schemas.microsoft.com/office/drawing/2014/main" id="{01185A70-7486-D3F3-B537-E3319517E112}"/>
              </a:ext>
            </a:extLst>
          </p:cNvPr>
          <p:cNvSpPr txBox="1"/>
          <p:nvPr/>
        </p:nvSpPr>
        <p:spPr>
          <a:xfrm>
            <a:off x="1034803" y="4270138"/>
            <a:ext cx="2602444" cy="369332"/>
          </a:xfrm>
          <a:prstGeom prst="rect">
            <a:avLst/>
          </a:prstGeom>
          <a:noFill/>
        </p:spPr>
        <p:txBody>
          <a:bodyPr wrap="none" rtlCol="0">
            <a:spAutoFit/>
          </a:bodyPr>
          <a:lstStyle/>
          <a:p>
            <a:r>
              <a:rPr lang="en-US"/>
              <a:t>Forney-style Factor Graph</a:t>
            </a:r>
            <a:endParaRPr lang="LID4096"/>
          </a:p>
        </p:txBody>
      </p:sp>
      <p:pic>
        <p:nvPicPr>
          <p:cNvPr id="32" name="Graphic 31">
            <a:extLst>
              <a:ext uri="{FF2B5EF4-FFF2-40B4-BE49-F238E27FC236}">
                <a16:creationId xmlns:a16="http://schemas.microsoft.com/office/drawing/2014/main" id="{23F86924-D9CD-950E-90D1-D309EA7BF8DE}"/>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4921155" y="4067970"/>
            <a:ext cx="2667000" cy="561975"/>
          </a:xfrm>
          <a:prstGeom prst="rect">
            <a:avLst/>
          </a:prstGeom>
        </p:spPr>
      </p:pic>
    </p:spTree>
    <p:extLst>
      <p:ext uri="{BB962C8B-B14F-4D97-AF65-F5344CB8AC3E}">
        <p14:creationId xmlns:p14="http://schemas.microsoft.com/office/powerpoint/2010/main" val="1969775058"/>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D3FCD-6078-604D-ED2E-D4E843B131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ACF97D-9A4D-97E7-ACDB-B753E80F5CD2}"/>
              </a:ext>
            </a:extLst>
          </p:cNvPr>
          <p:cNvSpPr>
            <a:spLocks noGrp="1"/>
          </p:cNvSpPr>
          <p:nvPr>
            <p:ph type="title"/>
          </p:nvPr>
        </p:nvSpPr>
        <p:spPr/>
        <p:txBody>
          <a:bodyPr/>
          <a:lstStyle/>
          <a:p>
            <a:r>
              <a:rPr lang="en-US"/>
              <a:t>Message-passing approach: Setup </a:t>
            </a:r>
            <a:endParaRPr lang="LID4096"/>
          </a:p>
        </p:txBody>
      </p:sp>
      <p:pic>
        <p:nvPicPr>
          <p:cNvPr id="9" name="Graphic 8">
            <a:extLst>
              <a:ext uri="{FF2B5EF4-FFF2-40B4-BE49-F238E27FC236}">
                <a16:creationId xmlns:a16="http://schemas.microsoft.com/office/drawing/2014/main" id="{6C9DF976-774C-B2D6-8696-CF47BB6A9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184482" y="2976684"/>
            <a:ext cx="2381250" cy="1228725"/>
          </a:xfrm>
          <a:prstGeom prst="rect">
            <a:avLst/>
          </a:prstGeom>
        </p:spPr>
      </p:pic>
      <p:pic>
        <p:nvPicPr>
          <p:cNvPr id="13" name="Graphic 12">
            <a:extLst>
              <a:ext uri="{FF2B5EF4-FFF2-40B4-BE49-F238E27FC236}">
                <a16:creationId xmlns:a16="http://schemas.microsoft.com/office/drawing/2014/main" id="{D5CB590E-779F-368B-E5A4-AE3F074965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958536" y="3461113"/>
            <a:ext cx="1333500" cy="561975"/>
          </a:xfrm>
          <a:prstGeom prst="rect">
            <a:avLst/>
          </a:prstGeom>
        </p:spPr>
      </p:pic>
      <p:pic>
        <p:nvPicPr>
          <p:cNvPr id="25" name="Graphic 24">
            <a:extLst>
              <a:ext uri="{FF2B5EF4-FFF2-40B4-BE49-F238E27FC236}">
                <a16:creationId xmlns:a16="http://schemas.microsoft.com/office/drawing/2014/main" id="{8CFFF252-C989-25C5-67F6-D5C08CBD02E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577411" y="-442812"/>
            <a:ext cx="2762250" cy="561975"/>
          </a:xfrm>
          <a:prstGeom prst="rect">
            <a:avLst/>
          </a:prstGeom>
        </p:spPr>
      </p:pic>
      <p:pic>
        <p:nvPicPr>
          <p:cNvPr id="27" name="Graphic 26">
            <a:extLst>
              <a:ext uri="{FF2B5EF4-FFF2-40B4-BE49-F238E27FC236}">
                <a16:creationId xmlns:a16="http://schemas.microsoft.com/office/drawing/2014/main" id="{2425F4DB-94A5-619C-6731-0A93F40B507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292036" y="3775128"/>
            <a:ext cx="4000500" cy="561975"/>
          </a:xfrm>
          <a:prstGeom prst="rect">
            <a:avLst/>
          </a:prstGeom>
        </p:spPr>
      </p:pic>
      <p:pic>
        <p:nvPicPr>
          <p:cNvPr id="29" name="Graphic 28">
            <a:extLst>
              <a:ext uri="{FF2B5EF4-FFF2-40B4-BE49-F238E27FC236}">
                <a16:creationId xmlns:a16="http://schemas.microsoft.com/office/drawing/2014/main" id="{EC47E383-DE24-B7F3-E071-A92C39AB020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3873749" y="2637279"/>
            <a:ext cx="4095750" cy="809625"/>
          </a:xfrm>
          <a:prstGeom prst="rect">
            <a:avLst/>
          </a:prstGeom>
        </p:spPr>
      </p:pic>
      <p:pic>
        <p:nvPicPr>
          <p:cNvPr id="31" name="Graphic 30">
            <a:extLst>
              <a:ext uri="{FF2B5EF4-FFF2-40B4-BE49-F238E27FC236}">
                <a16:creationId xmlns:a16="http://schemas.microsoft.com/office/drawing/2014/main" id="{D99B720E-F0C5-BA24-6541-7ACAD96F880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823093" y="4037297"/>
            <a:ext cx="5143500" cy="561975"/>
          </a:xfrm>
          <a:prstGeom prst="rect">
            <a:avLst/>
          </a:prstGeom>
        </p:spPr>
      </p:pic>
      <p:pic>
        <p:nvPicPr>
          <p:cNvPr id="33" name="Graphic 32">
            <a:extLst>
              <a:ext uri="{FF2B5EF4-FFF2-40B4-BE49-F238E27FC236}">
                <a16:creationId xmlns:a16="http://schemas.microsoft.com/office/drawing/2014/main" id="{3805CD88-2E5E-8886-065D-0D982CDC2A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4815911" y="145162"/>
            <a:ext cx="3619500" cy="2371725"/>
          </a:xfrm>
          <a:prstGeom prst="rect">
            <a:avLst/>
          </a:prstGeom>
        </p:spPr>
      </p:pic>
      <p:pic>
        <p:nvPicPr>
          <p:cNvPr id="6" name="Graphic 5">
            <a:extLst>
              <a:ext uri="{FF2B5EF4-FFF2-40B4-BE49-F238E27FC236}">
                <a16:creationId xmlns:a16="http://schemas.microsoft.com/office/drawing/2014/main" id="{CCDCE4F2-C52B-DCA9-9870-E0C4B4B93CA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12000" y="1168048"/>
            <a:ext cx="3448050" cy="2933700"/>
          </a:xfrm>
          <a:prstGeom prst="rect">
            <a:avLst/>
          </a:prstGeom>
        </p:spPr>
      </p:pic>
      <p:sp>
        <p:nvSpPr>
          <p:cNvPr id="8" name="TextBox 7">
            <a:extLst>
              <a:ext uri="{FF2B5EF4-FFF2-40B4-BE49-F238E27FC236}">
                <a16:creationId xmlns:a16="http://schemas.microsoft.com/office/drawing/2014/main" id="{800D5C3C-DF74-5F66-3038-A678E1812A75}"/>
              </a:ext>
            </a:extLst>
          </p:cNvPr>
          <p:cNvSpPr txBox="1"/>
          <p:nvPr/>
        </p:nvSpPr>
        <p:spPr>
          <a:xfrm>
            <a:off x="4218215" y="1275321"/>
            <a:ext cx="4313785" cy="1754326"/>
          </a:xfrm>
          <a:prstGeom prst="rect">
            <a:avLst/>
          </a:prstGeom>
          <a:noFill/>
        </p:spPr>
        <p:txBody>
          <a:bodyPr wrap="square" rtlCol="0">
            <a:spAutoFit/>
          </a:bodyPr>
          <a:lstStyle/>
          <a:p>
            <a:pPr marL="285750" indent="-285750">
              <a:buFont typeface="Arial" panose="020B0604020202020204" pitchFamily="34" charset="0"/>
              <a:buChar char="•"/>
            </a:pPr>
            <a:r>
              <a:rPr lang="en-US"/>
              <a:t>Message-passing is a scalable, distributed approach to approximate </a:t>
            </a:r>
            <a:r>
              <a:rPr lang="en-US" b="1"/>
              <a:t>marginal</a:t>
            </a:r>
            <a:r>
              <a:rPr lang="en-US"/>
              <a:t> inference.</a:t>
            </a:r>
          </a:p>
          <a:p>
            <a:pPr marL="285750" indent="-285750">
              <a:buFont typeface="Arial" panose="020B0604020202020204" pitchFamily="34" charset="0"/>
              <a:buChar char="•"/>
            </a:pPr>
            <a:r>
              <a:rPr lang="en-US"/>
              <a:t>We infer          for each variable      in state vector     .</a:t>
            </a:r>
          </a:p>
          <a:p>
            <a:pPr marL="285750" indent="-285750">
              <a:buFont typeface="Arial" panose="020B0604020202020204" pitchFamily="34" charset="0"/>
              <a:buChar char="•"/>
            </a:pPr>
            <a:r>
              <a:rPr lang="en-US"/>
              <a:t>We then stack the means to obtain:</a:t>
            </a:r>
            <a:endParaRPr lang="LID4096"/>
          </a:p>
        </p:txBody>
      </p:sp>
      <p:pic>
        <p:nvPicPr>
          <p:cNvPr id="12" name="Graphic 11">
            <a:extLst>
              <a:ext uri="{FF2B5EF4-FFF2-40B4-BE49-F238E27FC236}">
                <a16:creationId xmlns:a16="http://schemas.microsoft.com/office/drawing/2014/main" id="{AC665DE4-FAB2-B117-50BB-15DE475577C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362721" y="2022475"/>
            <a:ext cx="571500" cy="561975"/>
          </a:xfrm>
          <a:prstGeom prst="rect">
            <a:avLst/>
          </a:prstGeom>
        </p:spPr>
      </p:pic>
      <p:pic>
        <p:nvPicPr>
          <p:cNvPr id="20" name="Graphic 19">
            <a:extLst>
              <a:ext uri="{FF2B5EF4-FFF2-40B4-BE49-F238E27FC236}">
                <a16:creationId xmlns:a16="http://schemas.microsoft.com/office/drawing/2014/main" id="{B072E90E-9AD4-B96C-4AAC-78843D0362E6}"/>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427785" y="2009774"/>
            <a:ext cx="381000" cy="561975"/>
          </a:xfrm>
          <a:prstGeom prst="rect">
            <a:avLst/>
          </a:prstGeom>
        </p:spPr>
      </p:pic>
      <p:pic>
        <p:nvPicPr>
          <p:cNvPr id="23" name="Graphic 22">
            <a:extLst>
              <a:ext uri="{FF2B5EF4-FFF2-40B4-BE49-F238E27FC236}">
                <a16:creationId xmlns:a16="http://schemas.microsoft.com/office/drawing/2014/main" id="{6ED6BFEC-4E21-7D27-8D99-5546432ACC82}"/>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644357" y="2294619"/>
            <a:ext cx="381000" cy="561975"/>
          </a:xfrm>
          <a:prstGeom prst="rect">
            <a:avLst/>
          </a:prstGeom>
        </p:spPr>
      </p:pic>
      <p:sp>
        <p:nvSpPr>
          <p:cNvPr id="28" name="TextBox 27">
            <a:extLst>
              <a:ext uri="{FF2B5EF4-FFF2-40B4-BE49-F238E27FC236}">
                <a16:creationId xmlns:a16="http://schemas.microsoft.com/office/drawing/2014/main" id="{00DDE67C-D7EF-A1D8-B9AE-4EC4151BB586}"/>
              </a:ext>
            </a:extLst>
          </p:cNvPr>
          <p:cNvSpPr txBox="1"/>
          <p:nvPr/>
        </p:nvSpPr>
        <p:spPr>
          <a:xfrm>
            <a:off x="1034803" y="4270138"/>
            <a:ext cx="2602444" cy="369332"/>
          </a:xfrm>
          <a:prstGeom prst="rect">
            <a:avLst/>
          </a:prstGeom>
          <a:noFill/>
        </p:spPr>
        <p:txBody>
          <a:bodyPr wrap="none" rtlCol="0">
            <a:spAutoFit/>
          </a:bodyPr>
          <a:lstStyle/>
          <a:p>
            <a:r>
              <a:rPr lang="en-US"/>
              <a:t>Forney-style Factor Graph</a:t>
            </a:r>
            <a:endParaRPr lang="LID4096"/>
          </a:p>
        </p:txBody>
      </p:sp>
    </p:spTree>
    <p:extLst>
      <p:ext uri="{BB962C8B-B14F-4D97-AF65-F5344CB8AC3E}">
        <p14:creationId xmlns:p14="http://schemas.microsoft.com/office/powerpoint/2010/main" val="3703888383"/>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bldLvl="5"/>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0F53A3-7AF6-15FD-F895-64B8EFD76A0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E4A82F4C-1E93-8651-F924-2F90E593A21E}"/>
                  </a:ext>
                </a:extLst>
              </p:cNvPr>
              <p:cNvSpPr>
                <a:spLocks noGrp="1"/>
              </p:cNvSpPr>
              <p:nvPr>
                <p:ph type="title"/>
              </p:nvPr>
            </p:nvSpPr>
            <p:spPr>
              <a:xfrm>
                <a:off x="612648" y="475488"/>
                <a:ext cx="7918704" cy="548640"/>
              </a:xfrm>
            </p:spPr>
            <p:txBody>
              <a:bodyPr/>
              <a:lstStyle/>
              <a:p>
                <a:r>
                  <a:rPr lang="en-GB" sz="2600">
                    <a:solidFill>
                      <a:srgbClr val="FFFFFF"/>
                    </a:solidFill>
                  </a:rPr>
                  <a:t>4. Message passing approach to </a:t>
                </a:r>
                <a14:m>
                  <m:oMath xmlns:m="http://schemas.openxmlformats.org/officeDocument/2006/math">
                    <m:r>
                      <a:rPr lang="en-US" sz="2800" i="1" dirty="0">
                        <a:solidFill>
                          <a:srgbClr val="FFFFFF"/>
                        </a:solidFill>
                        <a:latin typeface="Cambria Math" panose="02040503050406030204" pitchFamily="18" charset="0"/>
                      </a:rPr>
                      <m:t>𝐴</m:t>
                    </m:r>
                    <m:r>
                      <a:rPr lang="en-US" sz="2800" dirty="0">
                        <a:solidFill>
                          <a:srgbClr val="FFFFFF"/>
                        </a:solidFill>
                        <a:latin typeface="Cambria Math" panose="02040503050406030204" pitchFamily="18" charset="0"/>
                      </a:rPr>
                      <m:t>𝐱</m:t>
                    </m:r>
                    <m:r>
                      <a:rPr lang="en-US" sz="2800" dirty="0">
                        <a:solidFill>
                          <a:srgbClr val="FFFFFF"/>
                        </a:solidFill>
                        <a:latin typeface="Cambria Math" panose="02040503050406030204" pitchFamily="18" charset="0"/>
                      </a:rPr>
                      <m:t>=</m:t>
                    </m:r>
                    <m:r>
                      <a:rPr lang="en-US" sz="2800" dirty="0">
                        <a:solidFill>
                          <a:srgbClr val="FFFFFF"/>
                        </a:solidFill>
                        <a:latin typeface="Cambria Math" panose="02040503050406030204" pitchFamily="18" charset="0"/>
                      </a:rPr>
                      <m:t>𝐛</m:t>
                    </m:r>
                  </m:oMath>
                </a14:m>
                <a:endParaRPr sz="2600" b="1">
                  <a:solidFill>
                    <a:srgbClr val="FFFFFF"/>
                  </a:solidFill>
                  <a:latin typeface="Calibri"/>
                </a:endParaRPr>
              </a:p>
            </p:txBody>
          </p:sp>
        </mc:Choice>
        <mc:Fallback xmlns="">
          <p:sp>
            <p:nvSpPr>
              <p:cNvPr id="2" name="Title 1">
                <a:extLst>
                  <a:ext uri="{FF2B5EF4-FFF2-40B4-BE49-F238E27FC236}">
                    <a16:creationId xmlns:a16="http://schemas.microsoft.com/office/drawing/2014/main" id="{E4A82F4C-1E93-8651-F924-2F90E593A21E}"/>
                  </a:ext>
                </a:extLst>
              </p:cNvPr>
              <p:cNvSpPr>
                <a:spLocks noGrp="1" noRot="1" noChangeAspect="1" noMove="1" noResize="1" noEditPoints="1" noAdjustHandles="1" noChangeArrowheads="1" noChangeShapeType="1" noTextEdit="1"/>
              </p:cNvSpPr>
              <p:nvPr>
                <p:ph type="title"/>
              </p:nvPr>
            </p:nvSpPr>
            <p:spPr>
              <a:xfrm>
                <a:off x="612648" y="475488"/>
                <a:ext cx="7918704" cy="548640"/>
              </a:xfrm>
              <a:blipFill>
                <a:blip r:embed="rId3"/>
                <a:stretch>
                  <a:fillRect l="-2540" t="-27778"/>
                </a:stretch>
              </a:blipFill>
            </p:spPr>
            <p:txBody>
              <a:bodyPr/>
              <a:lstStyle/>
              <a:p>
                <a:r>
                  <a:rPr lang="en-US">
                    <a:noFill/>
                  </a:rPr>
                  <a:t> </a:t>
                </a:r>
              </a:p>
            </p:txBody>
          </p:sp>
        </mc:Fallback>
      </mc:AlternateContent>
      <p:sp>
        <p:nvSpPr>
          <p:cNvPr id="4" name="Tijdelijke aanduiding voor dianummer 3">
            <a:extLst>
              <a:ext uri="{FF2B5EF4-FFF2-40B4-BE49-F238E27FC236}">
                <a16:creationId xmlns:a16="http://schemas.microsoft.com/office/drawing/2014/main" id="{4A7EA2D7-90EA-1FA8-0787-A02DE5A344BD}"/>
              </a:ext>
            </a:extLst>
          </p:cNvPr>
          <p:cNvSpPr>
            <a:spLocks noGrp="1"/>
          </p:cNvSpPr>
          <p:nvPr>
            <p:ph type="sldNum" sz="quarter" idx="11"/>
          </p:nvPr>
        </p:nvSpPr>
        <p:spPr/>
        <p:txBody>
          <a:bodyPr/>
          <a:lstStyle/>
          <a:p>
            <a:fld id="{B7CEC10D-CD46-426F-915E-6C78530279CB}" type="slidenum">
              <a:rPr lang="en-US" smtClean="0"/>
              <a:pPr/>
              <a:t>24</a:t>
            </a:fld>
            <a:endParaRPr lang="en-US"/>
          </a:p>
        </p:txBody>
      </p:sp>
      <p:sp>
        <p:nvSpPr>
          <p:cNvPr id="6" name="Oval 5">
            <a:extLst>
              <a:ext uri="{FF2B5EF4-FFF2-40B4-BE49-F238E27FC236}">
                <a16:creationId xmlns:a16="http://schemas.microsoft.com/office/drawing/2014/main" id="{1902F9C8-C3FD-CAB7-AC5A-BB0A490B961B}"/>
              </a:ext>
            </a:extLst>
          </p:cNvPr>
          <p:cNvSpPr/>
          <p:nvPr/>
        </p:nvSpPr>
        <p:spPr>
          <a:xfrm>
            <a:off x="612000" y="1639411"/>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A</a:t>
            </a:r>
            <a:endParaRPr sz="1400" b="1">
              <a:solidFill>
                <a:srgbClr val="101073"/>
              </a:solidFill>
              <a:latin typeface="Calibri"/>
            </a:endParaRPr>
          </a:p>
        </p:txBody>
      </p:sp>
      <p:sp>
        <p:nvSpPr>
          <p:cNvPr id="7" name="TextBox 6">
            <a:extLst>
              <a:ext uri="{FF2B5EF4-FFF2-40B4-BE49-F238E27FC236}">
                <a16:creationId xmlns:a16="http://schemas.microsoft.com/office/drawing/2014/main" id="{816C9FE9-C5A9-26A9-1A16-209C2B0A406C}"/>
              </a:ext>
            </a:extLst>
          </p:cNvPr>
          <p:cNvSpPr txBox="1"/>
          <p:nvPr/>
        </p:nvSpPr>
        <p:spPr>
          <a:xfrm>
            <a:off x="1252080" y="1708324"/>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a:solidFill>
                  <a:srgbClr val="FFFFFF"/>
                </a:solidFill>
                <a:latin typeface="Calibri"/>
              </a:rPr>
              <a:t>Setup</a:t>
            </a:r>
            <a:endParaRPr sz="1400" b="0" i="0">
              <a:solidFill>
                <a:srgbClr val="C9CDE8"/>
              </a:solidFill>
              <a:latin typeface="Calibri"/>
            </a:endParaRPr>
          </a:p>
        </p:txBody>
      </p:sp>
      <p:sp>
        <p:nvSpPr>
          <p:cNvPr id="8" name="Oval 7">
            <a:extLst>
              <a:ext uri="{FF2B5EF4-FFF2-40B4-BE49-F238E27FC236}">
                <a16:creationId xmlns:a16="http://schemas.microsoft.com/office/drawing/2014/main" id="{B5132BAE-98A7-7776-4907-71220D78E094}"/>
              </a:ext>
            </a:extLst>
          </p:cNvPr>
          <p:cNvSpPr/>
          <p:nvPr/>
        </p:nvSpPr>
        <p:spPr>
          <a:xfrm>
            <a:off x="612000" y="2352643"/>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chemeClr val="bg1"/>
                </a:solidFill>
                <a:latin typeface="Calibri"/>
              </a:rPr>
              <a:t>B</a:t>
            </a:r>
            <a:endParaRPr sz="1400" b="1">
              <a:solidFill>
                <a:schemeClr val="bg1"/>
              </a:solidFill>
              <a:latin typeface="Calibri"/>
            </a:endParaRPr>
          </a:p>
        </p:txBody>
      </p:sp>
      <p:sp>
        <p:nvSpPr>
          <p:cNvPr id="9" name="TextBox 8">
            <a:extLst>
              <a:ext uri="{FF2B5EF4-FFF2-40B4-BE49-F238E27FC236}">
                <a16:creationId xmlns:a16="http://schemas.microsoft.com/office/drawing/2014/main" id="{B92D47BC-E78A-708E-B954-EED5303CCB7B}"/>
              </a:ext>
            </a:extLst>
          </p:cNvPr>
          <p:cNvSpPr txBox="1"/>
          <p:nvPr/>
        </p:nvSpPr>
        <p:spPr>
          <a:xfrm>
            <a:off x="1252080" y="2448639"/>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Forney-style Factor Graphs</a:t>
            </a:r>
            <a:endParaRPr sz="1400" b="0" i="0">
              <a:solidFill>
                <a:srgbClr val="C9CDE8"/>
              </a:solidFill>
              <a:latin typeface="Calibri"/>
            </a:endParaRPr>
          </a:p>
        </p:txBody>
      </p:sp>
      <p:sp>
        <p:nvSpPr>
          <p:cNvPr id="3" name="Oval 2">
            <a:extLst>
              <a:ext uri="{FF2B5EF4-FFF2-40B4-BE49-F238E27FC236}">
                <a16:creationId xmlns:a16="http://schemas.microsoft.com/office/drawing/2014/main" id="{9ACCE6E3-7ADA-EFDC-5025-06808C1539D4}"/>
              </a:ext>
            </a:extLst>
          </p:cNvPr>
          <p:cNvSpPr/>
          <p:nvPr/>
        </p:nvSpPr>
        <p:spPr>
          <a:xfrm>
            <a:off x="612000" y="3061037"/>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C</a:t>
            </a:r>
            <a:endParaRPr sz="1400" b="1">
              <a:solidFill>
                <a:srgbClr val="101073"/>
              </a:solidFill>
              <a:latin typeface="Calibri"/>
            </a:endParaRPr>
          </a:p>
        </p:txBody>
      </p:sp>
      <p:sp>
        <p:nvSpPr>
          <p:cNvPr id="5" name="TextBox 4">
            <a:extLst>
              <a:ext uri="{FF2B5EF4-FFF2-40B4-BE49-F238E27FC236}">
                <a16:creationId xmlns:a16="http://schemas.microsoft.com/office/drawing/2014/main" id="{97959175-1FFF-BC3E-2B1F-C6C3EB6FBC51}"/>
              </a:ext>
            </a:extLst>
          </p:cNvPr>
          <p:cNvSpPr txBox="1"/>
          <p:nvPr/>
        </p:nvSpPr>
        <p:spPr>
          <a:xfrm>
            <a:off x="1252080" y="3157033"/>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Belief propagation</a:t>
            </a:r>
            <a:endParaRPr sz="1400" b="0" i="0">
              <a:solidFill>
                <a:srgbClr val="C9CDE8"/>
              </a:solidFill>
              <a:latin typeface="Calibri"/>
            </a:endParaRPr>
          </a:p>
        </p:txBody>
      </p:sp>
      <p:sp>
        <p:nvSpPr>
          <p:cNvPr id="10" name="Oval 9">
            <a:extLst>
              <a:ext uri="{FF2B5EF4-FFF2-40B4-BE49-F238E27FC236}">
                <a16:creationId xmlns:a16="http://schemas.microsoft.com/office/drawing/2014/main" id="{BF76D330-D5B5-9305-942C-9D22857CB578}"/>
              </a:ext>
            </a:extLst>
          </p:cNvPr>
          <p:cNvSpPr/>
          <p:nvPr/>
        </p:nvSpPr>
        <p:spPr>
          <a:xfrm>
            <a:off x="612000" y="3772347"/>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D</a:t>
            </a:r>
            <a:endParaRPr sz="1400" b="1">
              <a:solidFill>
                <a:srgbClr val="101073"/>
              </a:solidFill>
              <a:latin typeface="Calibri"/>
            </a:endParaRP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F404BE69-D099-CA30-FEE3-63975DA577FA}"/>
                  </a:ext>
                </a:extLst>
              </p:cNvPr>
              <p:cNvSpPr txBox="1"/>
              <p:nvPr/>
            </p:nvSpPr>
            <p:spPr>
              <a:xfrm>
                <a:off x="1252080" y="3868343"/>
                <a:ext cx="6949440" cy="246221"/>
              </a:xfrm>
              <a:prstGeom prst="rect">
                <a:avLst/>
              </a:prstGeom>
              <a:noFill/>
            </p:spPr>
            <p:txBody>
              <a:bodyPr wrap="square" lIns="0" tIns="0" rIns="0" bIns="0" anchor="ctr">
                <a:spAutoFit/>
              </a:bodyPr>
              <a:lstStyle/>
              <a:p>
                <a:pPr>
                  <a:spcAft>
                    <a:spcPts val="600"/>
                  </a:spcAft>
                </a:pPr>
                <a:r>
                  <a:rPr lang="en-US" sz="1600" b="1">
                    <a:solidFill>
                      <a:srgbClr val="FFFFFF"/>
                    </a:solidFill>
                  </a:rPr>
                  <a:t>Solving </a:t>
                </a:r>
                <a14:m>
                  <m:oMath xmlns:m="http://schemas.openxmlformats.org/officeDocument/2006/math">
                    <m:r>
                      <a:rPr lang="en-US" sz="1600" b="1" i="1" dirty="0">
                        <a:solidFill>
                          <a:srgbClr val="FFFFFF"/>
                        </a:solidFill>
                        <a:latin typeface="Cambria Math" panose="02040503050406030204" pitchFamily="18" charset="0"/>
                      </a:rPr>
                      <m:t>𝐴</m:t>
                    </m:r>
                    <m:r>
                      <a:rPr lang="en-US" sz="1600" b="1" dirty="0">
                        <a:solidFill>
                          <a:srgbClr val="FFFFFF"/>
                        </a:solidFill>
                        <a:latin typeface="Cambria Math" panose="02040503050406030204" pitchFamily="18" charset="0"/>
                      </a:rPr>
                      <m:t>𝐱</m:t>
                    </m:r>
                    <m:r>
                      <a:rPr lang="en-US" sz="1600" b="1" dirty="0">
                        <a:solidFill>
                          <a:srgbClr val="FFFFFF"/>
                        </a:solidFill>
                        <a:latin typeface="Cambria Math" panose="02040503050406030204" pitchFamily="18" charset="0"/>
                      </a:rPr>
                      <m:t>=</m:t>
                    </m:r>
                    <m:r>
                      <a:rPr lang="en-US" sz="1600" b="1" dirty="0">
                        <a:solidFill>
                          <a:srgbClr val="FFFFFF"/>
                        </a:solidFill>
                        <a:latin typeface="Cambria Math" panose="02040503050406030204" pitchFamily="18" charset="0"/>
                      </a:rPr>
                      <m:t>𝐛</m:t>
                    </m:r>
                  </m:oMath>
                </a14:m>
                <a:r>
                  <a:rPr lang="en-US" sz="1600" b="1">
                    <a:solidFill>
                      <a:srgbClr val="FFFFFF"/>
                    </a:solidFill>
                  </a:rPr>
                  <a:t> by Message-Passing on a Factor-Graph</a:t>
                </a:r>
                <a:endParaRPr lang="en-US" sz="1400">
                  <a:solidFill>
                    <a:srgbClr val="C9CDE8"/>
                  </a:solidFill>
                </a:endParaRPr>
              </a:p>
            </p:txBody>
          </p:sp>
        </mc:Choice>
        <mc:Fallback xmlns="">
          <p:sp>
            <p:nvSpPr>
              <p:cNvPr id="11" name="TextBox 10">
                <a:extLst>
                  <a:ext uri="{FF2B5EF4-FFF2-40B4-BE49-F238E27FC236}">
                    <a16:creationId xmlns:a16="http://schemas.microsoft.com/office/drawing/2014/main" id="{F404BE69-D099-CA30-FEE3-63975DA577FA}"/>
                  </a:ext>
                </a:extLst>
              </p:cNvPr>
              <p:cNvSpPr txBox="1">
                <a:spLocks noRot="1" noChangeAspect="1" noMove="1" noResize="1" noEditPoints="1" noAdjustHandles="1" noChangeArrowheads="1" noChangeShapeType="1" noTextEdit="1"/>
              </p:cNvSpPr>
              <p:nvPr/>
            </p:nvSpPr>
            <p:spPr>
              <a:xfrm>
                <a:off x="1252080" y="3868343"/>
                <a:ext cx="6949440" cy="246221"/>
              </a:xfrm>
              <a:prstGeom prst="rect">
                <a:avLst/>
              </a:prstGeom>
              <a:blipFill>
                <a:blip r:embed="rId4"/>
                <a:stretch>
                  <a:fillRect l="-1754" t="-27500" b="-50000"/>
                </a:stretch>
              </a:blipFill>
            </p:spPr>
            <p:txBody>
              <a:bodyPr/>
              <a:lstStyle/>
              <a:p>
                <a:r>
                  <a:rPr lang="en-US">
                    <a:noFill/>
                  </a:rPr>
                  <a:t> </a:t>
                </a:r>
              </a:p>
            </p:txBody>
          </p:sp>
        </mc:Fallback>
      </mc:AlternateContent>
    </p:spTree>
    <p:extLst>
      <p:ext uri="{BB962C8B-B14F-4D97-AF65-F5344CB8AC3E}">
        <p14:creationId xmlns:p14="http://schemas.microsoft.com/office/powerpoint/2010/main" val="2275066580"/>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8559CC-411F-0ABC-F14A-AFCB67401B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E9EA8D-837B-F0E8-5BA7-8D7F4D5F9A43}"/>
              </a:ext>
            </a:extLst>
          </p:cNvPr>
          <p:cNvSpPr>
            <a:spLocks noGrp="1"/>
          </p:cNvSpPr>
          <p:nvPr>
            <p:ph type="title"/>
          </p:nvPr>
        </p:nvSpPr>
        <p:spPr/>
        <p:txBody>
          <a:bodyPr/>
          <a:lstStyle/>
          <a:p>
            <a:r>
              <a:rPr lang="en-US"/>
              <a:t>Message-passing approach: Forney-style Factor-graphs</a:t>
            </a:r>
            <a:endParaRPr lang="LID4096"/>
          </a:p>
        </p:txBody>
      </p:sp>
      <p:pic>
        <p:nvPicPr>
          <p:cNvPr id="5" name="Graphic 4">
            <a:extLst>
              <a:ext uri="{FF2B5EF4-FFF2-40B4-BE49-F238E27FC236}">
                <a16:creationId xmlns:a16="http://schemas.microsoft.com/office/drawing/2014/main" id="{45E71712-1369-C7A8-B9E8-524C4A65E9D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58040" y="46596"/>
            <a:ext cx="2381250" cy="1228725"/>
          </a:xfrm>
          <a:prstGeom prst="rect">
            <a:avLst/>
          </a:prstGeom>
        </p:spPr>
      </p:pic>
      <p:pic>
        <p:nvPicPr>
          <p:cNvPr id="7" name="Graphic 6">
            <a:extLst>
              <a:ext uri="{FF2B5EF4-FFF2-40B4-BE49-F238E27FC236}">
                <a16:creationId xmlns:a16="http://schemas.microsoft.com/office/drawing/2014/main" id="{9811FE2E-E035-418F-7AC4-566ABEF1BB0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958536" y="3461113"/>
            <a:ext cx="1333500" cy="561975"/>
          </a:xfrm>
          <a:prstGeom prst="rect">
            <a:avLst/>
          </a:prstGeom>
        </p:spPr>
      </p:pic>
      <p:pic>
        <p:nvPicPr>
          <p:cNvPr id="9" name="Graphic 8">
            <a:extLst>
              <a:ext uri="{FF2B5EF4-FFF2-40B4-BE49-F238E27FC236}">
                <a16:creationId xmlns:a16="http://schemas.microsoft.com/office/drawing/2014/main" id="{A53AD08A-98C1-DD99-D6E0-8E150FF45D2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292036" y="-776031"/>
            <a:ext cx="571500" cy="561975"/>
          </a:xfrm>
          <a:prstGeom prst="rect">
            <a:avLst/>
          </a:prstGeom>
        </p:spPr>
      </p:pic>
      <p:pic>
        <p:nvPicPr>
          <p:cNvPr id="11" name="Graphic 10">
            <a:extLst>
              <a:ext uri="{FF2B5EF4-FFF2-40B4-BE49-F238E27FC236}">
                <a16:creationId xmlns:a16="http://schemas.microsoft.com/office/drawing/2014/main" id="{6F690B7D-F233-9B56-60DD-D7BE2BDE8C3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5059432" y="-854808"/>
            <a:ext cx="381000" cy="561975"/>
          </a:xfrm>
          <a:prstGeom prst="rect">
            <a:avLst/>
          </a:prstGeom>
        </p:spPr>
      </p:pic>
      <p:pic>
        <p:nvPicPr>
          <p:cNvPr id="13" name="Graphic 12">
            <a:extLst>
              <a:ext uri="{FF2B5EF4-FFF2-40B4-BE49-F238E27FC236}">
                <a16:creationId xmlns:a16="http://schemas.microsoft.com/office/drawing/2014/main" id="{09E9D8B6-F6C3-5352-F9B9-CCFB7B68AF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540624" y="-854808"/>
            <a:ext cx="381000" cy="561975"/>
          </a:xfrm>
          <a:prstGeom prst="rect">
            <a:avLst/>
          </a:prstGeom>
        </p:spPr>
      </p:pic>
      <p:pic>
        <p:nvPicPr>
          <p:cNvPr id="15" name="Graphic 14">
            <a:extLst>
              <a:ext uri="{FF2B5EF4-FFF2-40B4-BE49-F238E27FC236}">
                <a16:creationId xmlns:a16="http://schemas.microsoft.com/office/drawing/2014/main" id="{CDE20737-B9FC-5210-F13F-48DECC375B1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190875" y="1236488"/>
            <a:ext cx="2762250" cy="561975"/>
          </a:xfrm>
          <a:prstGeom prst="rect">
            <a:avLst/>
          </a:prstGeom>
        </p:spPr>
      </p:pic>
      <p:pic>
        <p:nvPicPr>
          <p:cNvPr id="17" name="Graphic 16">
            <a:extLst>
              <a:ext uri="{FF2B5EF4-FFF2-40B4-BE49-F238E27FC236}">
                <a16:creationId xmlns:a16="http://schemas.microsoft.com/office/drawing/2014/main" id="{C96A7546-F168-063B-D551-8F5E024A65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823093" y="2094333"/>
            <a:ext cx="4000500" cy="561975"/>
          </a:xfrm>
          <a:prstGeom prst="rect">
            <a:avLst/>
          </a:prstGeom>
        </p:spPr>
      </p:pic>
      <p:pic>
        <p:nvPicPr>
          <p:cNvPr id="19" name="Graphic 18">
            <a:extLst>
              <a:ext uri="{FF2B5EF4-FFF2-40B4-BE49-F238E27FC236}">
                <a16:creationId xmlns:a16="http://schemas.microsoft.com/office/drawing/2014/main" id="{0B56358F-5D46-6079-5707-A48CFDAC8B0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524125" y="1798463"/>
            <a:ext cx="4095750" cy="809625"/>
          </a:xfrm>
          <a:prstGeom prst="rect">
            <a:avLst/>
          </a:prstGeom>
        </p:spPr>
      </p:pic>
      <p:pic>
        <p:nvPicPr>
          <p:cNvPr id="21" name="Graphic 20">
            <a:extLst>
              <a:ext uri="{FF2B5EF4-FFF2-40B4-BE49-F238E27FC236}">
                <a16:creationId xmlns:a16="http://schemas.microsoft.com/office/drawing/2014/main" id="{55365FAE-51F5-5933-A7DA-9EFA822964B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2000250" y="1236487"/>
            <a:ext cx="5143500" cy="561975"/>
          </a:xfrm>
          <a:prstGeom prst="rect">
            <a:avLst/>
          </a:prstGeom>
        </p:spPr>
      </p:pic>
      <p:pic>
        <p:nvPicPr>
          <p:cNvPr id="23" name="Graphic 22">
            <a:extLst>
              <a:ext uri="{FF2B5EF4-FFF2-40B4-BE49-F238E27FC236}">
                <a16:creationId xmlns:a16="http://schemas.microsoft.com/office/drawing/2014/main" id="{4F559D81-2DE4-E117-BADA-B881A11F835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762250" y="1798462"/>
            <a:ext cx="3619500" cy="2371725"/>
          </a:xfrm>
          <a:prstGeom prst="rect">
            <a:avLst/>
          </a:prstGeom>
        </p:spPr>
      </p:pic>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4209DE3-F4F1-C8E2-C58D-A81EE033F345}"/>
                  </a:ext>
                </a:extLst>
              </p:cNvPr>
              <p:cNvSpPr txBox="1"/>
              <p:nvPr/>
            </p:nvSpPr>
            <p:spPr>
              <a:xfrm>
                <a:off x="1926660" y="4229940"/>
                <a:ext cx="5290679" cy="369332"/>
              </a:xfrm>
              <a:prstGeom prst="rect">
                <a:avLst/>
              </a:prstGeom>
              <a:noFill/>
            </p:spPr>
            <p:txBody>
              <a:bodyPr wrap="none" rtlCol="0">
                <a:spAutoFit/>
              </a:bodyPr>
              <a:lstStyle/>
              <a:p>
                <a:r>
                  <a:rPr lang="en-US"/>
                  <a:t>Factor Graph: Insightful visual representation of </a:t>
                </a:r>
                <a14:m>
                  <m:oMath xmlns:m="http://schemas.openxmlformats.org/officeDocument/2006/math">
                    <m:r>
                      <m:rPr>
                        <m:sty m:val="p"/>
                      </m:rPr>
                      <a:rPr lang="en-US" b="0" i="1" smtClean="0">
                        <a:latin typeface="Cambria Math" panose="02040503050406030204" pitchFamily="18" charset="0"/>
                      </a:rPr>
                      <m:t>p</m:t>
                    </m:r>
                    <m:r>
                      <a:rPr lang="en-US" b="0" i="1" smtClean="0">
                        <a:latin typeface="Cambria Math" panose="02040503050406030204" pitchFamily="18" charset="0"/>
                      </a:rPr>
                      <m:t>(...)</m:t>
                    </m:r>
                  </m:oMath>
                </a14:m>
                <a:endParaRPr lang="LID4096"/>
              </a:p>
            </p:txBody>
          </p:sp>
        </mc:Choice>
        <mc:Fallback xmlns="">
          <p:sp>
            <p:nvSpPr>
              <p:cNvPr id="24" name="TextBox 23">
                <a:extLst>
                  <a:ext uri="{FF2B5EF4-FFF2-40B4-BE49-F238E27FC236}">
                    <a16:creationId xmlns:a16="http://schemas.microsoft.com/office/drawing/2014/main" id="{04209DE3-F4F1-C8E2-C58D-A81EE033F345}"/>
                  </a:ext>
                </a:extLst>
              </p:cNvPr>
              <p:cNvSpPr txBox="1">
                <a:spLocks noRot="1" noChangeAspect="1" noMove="1" noResize="1" noEditPoints="1" noAdjustHandles="1" noChangeArrowheads="1" noChangeShapeType="1" noTextEdit="1"/>
              </p:cNvSpPr>
              <p:nvPr/>
            </p:nvSpPr>
            <p:spPr>
              <a:xfrm>
                <a:off x="1926660" y="4229940"/>
                <a:ext cx="5290679" cy="369332"/>
              </a:xfrm>
              <a:prstGeom prst="rect">
                <a:avLst/>
              </a:prstGeom>
              <a:blipFill>
                <a:blip r:embed="rId13"/>
                <a:stretch>
                  <a:fillRect l="-922" t="-10000" b="-26667"/>
                </a:stretch>
              </a:blipFill>
            </p:spPr>
            <p:txBody>
              <a:bodyPr/>
              <a:lstStyle/>
              <a:p>
                <a:r>
                  <a:rPr lang="en-US">
                    <a:noFill/>
                  </a:rPr>
                  <a:t> </a:t>
                </a:r>
              </a:p>
            </p:txBody>
          </p:sp>
        </mc:Fallback>
      </mc:AlternateContent>
    </p:spTree>
    <p:extLst>
      <p:ext uri="{BB962C8B-B14F-4D97-AF65-F5344CB8AC3E}">
        <p14:creationId xmlns:p14="http://schemas.microsoft.com/office/powerpoint/2010/main" val="2746832175"/>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xit" presetSubtype="0" fill="hold" nodeType="withEffect">
                                  <p:stCondLst>
                                    <p:cond delay="0"/>
                                  </p:stCondLst>
                                  <p:childTnLst>
                                    <p:set>
                                      <p:cBhvr>
                                        <p:cTn id="16" dur="1" fill="hold">
                                          <p:stCondLst>
                                            <p:cond delay="0"/>
                                          </p:stCondLst>
                                        </p:cTn>
                                        <p:tgtEl>
                                          <p:spTgt spid="15"/>
                                        </p:tgtEl>
                                        <p:attrNameLst>
                                          <p:attrName>style.visibility</p:attrName>
                                        </p:attrNameLst>
                                      </p:cBhvr>
                                      <p:to>
                                        <p:strVal val="hidden"/>
                                      </p:to>
                                    </p:set>
                                  </p:childTnLst>
                                </p:cTn>
                              </p:par>
                              <p:par>
                                <p:cTn id="17" presetID="1" presetClass="exit" presetSubtype="0" fill="hold" nodeType="withEffect">
                                  <p:stCondLst>
                                    <p:cond delay="0"/>
                                  </p:stCondLst>
                                  <p:childTnLst>
                                    <p:set>
                                      <p:cBhvr>
                                        <p:cTn id="18" dur="1" fill="hold">
                                          <p:stCondLst>
                                            <p:cond delay="0"/>
                                          </p:stCondLst>
                                        </p:cTn>
                                        <p:tgtEl>
                                          <p:spTgt spid="1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69D5E3-9237-1BC7-FFE3-ACA731B639B9}"/>
            </a:ext>
          </a:extLst>
        </p:cNvPr>
        <p:cNvGrpSpPr/>
        <p:nvPr/>
      </p:nvGrpSpPr>
      <p:grpSpPr>
        <a:xfrm>
          <a:off x="0" y="0"/>
          <a:ext cx="0" cy="0"/>
          <a:chOff x="0" y="0"/>
          <a:chExt cx="0" cy="0"/>
        </a:xfrm>
      </p:grpSpPr>
      <p:pic>
        <p:nvPicPr>
          <p:cNvPr id="33" name="Graphic 32">
            <a:extLst>
              <a:ext uri="{FF2B5EF4-FFF2-40B4-BE49-F238E27FC236}">
                <a16:creationId xmlns:a16="http://schemas.microsoft.com/office/drawing/2014/main" id="{B82EED8B-B64E-BA09-2850-2E6992345F1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67037" y="2160587"/>
            <a:ext cx="3209925" cy="1304925"/>
          </a:xfrm>
          <a:prstGeom prst="rect">
            <a:avLst/>
          </a:prstGeom>
        </p:spPr>
      </p:pic>
      <p:sp>
        <p:nvSpPr>
          <p:cNvPr id="2" name="Title 1">
            <a:extLst>
              <a:ext uri="{FF2B5EF4-FFF2-40B4-BE49-F238E27FC236}">
                <a16:creationId xmlns:a16="http://schemas.microsoft.com/office/drawing/2014/main" id="{D5CA7574-714A-DEE8-4971-862C718953BB}"/>
              </a:ext>
            </a:extLst>
          </p:cNvPr>
          <p:cNvSpPr>
            <a:spLocks noGrp="1"/>
          </p:cNvSpPr>
          <p:nvPr>
            <p:ph type="title"/>
          </p:nvPr>
        </p:nvSpPr>
        <p:spPr/>
        <p:txBody>
          <a:bodyPr/>
          <a:lstStyle/>
          <a:p>
            <a:r>
              <a:rPr lang="en-US"/>
              <a:t>Message-passing approach: Forney-style Factor-graphs</a:t>
            </a:r>
            <a:endParaRPr lang="LID4096"/>
          </a:p>
        </p:txBody>
      </p:sp>
      <p:pic>
        <p:nvPicPr>
          <p:cNvPr id="5" name="Graphic 4">
            <a:extLst>
              <a:ext uri="{FF2B5EF4-FFF2-40B4-BE49-F238E27FC236}">
                <a16:creationId xmlns:a16="http://schemas.microsoft.com/office/drawing/2014/main" id="{BE2F20E5-6C80-6E43-BBE2-69650876BFC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958040" y="46596"/>
            <a:ext cx="2381250" cy="1228725"/>
          </a:xfrm>
          <a:prstGeom prst="rect">
            <a:avLst/>
          </a:prstGeom>
        </p:spPr>
      </p:pic>
      <p:pic>
        <p:nvPicPr>
          <p:cNvPr id="7" name="Graphic 6">
            <a:extLst>
              <a:ext uri="{FF2B5EF4-FFF2-40B4-BE49-F238E27FC236}">
                <a16:creationId xmlns:a16="http://schemas.microsoft.com/office/drawing/2014/main" id="{A234A239-9C5E-2047-AC6D-AC758ACB0DB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2958536" y="3461113"/>
            <a:ext cx="1333500" cy="561975"/>
          </a:xfrm>
          <a:prstGeom prst="rect">
            <a:avLst/>
          </a:prstGeom>
        </p:spPr>
      </p:pic>
      <p:pic>
        <p:nvPicPr>
          <p:cNvPr id="9" name="Graphic 8">
            <a:extLst>
              <a:ext uri="{FF2B5EF4-FFF2-40B4-BE49-F238E27FC236}">
                <a16:creationId xmlns:a16="http://schemas.microsoft.com/office/drawing/2014/main" id="{F4A0E977-4409-5E23-B12D-1A9B83C198F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292036" y="-776031"/>
            <a:ext cx="571500" cy="561975"/>
          </a:xfrm>
          <a:prstGeom prst="rect">
            <a:avLst/>
          </a:prstGeom>
        </p:spPr>
      </p:pic>
      <p:pic>
        <p:nvPicPr>
          <p:cNvPr id="11" name="Graphic 10">
            <a:extLst>
              <a:ext uri="{FF2B5EF4-FFF2-40B4-BE49-F238E27FC236}">
                <a16:creationId xmlns:a16="http://schemas.microsoft.com/office/drawing/2014/main" id="{614F98A3-542A-719D-C4CC-0D0D6F9CB35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059432" y="-854808"/>
            <a:ext cx="381000" cy="561975"/>
          </a:xfrm>
          <a:prstGeom prst="rect">
            <a:avLst/>
          </a:prstGeom>
        </p:spPr>
      </p:pic>
      <p:pic>
        <p:nvPicPr>
          <p:cNvPr id="13" name="Graphic 12">
            <a:extLst>
              <a:ext uri="{FF2B5EF4-FFF2-40B4-BE49-F238E27FC236}">
                <a16:creationId xmlns:a16="http://schemas.microsoft.com/office/drawing/2014/main" id="{D0C6A3E4-48AF-22A6-BD4C-D95BE3229AF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5540624" y="-854808"/>
            <a:ext cx="381000" cy="561975"/>
          </a:xfrm>
          <a:prstGeom prst="rect">
            <a:avLst/>
          </a:prstGeom>
        </p:spPr>
      </p:pic>
      <p:pic>
        <p:nvPicPr>
          <p:cNvPr id="17" name="Graphic 16">
            <a:extLst>
              <a:ext uri="{FF2B5EF4-FFF2-40B4-BE49-F238E27FC236}">
                <a16:creationId xmlns:a16="http://schemas.microsoft.com/office/drawing/2014/main" id="{0CECF222-7701-04D3-C16E-8570397A163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823093" y="2094333"/>
            <a:ext cx="4000500" cy="561975"/>
          </a:xfrm>
          <a:prstGeom prst="rect">
            <a:avLst/>
          </a:prstGeom>
        </p:spPr>
      </p:pic>
      <p:pic>
        <p:nvPicPr>
          <p:cNvPr id="4" name="Graphic 3">
            <a:extLst>
              <a:ext uri="{FF2B5EF4-FFF2-40B4-BE49-F238E27FC236}">
                <a16:creationId xmlns:a16="http://schemas.microsoft.com/office/drawing/2014/main" id="{F6F93959-33C1-5C79-FBE6-1EBD1863075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952874" y="1275321"/>
            <a:ext cx="1238250" cy="552450"/>
          </a:xfrm>
          <a:prstGeom prst="rect">
            <a:avLst/>
          </a:prstGeom>
        </p:spPr>
      </p:pic>
      <p:sp>
        <p:nvSpPr>
          <p:cNvPr id="12" name="TextBox 11">
            <a:extLst>
              <a:ext uri="{FF2B5EF4-FFF2-40B4-BE49-F238E27FC236}">
                <a16:creationId xmlns:a16="http://schemas.microsoft.com/office/drawing/2014/main" id="{5060C5C4-0CDF-F36A-6FDB-1D4CFAD55640}"/>
              </a:ext>
            </a:extLst>
          </p:cNvPr>
          <p:cNvSpPr txBox="1"/>
          <p:nvPr/>
        </p:nvSpPr>
        <p:spPr>
          <a:xfrm>
            <a:off x="1616058" y="3707865"/>
            <a:ext cx="2025683" cy="369332"/>
          </a:xfrm>
          <a:prstGeom prst="rect">
            <a:avLst/>
          </a:prstGeom>
          <a:noFill/>
        </p:spPr>
        <p:txBody>
          <a:bodyPr wrap="none" rtlCol="0">
            <a:spAutoFit/>
          </a:bodyPr>
          <a:lstStyle/>
          <a:p>
            <a:r>
              <a:rPr lang="en-US"/>
              <a:t>Multiplication node</a:t>
            </a:r>
            <a:endParaRPr lang="LID4096"/>
          </a:p>
        </p:txBody>
      </p:sp>
      <p:sp>
        <p:nvSpPr>
          <p:cNvPr id="14" name="TextBox 13">
            <a:extLst>
              <a:ext uri="{FF2B5EF4-FFF2-40B4-BE49-F238E27FC236}">
                <a16:creationId xmlns:a16="http://schemas.microsoft.com/office/drawing/2014/main" id="{50446C87-9593-C22C-8FD1-979E982C7CFC}"/>
              </a:ext>
            </a:extLst>
          </p:cNvPr>
          <p:cNvSpPr txBox="1"/>
          <p:nvPr/>
        </p:nvSpPr>
        <p:spPr>
          <a:xfrm>
            <a:off x="2921000" y="4214928"/>
            <a:ext cx="1796774" cy="369332"/>
          </a:xfrm>
          <a:prstGeom prst="rect">
            <a:avLst/>
          </a:prstGeom>
          <a:noFill/>
        </p:spPr>
        <p:txBody>
          <a:bodyPr wrap="none" rtlCol="0">
            <a:spAutoFit/>
          </a:bodyPr>
          <a:lstStyle/>
          <a:p>
            <a:r>
              <a:rPr lang="en-US"/>
              <a:t>Summation node</a:t>
            </a:r>
            <a:endParaRPr lang="LID4096"/>
          </a:p>
        </p:txBody>
      </p:sp>
      <p:cxnSp>
        <p:nvCxnSpPr>
          <p:cNvPr id="18" name="Connector: Elbow 17">
            <a:extLst>
              <a:ext uri="{FF2B5EF4-FFF2-40B4-BE49-F238E27FC236}">
                <a16:creationId xmlns:a16="http://schemas.microsoft.com/office/drawing/2014/main" id="{D013B97E-9D59-E315-5C2A-08B51051F0EE}"/>
              </a:ext>
            </a:extLst>
          </p:cNvPr>
          <p:cNvCxnSpPr>
            <a:cxnSpLocks/>
            <a:stCxn id="12" idx="3"/>
          </p:cNvCxnSpPr>
          <p:nvPr/>
        </p:nvCxnSpPr>
        <p:spPr>
          <a:xfrm flipV="1">
            <a:off x="3641741" y="3403600"/>
            <a:ext cx="346059" cy="488931"/>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nector: Elbow 26">
            <a:extLst>
              <a:ext uri="{FF2B5EF4-FFF2-40B4-BE49-F238E27FC236}">
                <a16:creationId xmlns:a16="http://schemas.microsoft.com/office/drawing/2014/main" id="{A446E2A8-42CA-03F9-00AC-D93C688BA539}"/>
              </a:ext>
            </a:extLst>
          </p:cNvPr>
          <p:cNvCxnSpPr>
            <a:cxnSpLocks/>
            <a:stCxn id="14" idx="3"/>
          </p:cNvCxnSpPr>
          <p:nvPr/>
        </p:nvCxnSpPr>
        <p:spPr>
          <a:xfrm flipV="1">
            <a:off x="4717774" y="3403600"/>
            <a:ext cx="413026" cy="995994"/>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EE673453-9A4D-2077-65F4-567AEF35A6B7}"/>
              </a:ext>
            </a:extLst>
          </p:cNvPr>
          <p:cNvSpPr txBox="1"/>
          <p:nvPr/>
        </p:nvSpPr>
        <p:spPr>
          <a:xfrm>
            <a:off x="6587892" y="1362766"/>
            <a:ext cx="1453155" cy="369332"/>
          </a:xfrm>
          <a:prstGeom prst="rect">
            <a:avLst/>
          </a:prstGeom>
          <a:noFill/>
        </p:spPr>
        <p:txBody>
          <a:bodyPr wrap="none" rtlCol="0">
            <a:spAutoFit/>
          </a:bodyPr>
          <a:lstStyle/>
          <a:p>
            <a:r>
              <a:rPr lang="en-US"/>
              <a:t>Linear factors</a:t>
            </a:r>
            <a:endParaRPr lang="LID4096"/>
          </a:p>
        </p:txBody>
      </p:sp>
      <p:pic>
        <p:nvPicPr>
          <p:cNvPr id="35" name="Picture 34">
            <a:extLst>
              <a:ext uri="{FF2B5EF4-FFF2-40B4-BE49-F238E27FC236}">
                <a16:creationId xmlns:a16="http://schemas.microsoft.com/office/drawing/2014/main" id="{41319AF2-DD0E-9B3E-9C15-7F16951274CB}"/>
              </a:ext>
            </a:extLst>
          </p:cNvPr>
          <p:cNvPicPr>
            <a:picLocks noChangeAspect="1"/>
          </p:cNvPicPr>
          <p:nvPr/>
        </p:nvPicPr>
        <p:blipFill>
          <a:blip r:embed="rId11"/>
          <a:stretch>
            <a:fillRect/>
          </a:stretch>
        </p:blipFill>
        <p:spPr>
          <a:xfrm>
            <a:off x="612000" y="1362766"/>
            <a:ext cx="1574113" cy="1845775"/>
          </a:xfrm>
          <a:prstGeom prst="rect">
            <a:avLst/>
          </a:prstGeom>
        </p:spPr>
      </p:pic>
      <p:grpSp>
        <p:nvGrpSpPr>
          <p:cNvPr id="40" name="Group 39">
            <a:extLst>
              <a:ext uri="{FF2B5EF4-FFF2-40B4-BE49-F238E27FC236}">
                <a16:creationId xmlns:a16="http://schemas.microsoft.com/office/drawing/2014/main" id="{60AE199F-AF2B-3C1E-E39C-DFDBDB9336DD}"/>
              </a:ext>
            </a:extLst>
          </p:cNvPr>
          <p:cNvGrpSpPr/>
          <p:nvPr/>
        </p:nvGrpSpPr>
        <p:grpSpPr>
          <a:xfrm>
            <a:off x="6505585" y="2245993"/>
            <a:ext cx="2025684" cy="1461872"/>
            <a:chOff x="6235277" y="1980171"/>
            <a:chExt cx="2025684" cy="1461872"/>
          </a:xfrm>
        </p:grpSpPr>
        <p:pic>
          <p:nvPicPr>
            <p:cNvPr id="37" name="Picture 36">
              <a:extLst>
                <a:ext uri="{FF2B5EF4-FFF2-40B4-BE49-F238E27FC236}">
                  <a16:creationId xmlns:a16="http://schemas.microsoft.com/office/drawing/2014/main" id="{1FBEA493-8206-7A14-6597-2D8633230C88}"/>
                </a:ext>
              </a:extLst>
            </p:cNvPr>
            <p:cNvPicPr>
              <a:picLocks noChangeAspect="1"/>
            </p:cNvPicPr>
            <p:nvPr/>
          </p:nvPicPr>
          <p:blipFill>
            <a:blip r:embed="rId12"/>
            <a:srcRect t="52144"/>
            <a:stretch>
              <a:fillRect/>
            </a:stretch>
          </p:blipFill>
          <p:spPr>
            <a:xfrm>
              <a:off x="6235277" y="2086095"/>
              <a:ext cx="2025684" cy="1355948"/>
            </a:xfrm>
            <a:prstGeom prst="rect">
              <a:avLst/>
            </a:prstGeom>
          </p:spPr>
        </p:pic>
        <p:pic>
          <p:nvPicPr>
            <p:cNvPr id="39" name="Picture 38">
              <a:extLst>
                <a:ext uri="{FF2B5EF4-FFF2-40B4-BE49-F238E27FC236}">
                  <a16:creationId xmlns:a16="http://schemas.microsoft.com/office/drawing/2014/main" id="{826CABEE-DA2E-BD20-BF1C-7A4B081A1EA1}"/>
                </a:ext>
              </a:extLst>
            </p:cNvPr>
            <p:cNvPicPr>
              <a:picLocks noChangeAspect="1"/>
            </p:cNvPicPr>
            <p:nvPr/>
          </p:nvPicPr>
          <p:blipFill>
            <a:blip r:embed="rId12"/>
            <a:srcRect b="96266"/>
            <a:stretch>
              <a:fillRect/>
            </a:stretch>
          </p:blipFill>
          <p:spPr>
            <a:xfrm>
              <a:off x="6235277" y="1980171"/>
              <a:ext cx="2025684" cy="105804"/>
            </a:xfrm>
            <a:prstGeom prst="rect">
              <a:avLst/>
            </a:prstGeom>
          </p:spPr>
        </p:pic>
      </p:grpSp>
    </p:spTree>
    <p:extLst>
      <p:ext uri="{BB962C8B-B14F-4D97-AF65-F5344CB8AC3E}">
        <p14:creationId xmlns:p14="http://schemas.microsoft.com/office/powerpoint/2010/main" val="3499809797"/>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4" grpId="0"/>
      <p:bldP spid="29"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55E01-13C1-1F76-466D-6B952A9E4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314535-7386-73C7-9B6F-DD1BF395E749}"/>
              </a:ext>
            </a:extLst>
          </p:cNvPr>
          <p:cNvSpPr>
            <a:spLocks noGrp="1"/>
          </p:cNvSpPr>
          <p:nvPr>
            <p:ph type="title"/>
          </p:nvPr>
        </p:nvSpPr>
        <p:spPr/>
        <p:txBody>
          <a:bodyPr/>
          <a:lstStyle/>
          <a:p>
            <a:r>
              <a:rPr lang="en-US"/>
              <a:t>Message-passing approach: Forney-style Factor-graphs</a:t>
            </a:r>
            <a:endParaRPr lang="LID4096"/>
          </a:p>
        </p:txBody>
      </p:sp>
      <p:pic>
        <p:nvPicPr>
          <p:cNvPr id="5" name="Graphic 4">
            <a:extLst>
              <a:ext uri="{FF2B5EF4-FFF2-40B4-BE49-F238E27FC236}">
                <a16:creationId xmlns:a16="http://schemas.microsoft.com/office/drawing/2014/main" id="{80A9024D-0685-127E-F059-030DA6F3DFE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58040" y="46596"/>
            <a:ext cx="2381250" cy="1228725"/>
          </a:xfrm>
          <a:prstGeom prst="rect">
            <a:avLst/>
          </a:prstGeom>
        </p:spPr>
      </p:pic>
      <p:pic>
        <p:nvPicPr>
          <p:cNvPr id="7" name="Graphic 6">
            <a:extLst>
              <a:ext uri="{FF2B5EF4-FFF2-40B4-BE49-F238E27FC236}">
                <a16:creationId xmlns:a16="http://schemas.microsoft.com/office/drawing/2014/main" id="{9D62EA64-1234-3FAB-F629-0A68BBB965B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958536" y="3461113"/>
            <a:ext cx="1333500" cy="561975"/>
          </a:xfrm>
          <a:prstGeom prst="rect">
            <a:avLst/>
          </a:prstGeom>
        </p:spPr>
      </p:pic>
      <p:pic>
        <p:nvPicPr>
          <p:cNvPr id="9" name="Graphic 8">
            <a:extLst>
              <a:ext uri="{FF2B5EF4-FFF2-40B4-BE49-F238E27FC236}">
                <a16:creationId xmlns:a16="http://schemas.microsoft.com/office/drawing/2014/main" id="{961D5A53-EB50-C272-62DB-931C68C32DE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292036" y="-776031"/>
            <a:ext cx="571500" cy="561975"/>
          </a:xfrm>
          <a:prstGeom prst="rect">
            <a:avLst/>
          </a:prstGeom>
        </p:spPr>
      </p:pic>
      <p:pic>
        <p:nvPicPr>
          <p:cNvPr id="11" name="Graphic 10">
            <a:extLst>
              <a:ext uri="{FF2B5EF4-FFF2-40B4-BE49-F238E27FC236}">
                <a16:creationId xmlns:a16="http://schemas.microsoft.com/office/drawing/2014/main" id="{5CA8B3D3-2EC0-D0A4-CFE5-885527CA34D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5059432" y="-854808"/>
            <a:ext cx="381000" cy="561975"/>
          </a:xfrm>
          <a:prstGeom prst="rect">
            <a:avLst/>
          </a:prstGeom>
        </p:spPr>
      </p:pic>
      <p:pic>
        <p:nvPicPr>
          <p:cNvPr id="13" name="Graphic 12">
            <a:extLst>
              <a:ext uri="{FF2B5EF4-FFF2-40B4-BE49-F238E27FC236}">
                <a16:creationId xmlns:a16="http://schemas.microsoft.com/office/drawing/2014/main" id="{0AE5086B-F197-6AB6-DB96-DAB380641EB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540624" y="-854808"/>
            <a:ext cx="381000" cy="561975"/>
          </a:xfrm>
          <a:prstGeom prst="rect">
            <a:avLst/>
          </a:prstGeom>
        </p:spPr>
      </p:pic>
      <p:pic>
        <p:nvPicPr>
          <p:cNvPr id="17" name="Graphic 16">
            <a:extLst>
              <a:ext uri="{FF2B5EF4-FFF2-40B4-BE49-F238E27FC236}">
                <a16:creationId xmlns:a16="http://schemas.microsoft.com/office/drawing/2014/main" id="{2E2C3598-6CAC-B8F3-A8BF-3CA994720B8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823093" y="2094333"/>
            <a:ext cx="4000500" cy="561975"/>
          </a:xfrm>
          <a:prstGeom prst="rect">
            <a:avLst/>
          </a:prstGeom>
        </p:spPr>
      </p:pic>
      <p:sp>
        <p:nvSpPr>
          <p:cNvPr id="29" name="TextBox 28">
            <a:extLst>
              <a:ext uri="{FF2B5EF4-FFF2-40B4-BE49-F238E27FC236}">
                <a16:creationId xmlns:a16="http://schemas.microsoft.com/office/drawing/2014/main" id="{82096723-5D7B-3E74-537A-38A80794993C}"/>
              </a:ext>
            </a:extLst>
          </p:cNvPr>
          <p:cNvSpPr txBox="1"/>
          <p:nvPr/>
        </p:nvSpPr>
        <p:spPr>
          <a:xfrm>
            <a:off x="6290583" y="1275321"/>
            <a:ext cx="2304029" cy="369332"/>
          </a:xfrm>
          <a:prstGeom prst="rect">
            <a:avLst/>
          </a:prstGeom>
          <a:noFill/>
        </p:spPr>
        <p:txBody>
          <a:bodyPr wrap="none" rtlCol="0">
            <a:spAutoFit/>
          </a:bodyPr>
          <a:lstStyle/>
          <a:p>
            <a:r>
              <a:rPr lang="en-US"/>
              <a:t>Other common factors</a:t>
            </a:r>
            <a:endParaRPr lang="LID4096"/>
          </a:p>
        </p:txBody>
      </p:sp>
      <p:pic>
        <p:nvPicPr>
          <p:cNvPr id="6" name="Graphic 5">
            <a:extLst>
              <a:ext uri="{FF2B5EF4-FFF2-40B4-BE49-F238E27FC236}">
                <a16:creationId xmlns:a16="http://schemas.microsoft.com/office/drawing/2014/main" id="{CA81D01E-5482-03EC-2C63-CF702C4D1A4C}"/>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024063" y="1900238"/>
            <a:ext cx="3457575" cy="2828925"/>
          </a:xfrm>
          <a:prstGeom prst="rect">
            <a:avLst/>
          </a:prstGeom>
        </p:spPr>
      </p:pic>
      <p:sp>
        <p:nvSpPr>
          <p:cNvPr id="8" name="TextBox 7">
            <a:extLst>
              <a:ext uri="{FF2B5EF4-FFF2-40B4-BE49-F238E27FC236}">
                <a16:creationId xmlns:a16="http://schemas.microsoft.com/office/drawing/2014/main" id="{38910551-EF29-3566-FE4A-894B255C0BB8}"/>
              </a:ext>
            </a:extLst>
          </p:cNvPr>
          <p:cNvSpPr txBox="1"/>
          <p:nvPr/>
        </p:nvSpPr>
        <p:spPr>
          <a:xfrm>
            <a:off x="4309831" y="1725001"/>
            <a:ext cx="1468479" cy="369332"/>
          </a:xfrm>
          <a:prstGeom prst="rect">
            <a:avLst/>
          </a:prstGeom>
          <a:noFill/>
        </p:spPr>
        <p:txBody>
          <a:bodyPr wrap="none" rtlCol="0">
            <a:spAutoFit/>
          </a:bodyPr>
          <a:lstStyle/>
          <a:p>
            <a:r>
              <a:rPr lang="en-US"/>
              <a:t>Equality node</a:t>
            </a:r>
            <a:endParaRPr lang="LID4096"/>
          </a:p>
        </p:txBody>
      </p:sp>
      <p:cxnSp>
        <p:nvCxnSpPr>
          <p:cNvPr id="16" name="Connector: Elbow 15">
            <a:extLst>
              <a:ext uri="{FF2B5EF4-FFF2-40B4-BE49-F238E27FC236}">
                <a16:creationId xmlns:a16="http://schemas.microsoft.com/office/drawing/2014/main" id="{2217B5F9-43B5-12FF-5E6D-28DFD23C0AB5}"/>
              </a:ext>
            </a:extLst>
          </p:cNvPr>
          <p:cNvCxnSpPr>
            <a:cxnSpLocks/>
            <a:stCxn id="8" idx="1"/>
          </p:cNvCxnSpPr>
          <p:nvPr/>
        </p:nvCxnSpPr>
        <p:spPr>
          <a:xfrm rot="10800000" flipV="1">
            <a:off x="4072837" y="1909667"/>
            <a:ext cx="236994" cy="824008"/>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D41A98-9429-8E8F-9CE8-47B784AEC016}"/>
              </a:ext>
            </a:extLst>
          </p:cNvPr>
          <p:cNvSpPr txBox="1"/>
          <p:nvPr/>
        </p:nvSpPr>
        <p:spPr>
          <a:xfrm>
            <a:off x="612000" y="2137005"/>
            <a:ext cx="1748877" cy="369332"/>
          </a:xfrm>
          <a:prstGeom prst="rect">
            <a:avLst/>
          </a:prstGeom>
          <a:noFill/>
        </p:spPr>
        <p:txBody>
          <a:bodyPr wrap="none" rtlCol="0">
            <a:spAutoFit/>
          </a:bodyPr>
          <a:lstStyle/>
          <a:p>
            <a:r>
              <a:rPr lang="en-US"/>
              <a:t>Point-mass node</a:t>
            </a:r>
            <a:endParaRPr lang="LID4096"/>
          </a:p>
        </p:txBody>
      </p:sp>
      <p:cxnSp>
        <p:nvCxnSpPr>
          <p:cNvPr id="25" name="Straight Arrow Connector 24">
            <a:extLst>
              <a:ext uri="{FF2B5EF4-FFF2-40B4-BE49-F238E27FC236}">
                <a16:creationId xmlns:a16="http://schemas.microsoft.com/office/drawing/2014/main" id="{A1F7FD2A-CDF3-1F09-1475-57BDF0A77AA1}"/>
              </a:ext>
            </a:extLst>
          </p:cNvPr>
          <p:cNvCxnSpPr>
            <a:stCxn id="20" idx="3"/>
          </p:cNvCxnSpPr>
          <p:nvPr/>
        </p:nvCxnSpPr>
        <p:spPr>
          <a:xfrm>
            <a:off x="2360877" y="2321671"/>
            <a:ext cx="77284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31" name="Group 30">
            <a:extLst>
              <a:ext uri="{FF2B5EF4-FFF2-40B4-BE49-F238E27FC236}">
                <a16:creationId xmlns:a16="http://schemas.microsoft.com/office/drawing/2014/main" id="{D0E71036-DA57-E425-E9F2-020CED0C5BE7}"/>
              </a:ext>
            </a:extLst>
          </p:cNvPr>
          <p:cNvGrpSpPr/>
          <p:nvPr/>
        </p:nvGrpSpPr>
        <p:grpSpPr>
          <a:xfrm>
            <a:off x="6405660" y="2422963"/>
            <a:ext cx="2025684" cy="1504735"/>
            <a:chOff x="6405660" y="2422963"/>
            <a:chExt cx="2025684" cy="1504735"/>
          </a:xfrm>
        </p:grpSpPr>
        <p:pic>
          <p:nvPicPr>
            <p:cNvPr id="28" name="Picture 27">
              <a:extLst>
                <a:ext uri="{FF2B5EF4-FFF2-40B4-BE49-F238E27FC236}">
                  <a16:creationId xmlns:a16="http://schemas.microsoft.com/office/drawing/2014/main" id="{ABEE8E07-635C-4553-B529-07427B37FC03}"/>
                </a:ext>
              </a:extLst>
            </p:cNvPr>
            <p:cNvPicPr>
              <a:picLocks noChangeAspect="1"/>
            </p:cNvPicPr>
            <p:nvPr/>
          </p:nvPicPr>
          <p:blipFill>
            <a:blip r:embed="rId10"/>
            <a:srcRect t="96518"/>
            <a:stretch>
              <a:fillRect/>
            </a:stretch>
          </p:blipFill>
          <p:spPr>
            <a:xfrm>
              <a:off x="6405660" y="3829050"/>
              <a:ext cx="2025684" cy="98648"/>
            </a:xfrm>
            <a:prstGeom prst="rect">
              <a:avLst/>
            </a:prstGeom>
          </p:spPr>
        </p:pic>
        <p:pic>
          <p:nvPicPr>
            <p:cNvPr id="30" name="Picture 29">
              <a:extLst>
                <a:ext uri="{FF2B5EF4-FFF2-40B4-BE49-F238E27FC236}">
                  <a16:creationId xmlns:a16="http://schemas.microsoft.com/office/drawing/2014/main" id="{270C098D-693C-621E-D4BE-2D32A43F641C}"/>
                </a:ext>
              </a:extLst>
            </p:cNvPr>
            <p:cNvPicPr>
              <a:picLocks noChangeAspect="1"/>
            </p:cNvPicPr>
            <p:nvPr/>
          </p:nvPicPr>
          <p:blipFill>
            <a:blip r:embed="rId10"/>
            <a:srcRect t="5" b="50372"/>
            <a:stretch>
              <a:fillRect/>
            </a:stretch>
          </p:blipFill>
          <p:spPr>
            <a:xfrm>
              <a:off x="6405660" y="2422963"/>
              <a:ext cx="2025684" cy="1406087"/>
            </a:xfrm>
            <a:prstGeom prst="rect">
              <a:avLst/>
            </a:prstGeom>
          </p:spPr>
        </p:pic>
      </p:grpSp>
      <p:pic>
        <p:nvPicPr>
          <p:cNvPr id="34" name="Graphic 33">
            <a:extLst>
              <a:ext uri="{FF2B5EF4-FFF2-40B4-BE49-F238E27FC236}">
                <a16:creationId xmlns:a16="http://schemas.microsoft.com/office/drawing/2014/main" id="{429AA7AD-2AEE-E0CB-F560-5B51859389F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57813" y="2413665"/>
            <a:ext cx="857250" cy="561975"/>
          </a:xfrm>
          <a:prstGeom prst="rect">
            <a:avLst/>
          </a:prstGeom>
        </p:spPr>
      </p:pic>
    </p:spTree>
    <p:extLst>
      <p:ext uri="{BB962C8B-B14F-4D97-AF65-F5344CB8AC3E}">
        <p14:creationId xmlns:p14="http://schemas.microsoft.com/office/powerpoint/2010/main" val="3626953048"/>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20"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D0CFA-9C16-EA18-5BE7-34E1DFED0E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C76F1F-A91A-8528-9FE6-8E0F2C2911F2}"/>
              </a:ext>
            </a:extLst>
          </p:cNvPr>
          <p:cNvSpPr>
            <a:spLocks noGrp="1"/>
          </p:cNvSpPr>
          <p:nvPr>
            <p:ph type="title"/>
          </p:nvPr>
        </p:nvSpPr>
        <p:spPr/>
        <p:txBody>
          <a:bodyPr/>
          <a:lstStyle/>
          <a:p>
            <a:r>
              <a:rPr lang="en-US"/>
              <a:t>Message-passing approach: Forney-style Factor-graphs</a:t>
            </a:r>
            <a:endParaRPr lang="LID4096"/>
          </a:p>
        </p:txBody>
      </p:sp>
      <p:pic>
        <p:nvPicPr>
          <p:cNvPr id="5" name="Graphic 4">
            <a:extLst>
              <a:ext uri="{FF2B5EF4-FFF2-40B4-BE49-F238E27FC236}">
                <a16:creationId xmlns:a16="http://schemas.microsoft.com/office/drawing/2014/main" id="{25590BD9-0B03-2758-D506-5ACAFB87117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58040" y="46596"/>
            <a:ext cx="2381250" cy="1228725"/>
          </a:xfrm>
          <a:prstGeom prst="rect">
            <a:avLst/>
          </a:prstGeom>
        </p:spPr>
      </p:pic>
      <p:pic>
        <p:nvPicPr>
          <p:cNvPr id="7" name="Graphic 6">
            <a:extLst>
              <a:ext uri="{FF2B5EF4-FFF2-40B4-BE49-F238E27FC236}">
                <a16:creationId xmlns:a16="http://schemas.microsoft.com/office/drawing/2014/main" id="{9681373B-2E09-8504-B729-D7ACF19C2E5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958536" y="3461113"/>
            <a:ext cx="1333500" cy="561975"/>
          </a:xfrm>
          <a:prstGeom prst="rect">
            <a:avLst/>
          </a:prstGeom>
        </p:spPr>
      </p:pic>
      <p:pic>
        <p:nvPicPr>
          <p:cNvPr id="9" name="Graphic 8">
            <a:extLst>
              <a:ext uri="{FF2B5EF4-FFF2-40B4-BE49-F238E27FC236}">
                <a16:creationId xmlns:a16="http://schemas.microsoft.com/office/drawing/2014/main" id="{3BA69DC4-29B2-EC99-297F-9F09FF0B4A1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292036" y="-776031"/>
            <a:ext cx="571500" cy="561975"/>
          </a:xfrm>
          <a:prstGeom prst="rect">
            <a:avLst/>
          </a:prstGeom>
        </p:spPr>
      </p:pic>
      <p:pic>
        <p:nvPicPr>
          <p:cNvPr id="11" name="Graphic 10">
            <a:extLst>
              <a:ext uri="{FF2B5EF4-FFF2-40B4-BE49-F238E27FC236}">
                <a16:creationId xmlns:a16="http://schemas.microsoft.com/office/drawing/2014/main" id="{D110B5F7-F761-8FA2-6EA6-F6EFDA72BAF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5059432" y="-854808"/>
            <a:ext cx="381000" cy="561975"/>
          </a:xfrm>
          <a:prstGeom prst="rect">
            <a:avLst/>
          </a:prstGeom>
        </p:spPr>
      </p:pic>
      <p:pic>
        <p:nvPicPr>
          <p:cNvPr id="13" name="Graphic 12">
            <a:extLst>
              <a:ext uri="{FF2B5EF4-FFF2-40B4-BE49-F238E27FC236}">
                <a16:creationId xmlns:a16="http://schemas.microsoft.com/office/drawing/2014/main" id="{28048150-93FF-593B-B1B8-4CFCE6F5F68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540624" y="-854808"/>
            <a:ext cx="381000" cy="561975"/>
          </a:xfrm>
          <a:prstGeom prst="rect">
            <a:avLst/>
          </a:prstGeom>
        </p:spPr>
      </p:pic>
      <p:pic>
        <p:nvPicPr>
          <p:cNvPr id="17" name="Graphic 16">
            <a:extLst>
              <a:ext uri="{FF2B5EF4-FFF2-40B4-BE49-F238E27FC236}">
                <a16:creationId xmlns:a16="http://schemas.microsoft.com/office/drawing/2014/main" id="{41A55BF6-AEAF-C4A4-1D6E-B4628B40B6A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823093" y="2094333"/>
            <a:ext cx="4000500" cy="561975"/>
          </a:xfrm>
          <a:prstGeom prst="rect">
            <a:avLst/>
          </a:prstGeom>
        </p:spPr>
      </p:pic>
      <p:sp>
        <p:nvSpPr>
          <p:cNvPr id="29" name="TextBox 28">
            <a:extLst>
              <a:ext uri="{FF2B5EF4-FFF2-40B4-BE49-F238E27FC236}">
                <a16:creationId xmlns:a16="http://schemas.microsoft.com/office/drawing/2014/main" id="{C10BE25C-3901-DAC8-9B43-F6059BD291B2}"/>
              </a:ext>
            </a:extLst>
          </p:cNvPr>
          <p:cNvSpPr txBox="1"/>
          <p:nvPr/>
        </p:nvSpPr>
        <p:spPr>
          <a:xfrm>
            <a:off x="6290583" y="1275321"/>
            <a:ext cx="2304029" cy="369332"/>
          </a:xfrm>
          <a:prstGeom prst="rect">
            <a:avLst/>
          </a:prstGeom>
          <a:noFill/>
        </p:spPr>
        <p:txBody>
          <a:bodyPr wrap="none" rtlCol="0">
            <a:spAutoFit/>
          </a:bodyPr>
          <a:lstStyle/>
          <a:p>
            <a:r>
              <a:rPr lang="en-US"/>
              <a:t>Other common factors</a:t>
            </a:r>
            <a:endParaRPr lang="LID4096"/>
          </a:p>
        </p:txBody>
      </p:sp>
      <p:sp>
        <p:nvSpPr>
          <p:cNvPr id="18" name="TextBox 17">
            <a:extLst>
              <a:ext uri="{FF2B5EF4-FFF2-40B4-BE49-F238E27FC236}">
                <a16:creationId xmlns:a16="http://schemas.microsoft.com/office/drawing/2014/main" id="{89C034D7-76C5-58F9-0CEA-080B8A12038B}"/>
              </a:ext>
            </a:extLst>
          </p:cNvPr>
          <p:cNvSpPr txBox="1"/>
          <p:nvPr/>
        </p:nvSpPr>
        <p:spPr>
          <a:xfrm>
            <a:off x="1402670" y="3875699"/>
            <a:ext cx="1417376" cy="369332"/>
          </a:xfrm>
          <a:prstGeom prst="rect">
            <a:avLst/>
          </a:prstGeom>
          <a:noFill/>
        </p:spPr>
        <p:txBody>
          <a:bodyPr wrap="none" rtlCol="0">
            <a:spAutoFit/>
          </a:bodyPr>
          <a:lstStyle/>
          <a:p>
            <a:r>
              <a:rPr lang="en-US"/>
              <a:t>Normal node</a:t>
            </a:r>
            <a:endParaRPr lang="LID4096"/>
          </a:p>
        </p:txBody>
      </p:sp>
      <p:cxnSp>
        <p:nvCxnSpPr>
          <p:cNvPr id="21" name="Connector: Elbow 20">
            <a:extLst>
              <a:ext uri="{FF2B5EF4-FFF2-40B4-BE49-F238E27FC236}">
                <a16:creationId xmlns:a16="http://schemas.microsoft.com/office/drawing/2014/main" id="{0F5795FA-FAC3-6F37-5362-8A12F27D968F}"/>
              </a:ext>
            </a:extLst>
          </p:cNvPr>
          <p:cNvCxnSpPr>
            <a:stCxn id="18" idx="3"/>
          </p:cNvCxnSpPr>
          <p:nvPr/>
        </p:nvCxnSpPr>
        <p:spPr>
          <a:xfrm flipV="1">
            <a:off x="2820046" y="3551069"/>
            <a:ext cx="210930" cy="50929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pic>
        <p:nvPicPr>
          <p:cNvPr id="6" name="Graphic 5">
            <a:extLst>
              <a:ext uri="{FF2B5EF4-FFF2-40B4-BE49-F238E27FC236}">
                <a16:creationId xmlns:a16="http://schemas.microsoft.com/office/drawing/2014/main" id="{32998DAE-F563-0C18-DCDA-6BC55D492CC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800225" y="1690687"/>
            <a:ext cx="5543550" cy="1762125"/>
          </a:xfrm>
          <a:prstGeom prst="rect">
            <a:avLst/>
          </a:prstGeom>
        </p:spPr>
      </p:pic>
    </p:spTree>
    <p:extLst>
      <p:ext uri="{BB962C8B-B14F-4D97-AF65-F5344CB8AC3E}">
        <p14:creationId xmlns:p14="http://schemas.microsoft.com/office/powerpoint/2010/main" val="560998287"/>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F949C-2298-F129-030D-860040306D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F477B3-6E44-3FAF-7207-D37396B17C9E}"/>
              </a:ext>
            </a:extLst>
          </p:cNvPr>
          <p:cNvSpPr>
            <a:spLocks noGrp="1"/>
          </p:cNvSpPr>
          <p:nvPr>
            <p:ph type="title"/>
          </p:nvPr>
        </p:nvSpPr>
        <p:spPr/>
        <p:txBody>
          <a:bodyPr/>
          <a:lstStyle/>
          <a:p>
            <a:r>
              <a:rPr lang="en-US"/>
              <a:t>Message-passing approach: Forney-style Factor-graphs</a:t>
            </a:r>
            <a:endParaRPr lang="LID4096"/>
          </a:p>
        </p:txBody>
      </p:sp>
      <p:pic>
        <p:nvPicPr>
          <p:cNvPr id="5" name="Graphic 4">
            <a:extLst>
              <a:ext uri="{FF2B5EF4-FFF2-40B4-BE49-F238E27FC236}">
                <a16:creationId xmlns:a16="http://schemas.microsoft.com/office/drawing/2014/main" id="{60F65378-B973-40A2-F88A-159FA8CC29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58040" y="46596"/>
            <a:ext cx="2381250" cy="1228725"/>
          </a:xfrm>
          <a:prstGeom prst="rect">
            <a:avLst/>
          </a:prstGeom>
        </p:spPr>
      </p:pic>
      <p:pic>
        <p:nvPicPr>
          <p:cNvPr id="7" name="Graphic 6">
            <a:extLst>
              <a:ext uri="{FF2B5EF4-FFF2-40B4-BE49-F238E27FC236}">
                <a16:creationId xmlns:a16="http://schemas.microsoft.com/office/drawing/2014/main" id="{AA37AFB9-BF0E-C7E3-E8D8-CFE6D344AC2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958536" y="3461113"/>
            <a:ext cx="1333500" cy="561975"/>
          </a:xfrm>
          <a:prstGeom prst="rect">
            <a:avLst/>
          </a:prstGeom>
        </p:spPr>
      </p:pic>
      <p:pic>
        <p:nvPicPr>
          <p:cNvPr id="9" name="Graphic 8">
            <a:extLst>
              <a:ext uri="{FF2B5EF4-FFF2-40B4-BE49-F238E27FC236}">
                <a16:creationId xmlns:a16="http://schemas.microsoft.com/office/drawing/2014/main" id="{D1F98AC4-7E29-139B-ECBC-EF550C805D1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292036" y="-776031"/>
            <a:ext cx="571500" cy="561975"/>
          </a:xfrm>
          <a:prstGeom prst="rect">
            <a:avLst/>
          </a:prstGeom>
        </p:spPr>
      </p:pic>
      <p:pic>
        <p:nvPicPr>
          <p:cNvPr id="11" name="Graphic 10">
            <a:extLst>
              <a:ext uri="{FF2B5EF4-FFF2-40B4-BE49-F238E27FC236}">
                <a16:creationId xmlns:a16="http://schemas.microsoft.com/office/drawing/2014/main" id="{64B98CD0-8786-D76B-C2E6-BC7D2C616B8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5059432" y="-854808"/>
            <a:ext cx="381000" cy="561975"/>
          </a:xfrm>
          <a:prstGeom prst="rect">
            <a:avLst/>
          </a:prstGeom>
        </p:spPr>
      </p:pic>
      <p:pic>
        <p:nvPicPr>
          <p:cNvPr id="13" name="Graphic 12">
            <a:extLst>
              <a:ext uri="{FF2B5EF4-FFF2-40B4-BE49-F238E27FC236}">
                <a16:creationId xmlns:a16="http://schemas.microsoft.com/office/drawing/2014/main" id="{8AF1FBA9-BBBE-3E09-D962-6BCFFB08C00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540624" y="-854808"/>
            <a:ext cx="381000" cy="561975"/>
          </a:xfrm>
          <a:prstGeom prst="rect">
            <a:avLst/>
          </a:prstGeom>
        </p:spPr>
      </p:pic>
      <p:pic>
        <p:nvPicPr>
          <p:cNvPr id="17" name="Graphic 16">
            <a:extLst>
              <a:ext uri="{FF2B5EF4-FFF2-40B4-BE49-F238E27FC236}">
                <a16:creationId xmlns:a16="http://schemas.microsoft.com/office/drawing/2014/main" id="{7C53B142-6903-39F4-90DC-66297230F69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823093" y="2094333"/>
            <a:ext cx="4000500" cy="561975"/>
          </a:xfrm>
          <a:prstGeom prst="rect">
            <a:avLst/>
          </a:prstGeom>
        </p:spPr>
      </p:pic>
      <p:sp>
        <p:nvSpPr>
          <p:cNvPr id="29" name="TextBox 28">
            <a:extLst>
              <a:ext uri="{FF2B5EF4-FFF2-40B4-BE49-F238E27FC236}">
                <a16:creationId xmlns:a16="http://schemas.microsoft.com/office/drawing/2014/main" id="{C982449F-E921-830D-A1DF-B596C3762314}"/>
              </a:ext>
            </a:extLst>
          </p:cNvPr>
          <p:cNvSpPr txBox="1"/>
          <p:nvPr/>
        </p:nvSpPr>
        <p:spPr>
          <a:xfrm>
            <a:off x="6290583" y="1275321"/>
            <a:ext cx="2304029" cy="369332"/>
          </a:xfrm>
          <a:prstGeom prst="rect">
            <a:avLst/>
          </a:prstGeom>
          <a:noFill/>
        </p:spPr>
        <p:txBody>
          <a:bodyPr wrap="none" rtlCol="0">
            <a:spAutoFit/>
          </a:bodyPr>
          <a:lstStyle/>
          <a:p>
            <a:r>
              <a:rPr lang="en-US"/>
              <a:t>Other common factors</a:t>
            </a:r>
            <a:endParaRPr lang="LID4096"/>
          </a:p>
        </p:txBody>
      </p:sp>
      <p:sp>
        <p:nvSpPr>
          <p:cNvPr id="18" name="TextBox 17">
            <a:extLst>
              <a:ext uri="{FF2B5EF4-FFF2-40B4-BE49-F238E27FC236}">
                <a16:creationId xmlns:a16="http://schemas.microsoft.com/office/drawing/2014/main" id="{ECD14F4C-3DB9-D32F-5FA4-8EFD6931FA3E}"/>
              </a:ext>
            </a:extLst>
          </p:cNvPr>
          <p:cNvSpPr txBox="1"/>
          <p:nvPr/>
        </p:nvSpPr>
        <p:spPr>
          <a:xfrm>
            <a:off x="1402670" y="3875699"/>
            <a:ext cx="1417376" cy="369332"/>
          </a:xfrm>
          <a:prstGeom prst="rect">
            <a:avLst/>
          </a:prstGeom>
          <a:noFill/>
        </p:spPr>
        <p:txBody>
          <a:bodyPr wrap="none" rtlCol="0">
            <a:spAutoFit/>
          </a:bodyPr>
          <a:lstStyle/>
          <a:p>
            <a:r>
              <a:rPr lang="en-US"/>
              <a:t>Normal node</a:t>
            </a:r>
            <a:endParaRPr lang="LID4096"/>
          </a:p>
        </p:txBody>
      </p:sp>
      <p:cxnSp>
        <p:nvCxnSpPr>
          <p:cNvPr id="21" name="Connector: Elbow 20">
            <a:extLst>
              <a:ext uri="{FF2B5EF4-FFF2-40B4-BE49-F238E27FC236}">
                <a16:creationId xmlns:a16="http://schemas.microsoft.com/office/drawing/2014/main" id="{436DCC65-8F6D-FEA9-6814-52C083F869B5}"/>
              </a:ext>
            </a:extLst>
          </p:cNvPr>
          <p:cNvCxnSpPr>
            <a:stCxn id="18" idx="3"/>
          </p:cNvCxnSpPr>
          <p:nvPr/>
        </p:nvCxnSpPr>
        <p:spPr>
          <a:xfrm flipV="1">
            <a:off x="2820046" y="3551069"/>
            <a:ext cx="210930" cy="50929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pic>
        <p:nvPicPr>
          <p:cNvPr id="4" name="Graphic 3">
            <a:extLst>
              <a:ext uri="{FF2B5EF4-FFF2-40B4-BE49-F238E27FC236}">
                <a16:creationId xmlns:a16="http://schemas.microsoft.com/office/drawing/2014/main" id="{927A1A4B-DD0E-4FD7-F682-2CB1F8D0B2F7}"/>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919287" y="1681162"/>
            <a:ext cx="5934075" cy="1952625"/>
          </a:xfrm>
          <a:prstGeom prst="rect">
            <a:avLst/>
          </a:prstGeom>
        </p:spPr>
      </p:pic>
    </p:spTree>
    <p:extLst>
      <p:ext uri="{BB962C8B-B14F-4D97-AF65-F5344CB8AC3E}">
        <p14:creationId xmlns:p14="http://schemas.microsoft.com/office/powerpoint/2010/main" val="1697085845"/>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6422-D912-E4F5-AF63-3E6626D0AB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E62328-2167-58A4-8A66-A22F46BDC7D9}"/>
              </a:ext>
            </a:extLst>
          </p:cNvPr>
          <p:cNvSpPr>
            <a:spLocks noGrp="1"/>
          </p:cNvSpPr>
          <p:nvPr>
            <p:ph type="title"/>
          </p:nvPr>
        </p:nvSpPr>
        <p:spPr/>
        <p:txBody>
          <a:bodyPr/>
          <a:lstStyle/>
          <a:p>
            <a:r>
              <a:rPr lang="en-US"/>
              <a:t>Message-passing approach: Forney-style Factor-graphs</a:t>
            </a:r>
            <a:endParaRPr lang="LID4096"/>
          </a:p>
        </p:txBody>
      </p:sp>
      <p:pic>
        <p:nvPicPr>
          <p:cNvPr id="5" name="Graphic 4">
            <a:extLst>
              <a:ext uri="{FF2B5EF4-FFF2-40B4-BE49-F238E27FC236}">
                <a16:creationId xmlns:a16="http://schemas.microsoft.com/office/drawing/2014/main" id="{FB717EDC-06EB-7889-78DF-86154830079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58040" y="46596"/>
            <a:ext cx="2381250" cy="1228725"/>
          </a:xfrm>
          <a:prstGeom prst="rect">
            <a:avLst/>
          </a:prstGeom>
        </p:spPr>
      </p:pic>
      <p:pic>
        <p:nvPicPr>
          <p:cNvPr id="7" name="Graphic 6">
            <a:extLst>
              <a:ext uri="{FF2B5EF4-FFF2-40B4-BE49-F238E27FC236}">
                <a16:creationId xmlns:a16="http://schemas.microsoft.com/office/drawing/2014/main" id="{E39524B9-86CA-7DCF-DE0E-148404D0A4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958536" y="3461113"/>
            <a:ext cx="1333500" cy="561975"/>
          </a:xfrm>
          <a:prstGeom prst="rect">
            <a:avLst/>
          </a:prstGeom>
        </p:spPr>
      </p:pic>
      <p:pic>
        <p:nvPicPr>
          <p:cNvPr id="9" name="Graphic 8">
            <a:extLst>
              <a:ext uri="{FF2B5EF4-FFF2-40B4-BE49-F238E27FC236}">
                <a16:creationId xmlns:a16="http://schemas.microsoft.com/office/drawing/2014/main" id="{665CFAE3-4551-B881-DB5B-759484DFBA0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292036" y="-776031"/>
            <a:ext cx="571500" cy="561975"/>
          </a:xfrm>
          <a:prstGeom prst="rect">
            <a:avLst/>
          </a:prstGeom>
        </p:spPr>
      </p:pic>
      <p:pic>
        <p:nvPicPr>
          <p:cNvPr id="11" name="Graphic 10">
            <a:extLst>
              <a:ext uri="{FF2B5EF4-FFF2-40B4-BE49-F238E27FC236}">
                <a16:creationId xmlns:a16="http://schemas.microsoft.com/office/drawing/2014/main" id="{C2005023-7522-20CF-5C27-AC57EBB0030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5059432" y="-854808"/>
            <a:ext cx="381000" cy="561975"/>
          </a:xfrm>
          <a:prstGeom prst="rect">
            <a:avLst/>
          </a:prstGeom>
        </p:spPr>
      </p:pic>
      <p:pic>
        <p:nvPicPr>
          <p:cNvPr id="13" name="Graphic 12">
            <a:extLst>
              <a:ext uri="{FF2B5EF4-FFF2-40B4-BE49-F238E27FC236}">
                <a16:creationId xmlns:a16="http://schemas.microsoft.com/office/drawing/2014/main" id="{2BD1AECE-5959-B9BC-EA01-BFA0EF7D0BE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540624" y="-854808"/>
            <a:ext cx="381000" cy="561975"/>
          </a:xfrm>
          <a:prstGeom prst="rect">
            <a:avLst/>
          </a:prstGeom>
        </p:spPr>
      </p:pic>
      <p:pic>
        <p:nvPicPr>
          <p:cNvPr id="17" name="Graphic 16">
            <a:extLst>
              <a:ext uri="{FF2B5EF4-FFF2-40B4-BE49-F238E27FC236}">
                <a16:creationId xmlns:a16="http://schemas.microsoft.com/office/drawing/2014/main" id="{E37FECF6-D2B6-9A21-5D4C-D430C9E3AEA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823093" y="2094333"/>
            <a:ext cx="4000500" cy="561975"/>
          </a:xfrm>
          <a:prstGeom prst="rect">
            <a:avLst/>
          </a:prstGeom>
        </p:spPr>
      </p:pic>
      <p:sp>
        <p:nvSpPr>
          <p:cNvPr id="29" name="TextBox 28">
            <a:extLst>
              <a:ext uri="{FF2B5EF4-FFF2-40B4-BE49-F238E27FC236}">
                <a16:creationId xmlns:a16="http://schemas.microsoft.com/office/drawing/2014/main" id="{AE44635A-1070-E4A4-E65F-560A0599BA5A}"/>
              </a:ext>
            </a:extLst>
          </p:cNvPr>
          <p:cNvSpPr txBox="1"/>
          <p:nvPr/>
        </p:nvSpPr>
        <p:spPr>
          <a:xfrm>
            <a:off x="6290583" y="1275321"/>
            <a:ext cx="1907573" cy="369332"/>
          </a:xfrm>
          <a:prstGeom prst="rect">
            <a:avLst/>
          </a:prstGeom>
          <a:noFill/>
        </p:spPr>
        <p:txBody>
          <a:bodyPr wrap="none" rtlCol="0">
            <a:spAutoFit/>
          </a:bodyPr>
          <a:lstStyle/>
          <a:p>
            <a:r>
              <a:rPr lang="en-US"/>
              <a:t>Node composition</a:t>
            </a:r>
            <a:endParaRPr lang="LID4096"/>
          </a:p>
        </p:txBody>
      </p:sp>
      <p:grpSp>
        <p:nvGrpSpPr>
          <p:cNvPr id="10" name="Group 9">
            <a:extLst>
              <a:ext uri="{FF2B5EF4-FFF2-40B4-BE49-F238E27FC236}">
                <a16:creationId xmlns:a16="http://schemas.microsoft.com/office/drawing/2014/main" id="{4AD932A5-F1E7-44C3-5349-B1DC12C71C26}"/>
              </a:ext>
            </a:extLst>
          </p:cNvPr>
          <p:cNvGrpSpPr/>
          <p:nvPr/>
        </p:nvGrpSpPr>
        <p:grpSpPr>
          <a:xfrm>
            <a:off x="5875256" y="2109041"/>
            <a:ext cx="2738226" cy="2091158"/>
            <a:chOff x="3202886" y="0"/>
            <a:chExt cx="2738226" cy="2091158"/>
          </a:xfrm>
        </p:grpSpPr>
        <p:pic>
          <p:nvPicPr>
            <p:cNvPr id="6" name="Picture 5">
              <a:extLst>
                <a:ext uri="{FF2B5EF4-FFF2-40B4-BE49-F238E27FC236}">
                  <a16:creationId xmlns:a16="http://schemas.microsoft.com/office/drawing/2014/main" id="{044C098D-7DB5-E8BC-457F-7A0813A095C3}"/>
                </a:ext>
              </a:extLst>
            </p:cNvPr>
            <p:cNvPicPr>
              <a:picLocks noChangeAspect="1"/>
            </p:cNvPicPr>
            <p:nvPr/>
          </p:nvPicPr>
          <p:blipFill>
            <a:blip r:embed="rId9"/>
            <a:srcRect b="61926"/>
            <a:stretch>
              <a:fillRect/>
            </a:stretch>
          </p:blipFill>
          <p:spPr>
            <a:xfrm>
              <a:off x="3202887" y="0"/>
              <a:ext cx="2738225" cy="1958340"/>
            </a:xfrm>
            <a:prstGeom prst="rect">
              <a:avLst/>
            </a:prstGeom>
          </p:spPr>
        </p:pic>
        <p:pic>
          <p:nvPicPr>
            <p:cNvPr id="8" name="Picture 7">
              <a:extLst>
                <a:ext uri="{FF2B5EF4-FFF2-40B4-BE49-F238E27FC236}">
                  <a16:creationId xmlns:a16="http://schemas.microsoft.com/office/drawing/2014/main" id="{78607B10-6C1C-DFED-ECFF-8B7B041D489A}"/>
                </a:ext>
              </a:extLst>
            </p:cNvPr>
            <p:cNvPicPr>
              <a:picLocks noChangeAspect="1"/>
            </p:cNvPicPr>
            <p:nvPr/>
          </p:nvPicPr>
          <p:blipFill>
            <a:blip r:embed="rId9"/>
            <a:srcRect t="97447"/>
            <a:stretch>
              <a:fillRect/>
            </a:stretch>
          </p:blipFill>
          <p:spPr>
            <a:xfrm>
              <a:off x="3202886" y="1959839"/>
              <a:ext cx="2738225" cy="131319"/>
            </a:xfrm>
            <a:prstGeom prst="rect">
              <a:avLst/>
            </a:prstGeom>
          </p:spPr>
        </p:pic>
      </p:grpSp>
      <p:sp>
        <p:nvSpPr>
          <p:cNvPr id="14" name="TextBox 13">
            <a:extLst>
              <a:ext uri="{FF2B5EF4-FFF2-40B4-BE49-F238E27FC236}">
                <a16:creationId xmlns:a16="http://schemas.microsoft.com/office/drawing/2014/main" id="{25D54B17-8310-CE14-E396-A0B447543D47}"/>
              </a:ext>
            </a:extLst>
          </p:cNvPr>
          <p:cNvSpPr txBox="1"/>
          <p:nvPr/>
        </p:nvSpPr>
        <p:spPr>
          <a:xfrm>
            <a:off x="1039489" y="1415980"/>
            <a:ext cx="4742260" cy="369332"/>
          </a:xfrm>
          <a:prstGeom prst="rect">
            <a:avLst/>
          </a:prstGeom>
          <a:noFill/>
        </p:spPr>
        <p:txBody>
          <a:bodyPr wrap="none" rtlCol="0">
            <a:spAutoFit/>
          </a:bodyPr>
          <a:lstStyle/>
          <a:p>
            <a:r>
              <a:rPr lang="en-US"/>
              <a:t>We can combine nodes into “composite nodes”</a:t>
            </a:r>
            <a:endParaRPr lang="LID4096"/>
          </a:p>
        </p:txBody>
      </p:sp>
      <p:pic>
        <p:nvPicPr>
          <p:cNvPr id="19" name="Graphic 18">
            <a:extLst>
              <a:ext uri="{FF2B5EF4-FFF2-40B4-BE49-F238E27FC236}">
                <a16:creationId xmlns:a16="http://schemas.microsoft.com/office/drawing/2014/main" id="{FBB4FCF4-58C1-8CD4-D589-F0ECB4AFC6E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836720" y="1785312"/>
            <a:ext cx="2828925" cy="2990850"/>
          </a:xfrm>
          <a:prstGeom prst="rect">
            <a:avLst/>
          </a:prstGeom>
        </p:spPr>
      </p:pic>
      <p:sp>
        <p:nvSpPr>
          <p:cNvPr id="22" name="Rectangle 21">
            <a:extLst>
              <a:ext uri="{FF2B5EF4-FFF2-40B4-BE49-F238E27FC236}">
                <a16:creationId xmlns:a16="http://schemas.microsoft.com/office/drawing/2014/main" id="{36F2A3E8-D4A0-63EE-5652-3D881BB23BB8}"/>
              </a:ext>
            </a:extLst>
          </p:cNvPr>
          <p:cNvSpPr/>
          <p:nvPr/>
        </p:nvSpPr>
        <p:spPr>
          <a:xfrm>
            <a:off x="2744068" y="1809545"/>
            <a:ext cx="970681" cy="1961445"/>
          </a:xfrm>
          <a:prstGeom prst="rect">
            <a:avLst/>
          </a:prstGeom>
          <a:noFill/>
          <a:ln w="1905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686457590"/>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22"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FC831-9BD9-3F2D-37DA-332AE9E9D17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E226C8D-E578-EBFC-5292-5B318B4ED12A}"/>
                  </a:ext>
                </a:extLst>
              </p:cNvPr>
              <p:cNvSpPr>
                <a:spLocks noGrp="1"/>
              </p:cNvSpPr>
              <p:nvPr>
                <p:ph type="title"/>
              </p:nvPr>
            </p:nvSpPr>
            <p:spPr>
              <a:xfrm>
                <a:off x="612648" y="475488"/>
                <a:ext cx="7918704" cy="548640"/>
              </a:xfrm>
            </p:spPr>
            <p:txBody>
              <a:bodyPr/>
              <a:lstStyle/>
              <a:p>
                <a:r>
                  <a:rPr lang="en-GB" sz="2600">
                    <a:solidFill>
                      <a:srgbClr val="FFFFFF"/>
                    </a:solidFill>
                  </a:rPr>
                  <a:t>4. Message passing approach to </a:t>
                </a:r>
                <a14:m>
                  <m:oMath xmlns:m="http://schemas.openxmlformats.org/officeDocument/2006/math">
                    <m:r>
                      <a:rPr lang="en-US" sz="2800" i="1" dirty="0">
                        <a:solidFill>
                          <a:srgbClr val="FFFFFF"/>
                        </a:solidFill>
                        <a:latin typeface="Cambria Math" panose="02040503050406030204" pitchFamily="18" charset="0"/>
                      </a:rPr>
                      <m:t>𝐴</m:t>
                    </m:r>
                    <m:r>
                      <a:rPr lang="en-US" sz="2800" dirty="0">
                        <a:solidFill>
                          <a:srgbClr val="FFFFFF"/>
                        </a:solidFill>
                        <a:latin typeface="Cambria Math" panose="02040503050406030204" pitchFamily="18" charset="0"/>
                      </a:rPr>
                      <m:t>𝐱</m:t>
                    </m:r>
                    <m:r>
                      <a:rPr lang="en-US" sz="2800" dirty="0">
                        <a:solidFill>
                          <a:srgbClr val="FFFFFF"/>
                        </a:solidFill>
                        <a:latin typeface="Cambria Math" panose="02040503050406030204" pitchFamily="18" charset="0"/>
                      </a:rPr>
                      <m:t>=</m:t>
                    </m:r>
                    <m:r>
                      <a:rPr lang="en-US" sz="2800" dirty="0">
                        <a:solidFill>
                          <a:srgbClr val="FFFFFF"/>
                        </a:solidFill>
                        <a:latin typeface="Cambria Math" panose="02040503050406030204" pitchFamily="18" charset="0"/>
                      </a:rPr>
                      <m:t>𝐛</m:t>
                    </m:r>
                  </m:oMath>
                </a14:m>
                <a:endParaRPr sz="2600" b="1">
                  <a:solidFill>
                    <a:srgbClr val="FFFFFF"/>
                  </a:solidFill>
                  <a:latin typeface="Calibri"/>
                </a:endParaRPr>
              </a:p>
            </p:txBody>
          </p:sp>
        </mc:Choice>
        <mc:Fallback xmlns="">
          <p:sp>
            <p:nvSpPr>
              <p:cNvPr id="2" name="Title 1">
                <a:extLst>
                  <a:ext uri="{FF2B5EF4-FFF2-40B4-BE49-F238E27FC236}">
                    <a16:creationId xmlns:a16="http://schemas.microsoft.com/office/drawing/2014/main" id="{2E226C8D-E578-EBFC-5292-5B318B4ED12A}"/>
                  </a:ext>
                </a:extLst>
              </p:cNvPr>
              <p:cNvSpPr>
                <a:spLocks noGrp="1" noRot="1" noChangeAspect="1" noMove="1" noResize="1" noEditPoints="1" noAdjustHandles="1" noChangeArrowheads="1" noChangeShapeType="1" noTextEdit="1"/>
              </p:cNvSpPr>
              <p:nvPr>
                <p:ph type="title"/>
              </p:nvPr>
            </p:nvSpPr>
            <p:spPr>
              <a:xfrm>
                <a:off x="612648" y="475488"/>
                <a:ext cx="7918704" cy="548640"/>
              </a:xfrm>
              <a:blipFill>
                <a:blip r:embed="rId3"/>
                <a:stretch>
                  <a:fillRect l="-2540" t="-27778"/>
                </a:stretch>
              </a:blipFill>
            </p:spPr>
            <p:txBody>
              <a:bodyPr/>
              <a:lstStyle/>
              <a:p>
                <a:r>
                  <a:rPr lang="en-US">
                    <a:noFill/>
                  </a:rPr>
                  <a:t> </a:t>
                </a:r>
              </a:p>
            </p:txBody>
          </p:sp>
        </mc:Fallback>
      </mc:AlternateContent>
      <p:sp>
        <p:nvSpPr>
          <p:cNvPr id="4" name="Tijdelijke aanduiding voor dianummer 3">
            <a:extLst>
              <a:ext uri="{FF2B5EF4-FFF2-40B4-BE49-F238E27FC236}">
                <a16:creationId xmlns:a16="http://schemas.microsoft.com/office/drawing/2014/main" id="{A145F2BD-0FAC-EE4E-A7CF-961396488C3F}"/>
              </a:ext>
            </a:extLst>
          </p:cNvPr>
          <p:cNvSpPr>
            <a:spLocks noGrp="1"/>
          </p:cNvSpPr>
          <p:nvPr>
            <p:ph type="sldNum" sz="quarter" idx="11"/>
          </p:nvPr>
        </p:nvSpPr>
        <p:spPr/>
        <p:txBody>
          <a:bodyPr/>
          <a:lstStyle/>
          <a:p>
            <a:fld id="{B7CEC10D-CD46-426F-915E-6C78530279CB}" type="slidenum">
              <a:rPr lang="en-US" smtClean="0"/>
              <a:pPr/>
              <a:t>31</a:t>
            </a:fld>
            <a:endParaRPr lang="en-US"/>
          </a:p>
        </p:txBody>
      </p:sp>
      <p:sp>
        <p:nvSpPr>
          <p:cNvPr id="6" name="Oval 5">
            <a:extLst>
              <a:ext uri="{FF2B5EF4-FFF2-40B4-BE49-F238E27FC236}">
                <a16:creationId xmlns:a16="http://schemas.microsoft.com/office/drawing/2014/main" id="{34AB7BBA-28B8-4789-24BA-39F9D02C05EF}"/>
              </a:ext>
            </a:extLst>
          </p:cNvPr>
          <p:cNvSpPr/>
          <p:nvPr/>
        </p:nvSpPr>
        <p:spPr>
          <a:xfrm>
            <a:off x="612000" y="1639411"/>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A</a:t>
            </a:r>
            <a:endParaRPr sz="1400" b="1">
              <a:solidFill>
                <a:srgbClr val="101073"/>
              </a:solidFill>
              <a:latin typeface="Calibri"/>
            </a:endParaRPr>
          </a:p>
        </p:txBody>
      </p:sp>
      <p:sp>
        <p:nvSpPr>
          <p:cNvPr id="7" name="TextBox 6">
            <a:extLst>
              <a:ext uri="{FF2B5EF4-FFF2-40B4-BE49-F238E27FC236}">
                <a16:creationId xmlns:a16="http://schemas.microsoft.com/office/drawing/2014/main" id="{23141E20-56AC-B8E8-BDD4-FEBA84BCB000}"/>
              </a:ext>
            </a:extLst>
          </p:cNvPr>
          <p:cNvSpPr txBox="1"/>
          <p:nvPr/>
        </p:nvSpPr>
        <p:spPr>
          <a:xfrm>
            <a:off x="1252080" y="1708324"/>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a:solidFill>
                  <a:srgbClr val="FFFFFF"/>
                </a:solidFill>
                <a:latin typeface="Calibri"/>
              </a:rPr>
              <a:t>Setup</a:t>
            </a:r>
            <a:endParaRPr sz="1400" b="0" i="0">
              <a:solidFill>
                <a:srgbClr val="C9CDE8"/>
              </a:solidFill>
              <a:latin typeface="Calibri"/>
            </a:endParaRPr>
          </a:p>
        </p:txBody>
      </p:sp>
      <p:sp>
        <p:nvSpPr>
          <p:cNvPr id="8" name="Oval 7">
            <a:extLst>
              <a:ext uri="{FF2B5EF4-FFF2-40B4-BE49-F238E27FC236}">
                <a16:creationId xmlns:a16="http://schemas.microsoft.com/office/drawing/2014/main" id="{F5F39E6E-82C2-0C6B-ED4B-F6A4F6C2057F}"/>
              </a:ext>
            </a:extLst>
          </p:cNvPr>
          <p:cNvSpPr/>
          <p:nvPr/>
        </p:nvSpPr>
        <p:spPr>
          <a:xfrm>
            <a:off x="612000" y="2352643"/>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B</a:t>
            </a:r>
            <a:endParaRPr sz="1400" b="1">
              <a:solidFill>
                <a:srgbClr val="101073"/>
              </a:solidFill>
              <a:latin typeface="Calibri"/>
            </a:endParaRPr>
          </a:p>
        </p:txBody>
      </p:sp>
      <p:sp>
        <p:nvSpPr>
          <p:cNvPr id="9" name="TextBox 8">
            <a:extLst>
              <a:ext uri="{FF2B5EF4-FFF2-40B4-BE49-F238E27FC236}">
                <a16:creationId xmlns:a16="http://schemas.microsoft.com/office/drawing/2014/main" id="{5F20CFC7-1514-3220-A590-828116045E27}"/>
              </a:ext>
            </a:extLst>
          </p:cNvPr>
          <p:cNvSpPr txBox="1"/>
          <p:nvPr/>
        </p:nvSpPr>
        <p:spPr>
          <a:xfrm>
            <a:off x="1252080" y="2448639"/>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Forney-style Factor Graphs</a:t>
            </a:r>
            <a:endParaRPr sz="1400" b="0" i="0">
              <a:solidFill>
                <a:srgbClr val="C9CDE8"/>
              </a:solidFill>
              <a:latin typeface="Calibri"/>
            </a:endParaRPr>
          </a:p>
        </p:txBody>
      </p:sp>
      <p:sp>
        <p:nvSpPr>
          <p:cNvPr id="3" name="Oval 2">
            <a:extLst>
              <a:ext uri="{FF2B5EF4-FFF2-40B4-BE49-F238E27FC236}">
                <a16:creationId xmlns:a16="http://schemas.microsoft.com/office/drawing/2014/main" id="{0197317F-EEA5-4A06-FFB5-511ADB479E46}"/>
              </a:ext>
            </a:extLst>
          </p:cNvPr>
          <p:cNvSpPr/>
          <p:nvPr/>
        </p:nvSpPr>
        <p:spPr>
          <a:xfrm>
            <a:off x="612000" y="3061037"/>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chemeClr val="bg1"/>
                </a:solidFill>
                <a:latin typeface="Calibri"/>
              </a:rPr>
              <a:t>C</a:t>
            </a:r>
            <a:endParaRPr sz="1400" b="1">
              <a:solidFill>
                <a:schemeClr val="bg1"/>
              </a:solidFill>
              <a:latin typeface="Calibri"/>
            </a:endParaRPr>
          </a:p>
        </p:txBody>
      </p:sp>
      <p:sp>
        <p:nvSpPr>
          <p:cNvPr id="5" name="TextBox 4">
            <a:extLst>
              <a:ext uri="{FF2B5EF4-FFF2-40B4-BE49-F238E27FC236}">
                <a16:creationId xmlns:a16="http://schemas.microsoft.com/office/drawing/2014/main" id="{631F46BC-729E-13A1-E9F3-7F0D9588F06D}"/>
              </a:ext>
            </a:extLst>
          </p:cNvPr>
          <p:cNvSpPr txBox="1"/>
          <p:nvPr/>
        </p:nvSpPr>
        <p:spPr>
          <a:xfrm>
            <a:off x="1252080" y="3157033"/>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Belief propagation</a:t>
            </a:r>
            <a:endParaRPr sz="1400" b="0" i="0">
              <a:solidFill>
                <a:srgbClr val="C9CDE8"/>
              </a:solidFill>
              <a:latin typeface="Calibri"/>
            </a:endParaRPr>
          </a:p>
        </p:txBody>
      </p:sp>
      <p:sp>
        <p:nvSpPr>
          <p:cNvPr id="10" name="Oval 9">
            <a:extLst>
              <a:ext uri="{FF2B5EF4-FFF2-40B4-BE49-F238E27FC236}">
                <a16:creationId xmlns:a16="http://schemas.microsoft.com/office/drawing/2014/main" id="{07E60743-3BE0-2D54-144E-5E5334FCFDA7}"/>
              </a:ext>
            </a:extLst>
          </p:cNvPr>
          <p:cNvSpPr/>
          <p:nvPr/>
        </p:nvSpPr>
        <p:spPr>
          <a:xfrm>
            <a:off x="612000" y="3772347"/>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D</a:t>
            </a:r>
            <a:endParaRPr sz="1400" b="1">
              <a:solidFill>
                <a:srgbClr val="101073"/>
              </a:solidFill>
              <a:latin typeface="Calibri"/>
            </a:endParaRP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7C49324-C110-E33E-0736-610A58572285}"/>
                  </a:ext>
                </a:extLst>
              </p:cNvPr>
              <p:cNvSpPr txBox="1"/>
              <p:nvPr/>
            </p:nvSpPr>
            <p:spPr>
              <a:xfrm>
                <a:off x="1252080" y="3868343"/>
                <a:ext cx="6949440" cy="246221"/>
              </a:xfrm>
              <a:prstGeom prst="rect">
                <a:avLst/>
              </a:prstGeom>
              <a:noFill/>
            </p:spPr>
            <p:txBody>
              <a:bodyPr wrap="square" lIns="0" tIns="0" rIns="0" bIns="0" anchor="ctr">
                <a:spAutoFit/>
              </a:bodyPr>
              <a:lstStyle/>
              <a:p>
                <a:pPr>
                  <a:spcAft>
                    <a:spcPts val="600"/>
                  </a:spcAft>
                </a:pPr>
                <a:r>
                  <a:rPr lang="en-US" sz="1600" b="1">
                    <a:solidFill>
                      <a:srgbClr val="FFFFFF"/>
                    </a:solidFill>
                  </a:rPr>
                  <a:t>Solving </a:t>
                </a:r>
                <a14:m>
                  <m:oMath xmlns:m="http://schemas.openxmlformats.org/officeDocument/2006/math">
                    <m:r>
                      <a:rPr lang="en-US" sz="1600" b="1" i="1" dirty="0">
                        <a:solidFill>
                          <a:srgbClr val="FFFFFF"/>
                        </a:solidFill>
                        <a:latin typeface="Cambria Math" panose="02040503050406030204" pitchFamily="18" charset="0"/>
                      </a:rPr>
                      <m:t>𝐴</m:t>
                    </m:r>
                    <m:r>
                      <a:rPr lang="en-US" sz="1600" b="1" dirty="0">
                        <a:solidFill>
                          <a:srgbClr val="FFFFFF"/>
                        </a:solidFill>
                        <a:latin typeface="Cambria Math" panose="02040503050406030204" pitchFamily="18" charset="0"/>
                      </a:rPr>
                      <m:t>𝐱</m:t>
                    </m:r>
                    <m:r>
                      <a:rPr lang="en-US" sz="1600" b="1" dirty="0">
                        <a:solidFill>
                          <a:srgbClr val="FFFFFF"/>
                        </a:solidFill>
                        <a:latin typeface="Cambria Math" panose="02040503050406030204" pitchFamily="18" charset="0"/>
                      </a:rPr>
                      <m:t>=</m:t>
                    </m:r>
                    <m:r>
                      <a:rPr lang="en-US" sz="1600" b="1" dirty="0">
                        <a:solidFill>
                          <a:srgbClr val="FFFFFF"/>
                        </a:solidFill>
                        <a:latin typeface="Cambria Math" panose="02040503050406030204" pitchFamily="18" charset="0"/>
                      </a:rPr>
                      <m:t>𝐛</m:t>
                    </m:r>
                  </m:oMath>
                </a14:m>
                <a:r>
                  <a:rPr lang="en-US" sz="1600" b="1">
                    <a:solidFill>
                      <a:srgbClr val="FFFFFF"/>
                    </a:solidFill>
                  </a:rPr>
                  <a:t> by Message-Passing on a Factor-Graph</a:t>
                </a:r>
                <a:endParaRPr lang="en-US" sz="1400">
                  <a:solidFill>
                    <a:srgbClr val="C9CDE8"/>
                  </a:solidFill>
                </a:endParaRPr>
              </a:p>
            </p:txBody>
          </p:sp>
        </mc:Choice>
        <mc:Fallback xmlns="">
          <p:sp>
            <p:nvSpPr>
              <p:cNvPr id="11" name="TextBox 10">
                <a:extLst>
                  <a:ext uri="{FF2B5EF4-FFF2-40B4-BE49-F238E27FC236}">
                    <a16:creationId xmlns:a16="http://schemas.microsoft.com/office/drawing/2014/main" id="{A7C49324-C110-E33E-0736-610A58572285}"/>
                  </a:ext>
                </a:extLst>
              </p:cNvPr>
              <p:cNvSpPr txBox="1">
                <a:spLocks noRot="1" noChangeAspect="1" noMove="1" noResize="1" noEditPoints="1" noAdjustHandles="1" noChangeArrowheads="1" noChangeShapeType="1" noTextEdit="1"/>
              </p:cNvSpPr>
              <p:nvPr/>
            </p:nvSpPr>
            <p:spPr>
              <a:xfrm>
                <a:off x="1252080" y="3868343"/>
                <a:ext cx="6949440" cy="246221"/>
              </a:xfrm>
              <a:prstGeom prst="rect">
                <a:avLst/>
              </a:prstGeom>
              <a:blipFill>
                <a:blip r:embed="rId4"/>
                <a:stretch>
                  <a:fillRect l="-1754" t="-27500" b="-50000"/>
                </a:stretch>
              </a:blipFill>
            </p:spPr>
            <p:txBody>
              <a:bodyPr/>
              <a:lstStyle/>
              <a:p>
                <a:r>
                  <a:rPr lang="en-US">
                    <a:noFill/>
                  </a:rPr>
                  <a:t> </a:t>
                </a:r>
              </a:p>
            </p:txBody>
          </p:sp>
        </mc:Fallback>
      </mc:AlternateContent>
    </p:spTree>
    <p:extLst>
      <p:ext uri="{BB962C8B-B14F-4D97-AF65-F5344CB8AC3E}">
        <p14:creationId xmlns:p14="http://schemas.microsoft.com/office/powerpoint/2010/main" val="2100574183"/>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D18C4-0767-C7DF-C308-F0A43AB699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8AC505-45BC-4ED2-17B5-4BA38762279B}"/>
              </a:ext>
            </a:extLst>
          </p:cNvPr>
          <p:cNvSpPr>
            <a:spLocks noGrp="1"/>
          </p:cNvSpPr>
          <p:nvPr>
            <p:ph type="title"/>
          </p:nvPr>
        </p:nvSpPr>
        <p:spPr/>
        <p:txBody>
          <a:bodyPr/>
          <a:lstStyle/>
          <a:p>
            <a:r>
              <a:rPr lang="en-US"/>
              <a:t>Message-passing approach: Belief-propagation </a:t>
            </a:r>
            <a:endParaRPr lang="LID4096"/>
          </a:p>
        </p:txBody>
      </p:sp>
      <p:sp>
        <p:nvSpPr>
          <p:cNvPr id="4" name="TextBox 3">
            <a:extLst>
              <a:ext uri="{FF2B5EF4-FFF2-40B4-BE49-F238E27FC236}">
                <a16:creationId xmlns:a16="http://schemas.microsoft.com/office/drawing/2014/main" id="{54AB7E81-0DB9-DEBC-6476-0FE54488527C}"/>
              </a:ext>
            </a:extLst>
          </p:cNvPr>
          <p:cNvSpPr txBox="1"/>
          <p:nvPr/>
        </p:nvSpPr>
        <p:spPr>
          <a:xfrm>
            <a:off x="1747830" y="1328468"/>
            <a:ext cx="5648341" cy="369332"/>
          </a:xfrm>
          <a:prstGeom prst="rect">
            <a:avLst/>
          </a:prstGeom>
          <a:noFill/>
        </p:spPr>
        <p:txBody>
          <a:bodyPr wrap="none" rtlCol="0">
            <a:spAutoFit/>
          </a:bodyPr>
          <a:lstStyle/>
          <a:p>
            <a:pPr algn="ctr"/>
            <a:r>
              <a:rPr lang="en-US"/>
              <a:t>Great! So how do we perform message-passing inference?</a:t>
            </a:r>
            <a:endParaRPr lang="LID4096"/>
          </a:p>
        </p:txBody>
      </p:sp>
      <p:sp>
        <p:nvSpPr>
          <p:cNvPr id="5" name="TextBox 4">
            <a:extLst>
              <a:ext uri="{FF2B5EF4-FFF2-40B4-BE49-F238E27FC236}">
                <a16:creationId xmlns:a16="http://schemas.microsoft.com/office/drawing/2014/main" id="{EDF1A222-7D19-1007-B3BB-179CFC056497}"/>
              </a:ext>
            </a:extLst>
          </p:cNvPr>
          <p:cNvSpPr txBox="1"/>
          <p:nvPr/>
        </p:nvSpPr>
        <p:spPr>
          <a:xfrm>
            <a:off x="2784559" y="1811900"/>
            <a:ext cx="3574889" cy="369332"/>
          </a:xfrm>
          <a:prstGeom prst="rect">
            <a:avLst/>
          </a:prstGeom>
          <a:noFill/>
        </p:spPr>
        <p:txBody>
          <a:bodyPr wrap="none" rtlCol="0">
            <a:spAutoFit/>
          </a:bodyPr>
          <a:lstStyle/>
          <a:p>
            <a:pPr algn="ctr"/>
            <a:r>
              <a:rPr lang="en-US"/>
              <a:t>We consider only Belief Propagation</a:t>
            </a:r>
            <a:endParaRPr lang="LID4096"/>
          </a:p>
        </p:txBody>
      </p:sp>
      <p:sp>
        <p:nvSpPr>
          <p:cNvPr id="6" name="TextBox 5">
            <a:extLst>
              <a:ext uri="{FF2B5EF4-FFF2-40B4-BE49-F238E27FC236}">
                <a16:creationId xmlns:a16="http://schemas.microsoft.com/office/drawing/2014/main" id="{52A24520-CC84-A0A4-5F4C-9EF5C6DEB1A6}"/>
              </a:ext>
            </a:extLst>
          </p:cNvPr>
          <p:cNvSpPr txBox="1"/>
          <p:nvPr/>
        </p:nvSpPr>
        <p:spPr>
          <a:xfrm>
            <a:off x="2866256" y="2295332"/>
            <a:ext cx="3411511" cy="369332"/>
          </a:xfrm>
          <a:prstGeom prst="rect">
            <a:avLst/>
          </a:prstGeom>
          <a:noFill/>
        </p:spPr>
        <p:txBody>
          <a:bodyPr wrap="none" rtlCol="0">
            <a:spAutoFit/>
          </a:bodyPr>
          <a:lstStyle/>
          <a:p>
            <a:pPr algn="ctr"/>
            <a:r>
              <a:rPr lang="en-US"/>
              <a:t>aka Sum-Product message-passing</a:t>
            </a:r>
            <a:endParaRPr lang="LID4096"/>
          </a:p>
        </p:txBody>
      </p:sp>
      <p:sp>
        <p:nvSpPr>
          <p:cNvPr id="7" name="TextBox 6">
            <a:extLst>
              <a:ext uri="{FF2B5EF4-FFF2-40B4-BE49-F238E27FC236}">
                <a16:creationId xmlns:a16="http://schemas.microsoft.com/office/drawing/2014/main" id="{781237C5-D96A-80A1-CCB3-227E5CA5C54E}"/>
              </a:ext>
            </a:extLst>
          </p:cNvPr>
          <p:cNvSpPr txBox="1"/>
          <p:nvPr/>
        </p:nvSpPr>
        <p:spPr>
          <a:xfrm>
            <a:off x="3907202" y="2778764"/>
            <a:ext cx="1329596" cy="369332"/>
          </a:xfrm>
          <a:prstGeom prst="rect">
            <a:avLst/>
          </a:prstGeom>
          <a:noFill/>
        </p:spPr>
        <p:txBody>
          <a:bodyPr wrap="none" rtlCol="0">
            <a:spAutoFit/>
          </a:bodyPr>
          <a:lstStyle/>
          <a:p>
            <a:pPr algn="ctr"/>
            <a:r>
              <a:rPr lang="en-US"/>
              <a:t>Three steps:</a:t>
            </a:r>
            <a:endParaRPr lang="LID4096"/>
          </a:p>
        </p:txBody>
      </p:sp>
      <p:sp>
        <p:nvSpPr>
          <p:cNvPr id="8" name="TextBox 7">
            <a:extLst>
              <a:ext uri="{FF2B5EF4-FFF2-40B4-BE49-F238E27FC236}">
                <a16:creationId xmlns:a16="http://schemas.microsoft.com/office/drawing/2014/main" id="{1F357271-63A4-DFB8-3FA1-ABBC3509F147}"/>
              </a:ext>
            </a:extLst>
          </p:cNvPr>
          <p:cNvSpPr txBox="1"/>
          <p:nvPr/>
        </p:nvSpPr>
        <p:spPr>
          <a:xfrm>
            <a:off x="3866679" y="3262196"/>
            <a:ext cx="1410643" cy="369332"/>
          </a:xfrm>
          <a:prstGeom prst="rect">
            <a:avLst/>
          </a:prstGeom>
          <a:noFill/>
        </p:spPr>
        <p:txBody>
          <a:bodyPr wrap="none" rtlCol="0">
            <a:spAutoFit/>
          </a:bodyPr>
          <a:lstStyle/>
          <a:p>
            <a:pPr algn="ctr"/>
            <a:r>
              <a:rPr lang="en-US"/>
              <a:t>(1) Messages</a:t>
            </a:r>
            <a:endParaRPr lang="LID4096"/>
          </a:p>
        </p:txBody>
      </p:sp>
      <p:sp>
        <p:nvSpPr>
          <p:cNvPr id="9" name="TextBox 8">
            <a:extLst>
              <a:ext uri="{FF2B5EF4-FFF2-40B4-BE49-F238E27FC236}">
                <a16:creationId xmlns:a16="http://schemas.microsoft.com/office/drawing/2014/main" id="{15957353-9D34-62CA-4160-71DE31C158C8}"/>
              </a:ext>
            </a:extLst>
          </p:cNvPr>
          <p:cNvSpPr txBox="1"/>
          <p:nvPr/>
        </p:nvSpPr>
        <p:spPr>
          <a:xfrm>
            <a:off x="3911660" y="3745628"/>
            <a:ext cx="1320683" cy="369332"/>
          </a:xfrm>
          <a:prstGeom prst="rect">
            <a:avLst/>
          </a:prstGeom>
          <a:noFill/>
        </p:spPr>
        <p:txBody>
          <a:bodyPr wrap="none" rtlCol="0">
            <a:spAutoFit/>
          </a:bodyPr>
          <a:lstStyle/>
          <a:p>
            <a:pPr algn="ctr"/>
            <a:r>
              <a:rPr lang="en-US"/>
              <a:t>(2) Products</a:t>
            </a:r>
            <a:endParaRPr lang="LID4096"/>
          </a:p>
        </p:txBody>
      </p:sp>
      <p:sp>
        <p:nvSpPr>
          <p:cNvPr id="10" name="TextBox 9">
            <a:extLst>
              <a:ext uri="{FF2B5EF4-FFF2-40B4-BE49-F238E27FC236}">
                <a16:creationId xmlns:a16="http://schemas.microsoft.com/office/drawing/2014/main" id="{07F5F80E-B660-564F-8C67-41BF00EFA072}"/>
              </a:ext>
            </a:extLst>
          </p:cNvPr>
          <p:cNvSpPr txBox="1"/>
          <p:nvPr/>
        </p:nvSpPr>
        <p:spPr>
          <a:xfrm>
            <a:off x="3921694" y="4229062"/>
            <a:ext cx="1300612" cy="369332"/>
          </a:xfrm>
          <a:prstGeom prst="rect">
            <a:avLst/>
          </a:prstGeom>
          <a:noFill/>
        </p:spPr>
        <p:txBody>
          <a:bodyPr wrap="none" rtlCol="0">
            <a:spAutoFit/>
          </a:bodyPr>
          <a:lstStyle/>
          <a:p>
            <a:pPr algn="ctr"/>
            <a:r>
              <a:rPr lang="en-US"/>
              <a:t>(3) Iteration</a:t>
            </a:r>
            <a:endParaRPr lang="LID4096"/>
          </a:p>
        </p:txBody>
      </p:sp>
    </p:spTree>
    <p:extLst>
      <p:ext uri="{BB962C8B-B14F-4D97-AF65-F5344CB8AC3E}">
        <p14:creationId xmlns:p14="http://schemas.microsoft.com/office/powerpoint/2010/main" val="3735694397"/>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P spid="8" grpId="0"/>
      <p:bldP spid="9" grpId="0"/>
      <p:bldP spid="10"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30D46-AC13-98EF-10FC-EE6F0EAF8A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EB25C1-533E-F35F-4D4C-4661A063F159}"/>
              </a:ext>
            </a:extLst>
          </p:cNvPr>
          <p:cNvSpPr>
            <a:spLocks noGrp="1"/>
          </p:cNvSpPr>
          <p:nvPr>
            <p:ph type="title"/>
          </p:nvPr>
        </p:nvSpPr>
        <p:spPr/>
        <p:txBody>
          <a:bodyPr/>
          <a:lstStyle/>
          <a:p>
            <a:r>
              <a:rPr lang="en-US"/>
              <a:t>Message-passing approach: Belief-propagation </a:t>
            </a:r>
            <a:endParaRPr lang="LID4096"/>
          </a:p>
        </p:txBody>
      </p:sp>
      <p:sp>
        <p:nvSpPr>
          <p:cNvPr id="4" name="TextBox 3">
            <a:extLst>
              <a:ext uri="{FF2B5EF4-FFF2-40B4-BE49-F238E27FC236}">
                <a16:creationId xmlns:a16="http://schemas.microsoft.com/office/drawing/2014/main" id="{F340E0A0-B5EB-7826-0392-978E6B91F0C5}"/>
              </a:ext>
            </a:extLst>
          </p:cNvPr>
          <p:cNvSpPr txBox="1"/>
          <p:nvPr/>
        </p:nvSpPr>
        <p:spPr>
          <a:xfrm>
            <a:off x="3866679" y="1328468"/>
            <a:ext cx="1410643" cy="369332"/>
          </a:xfrm>
          <a:prstGeom prst="rect">
            <a:avLst/>
          </a:prstGeom>
          <a:noFill/>
        </p:spPr>
        <p:txBody>
          <a:bodyPr wrap="none" rtlCol="0">
            <a:spAutoFit/>
          </a:bodyPr>
          <a:lstStyle/>
          <a:p>
            <a:pPr algn="ctr"/>
            <a:r>
              <a:rPr lang="en-US"/>
              <a:t>(1) Messages</a:t>
            </a:r>
            <a:endParaRPr lang="LID4096"/>
          </a:p>
        </p:txBody>
      </p:sp>
      <p:pic>
        <p:nvPicPr>
          <p:cNvPr id="17" name="Graphic 16">
            <a:extLst>
              <a:ext uri="{FF2B5EF4-FFF2-40B4-BE49-F238E27FC236}">
                <a16:creationId xmlns:a16="http://schemas.microsoft.com/office/drawing/2014/main" id="{9F794947-E8D1-5882-914B-52E1365B5DA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00250" y="1709737"/>
            <a:ext cx="5143500" cy="1724025"/>
          </a:xfrm>
          <a:prstGeom prst="rect">
            <a:avLst/>
          </a:prstGeom>
        </p:spPr>
      </p:pic>
      <p:sp>
        <p:nvSpPr>
          <p:cNvPr id="18" name="Rectangle 17">
            <a:extLst>
              <a:ext uri="{FF2B5EF4-FFF2-40B4-BE49-F238E27FC236}">
                <a16:creationId xmlns:a16="http://schemas.microsoft.com/office/drawing/2014/main" id="{1CE01EFF-469D-DEC7-B1C2-79A185635210}"/>
              </a:ext>
            </a:extLst>
          </p:cNvPr>
          <p:cNvSpPr/>
          <p:nvPr/>
        </p:nvSpPr>
        <p:spPr>
          <a:xfrm>
            <a:off x="3866679" y="2673350"/>
            <a:ext cx="3213571" cy="609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9" name="Rectangle 18">
            <a:extLst>
              <a:ext uri="{FF2B5EF4-FFF2-40B4-BE49-F238E27FC236}">
                <a16:creationId xmlns:a16="http://schemas.microsoft.com/office/drawing/2014/main" id="{B127A54E-58EB-F0F9-53E8-972BBB5E42D2}"/>
              </a:ext>
            </a:extLst>
          </p:cNvPr>
          <p:cNvSpPr/>
          <p:nvPr/>
        </p:nvSpPr>
        <p:spPr>
          <a:xfrm>
            <a:off x="4044950" y="2398712"/>
            <a:ext cx="914400" cy="3635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0" name="Rectangle 19">
            <a:extLst>
              <a:ext uri="{FF2B5EF4-FFF2-40B4-BE49-F238E27FC236}">
                <a16:creationId xmlns:a16="http://schemas.microsoft.com/office/drawing/2014/main" id="{C379A26B-CCD4-9D38-9C0C-39005DC78B46}"/>
              </a:ext>
            </a:extLst>
          </p:cNvPr>
          <p:cNvSpPr/>
          <p:nvPr/>
        </p:nvSpPr>
        <p:spPr>
          <a:xfrm rot="19773182">
            <a:off x="2817093" y="2742377"/>
            <a:ext cx="474230" cy="28104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1" name="Rectangle 20">
            <a:extLst>
              <a:ext uri="{FF2B5EF4-FFF2-40B4-BE49-F238E27FC236}">
                <a16:creationId xmlns:a16="http://schemas.microsoft.com/office/drawing/2014/main" id="{E3FD77A3-E5DD-438E-796D-85752276CD84}"/>
              </a:ext>
            </a:extLst>
          </p:cNvPr>
          <p:cNvSpPr/>
          <p:nvPr/>
        </p:nvSpPr>
        <p:spPr>
          <a:xfrm rot="1689772">
            <a:off x="2742912" y="1668737"/>
            <a:ext cx="609306" cy="305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2" name="TextBox 21">
            <a:extLst>
              <a:ext uri="{FF2B5EF4-FFF2-40B4-BE49-F238E27FC236}">
                <a16:creationId xmlns:a16="http://schemas.microsoft.com/office/drawing/2014/main" id="{D6618E3A-CA32-0A30-6B6A-56DC5D926B8C}"/>
              </a:ext>
            </a:extLst>
          </p:cNvPr>
          <p:cNvSpPr txBox="1"/>
          <p:nvPr/>
        </p:nvSpPr>
        <p:spPr>
          <a:xfrm>
            <a:off x="889000" y="3600449"/>
            <a:ext cx="2005036" cy="369332"/>
          </a:xfrm>
          <a:prstGeom prst="rect">
            <a:avLst/>
          </a:prstGeom>
          <a:noFill/>
        </p:spPr>
        <p:txBody>
          <a:bodyPr wrap="none" rtlCol="0">
            <a:spAutoFit/>
          </a:bodyPr>
          <a:lstStyle/>
          <a:p>
            <a:r>
              <a:rPr lang="en-US"/>
              <a:t>Incoming messages</a:t>
            </a:r>
            <a:endParaRPr lang="LID4096"/>
          </a:p>
        </p:txBody>
      </p:sp>
      <p:cxnSp>
        <p:nvCxnSpPr>
          <p:cNvPr id="24" name="Connector: Elbow 23">
            <a:extLst>
              <a:ext uri="{FF2B5EF4-FFF2-40B4-BE49-F238E27FC236}">
                <a16:creationId xmlns:a16="http://schemas.microsoft.com/office/drawing/2014/main" id="{DCA3C32C-DAF1-A68F-291F-1A2C88E58577}"/>
              </a:ext>
            </a:extLst>
          </p:cNvPr>
          <p:cNvCxnSpPr>
            <a:stCxn id="22" idx="3"/>
          </p:cNvCxnSpPr>
          <p:nvPr/>
        </p:nvCxnSpPr>
        <p:spPr>
          <a:xfrm flipV="1">
            <a:off x="2894036" y="3117850"/>
            <a:ext cx="198414" cy="66726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571F5DC3-AF96-7D72-2306-8B7A666B5DF6}"/>
                  </a:ext>
                </a:extLst>
              </p:cNvPr>
              <p:cNvSpPr txBox="1"/>
              <p:nvPr/>
            </p:nvSpPr>
            <p:spPr>
              <a:xfrm>
                <a:off x="4502825" y="3231117"/>
                <a:ext cx="2418675" cy="369332"/>
              </a:xfrm>
              <a:prstGeom prst="rect">
                <a:avLst/>
              </a:prstGeom>
              <a:noFill/>
            </p:spPr>
            <p:txBody>
              <a:bodyPr wrap="none" rtlCol="0">
                <a:spAutoFit/>
              </a:bodyPr>
              <a:lstStyle/>
              <a:p>
                <a:r>
                  <a:rPr lang="en-US"/>
                  <a:t>BP message from </a:t>
                </a:r>
                <a14:m>
                  <m:oMath xmlns:m="http://schemas.openxmlformats.org/officeDocument/2006/math">
                    <m:r>
                      <a:rPr lang="en-US" i="1" dirty="0" smtClean="0">
                        <a:latin typeface="Cambria Math" panose="02040503050406030204" pitchFamily="18" charset="0"/>
                      </a:rPr>
                      <m:t>𝑓</m:t>
                    </m:r>
                  </m:oMath>
                </a14:m>
                <a:r>
                  <a:rPr lang="en-US"/>
                  <a:t> to </a:t>
                </a:r>
                <a14:m>
                  <m:oMath xmlns:m="http://schemas.openxmlformats.org/officeDocument/2006/math">
                    <m:r>
                      <a:rPr lang="en-US" i="1" dirty="0" smtClean="0">
                        <a:latin typeface="Cambria Math" panose="02040503050406030204" pitchFamily="18" charset="0"/>
                      </a:rPr>
                      <m:t>𝑥</m:t>
                    </m:r>
                  </m:oMath>
                </a14:m>
                <a:endParaRPr lang="LID4096"/>
              </a:p>
            </p:txBody>
          </p:sp>
        </mc:Choice>
        <mc:Fallback xmlns="">
          <p:sp>
            <p:nvSpPr>
              <p:cNvPr id="25" name="TextBox 24">
                <a:extLst>
                  <a:ext uri="{FF2B5EF4-FFF2-40B4-BE49-F238E27FC236}">
                    <a16:creationId xmlns:a16="http://schemas.microsoft.com/office/drawing/2014/main" id="{571F5DC3-AF96-7D72-2306-8B7A666B5DF6}"/>
                  </a:ext>
                </a:extLst>
              </p:cNvPr>
              <p:cNvSpPr txBox="1">
                <a:spLocks noRot="1" noChangeAspect="1" noMove="1" noResize="1" noEditPoints="1" noAdjustHandles="1" noChangeArrowheads="1" noChangeShapeType="1" noTextEdit="1"/>
              </p:cNvSpPr>
              <p:nvPr/>
            </p:nvSpPr>
            <p:spPr>
              <a:xfrm>
                <a:off x="4502825" y="3231117"/>
                <a:ext cx="2418675" cy="369332"/>
              </a:xfrm>
              <a:prstGeom prst="rect">
                <a:avLst/>
              </a:prstGeom>
              <a:blipFill>
                <a:blip r:embed="rId4"/>
                <a:stretch>
                  <a:fillRect l="-2273" t="-8197" b="-24590"/>
                </a:stretch>
              </a:blipFill>
            </p:spPr>
            <p:txBody>
              <a:bodyPr/>
              <a:lstStyle/>
              <a:p>
                <a:r>
                  <a:rPr lang="en-US">
                    <a:noFill/>
                  </a:rPr>
                  <a:t> </a:t>
                </a:r>
              </a:p>
            </p:txBody>
          </p:sp>
        </mc:Fallback>
      </mc:AlternateContent>
      <p:cxnSp>
        <p:nvCxnSpPr>
          <p:cNvPr id="29" name="Connector: Elbow 28">
            <a:extLst>
              <a:ext uri="{FF2B5EF4-FFF2-40B4-BE49-F238E27FC236}">
                <a16:creationId xmlns:a16="http://schemas.microsoft.com/office/drawing/2014/main" id="{B45F1E48-9D0B-3DC4-52C8-33A57D02C3DE}"/>
              </a:ext>
            </a:extLst>
          </p:cNvPr>
          <p:cNvCxnSpPr>
            <a:cxnSpLocks/>
            <a:stCxn id="25" idx="1"/>
          </p:cNvCxnSpPr>
          <p:nvPr/>
        </p:nvCxnSpPr>
        <p:spPr>
          <a:xfrm rot="10800000">
            <a:off x="4343401" y="2679701"/>
            <a:ext cx="159425" cy="736083"/>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F7E81C4-4C64-6AD3-B863-1589F839A3C1}"/>
                  </a:ext>
                </a:extLst>
              </p:cNvPr>
              <p:cNvSpPr txBox="1"/>
              <p:nvPr/>
            </p:nvSpPr>
            <p:spPr>
              <a:xfrm>
                <a:off x="3986236" y="3296004"/>
                <a:ext cx="4674806" cy="923330"/>
              </a:xfrm>
              <a:prstGeom prst="rect">
                <a:avLst/>
              </a:prstGeom>
              <a:noFill/>
            </p:spPr>
            <p:txBody>
              <a:bodyPr wrap="none" rtlCol="0">
                <a:spAutoFit/>
              </a:bodyPr>
              <a:lstStyle/>
              <a:p>
                <a:r>
                  <a:rPr lang="en-US"/>
                  <a:t>Integral of</a:t>
                </a:r>
              </a:p>
              <a:p>
                <a:r>
                  <a:rPr lang="en-US"/>
                  <a:t>product of factor and other incoming messages,</a:t>
                </a:r>
              </a:p>
              <a:p>
                <a:r>
                  <a:rPr lang="en-US"/>
                  <a:t>over the other variables of </a:t>
                </a:r>
                <a14:m>
                  <m:oMath xmlns:m="http://schemas.openxmlformats.org/officeDocument/2006/math">
                    <m:r>
                      <a:rPr lang="en-US" b="0" i="1" smtClean="0">
                        <a:latin typeface="Cambria Math" panose="02040503050406030204" pitchFamily="18" charset="0"/>
                      </a:rPr>
                      <m:t>𝑓</m:t>
                    </m:r>
                  </m:oMath>
                </a14:m>
                <a:endParaRPr lang="LID4096" i="1"/>
              </a:p>
            </p:txBody>
          </p:sp>
        </mc:Choice>
        <mc:Fallback xmlns="">
          <p:sp>
            <p:nvSpPr>
              <p:cNvPr id="30" name="TextBox 29">
                <a:extLst>
                  <a:ext uri="{FF2B5EF4-FFF2-40B4-BE49-F238E27FC236}">
                    <a16:creationId xmlns:a16="http://schemas.microsoft.com/office/drawing/2014/main" id="{AF7E81C4-4C64-6AD3-B863-1589F839A3C1}"/>
                  </a:ext>
                </a:extLst>
              </p:cNvPr>
              <p:cNvSpPr txBox="1">
                <a:spLocks noRot="1" noChangeAspect="1" noMove="1" noResize="1" noEditPoints="1" noAdjustHandles="1" noChangeArrowheads="1" noChangeShapeType="1" noTextEdit="1"/>
              </p:cNvSpPr>
              <p:nvPr/>
            </p:nvSpPr>
            <p:spPr>
              <a:xfrm>
                <a:off x="3986236" y="3296004"/>
                <a:ext cx="4674806" cy="923330"/>
              </a:xfrm>
              <a:prstGeom prst="rect">
                <a:avLst/>
              </a:prstGeom>
              <a:blipFill>
                <a:blip r:embed="rId5"/>
                <a:stretch>
                  <a:fillRect l="-1173" t="-3974" r="-391" b="-9934"/>
                </a:stretch>
              </a:blipFill>
            </p:spPr>
            <p:txBody>
              <a:bodyPr/>
              <a:lstStyle/>
              <a:p>
                <a:r>
                  <a:rPr lang="en-US">
                    <a:noFill/>
                  </a:rPr>
                  <a:t> </a:t>
                </a:r>
              </a:p>
            </p:txBody>
          </p:sp>
        </mc:Fallback>
      </mc:AlternateContent>
    </p:spTree>
    <p:extLst>
      <p:ext uri="{BB962C8B-B14F-4D97-AF65-F5344CB8AC3E}">
        <p14:creationId xmlns:p14="http://schemas.microsoft.com/office/powerpoint/2010/main" val="2122322853"/>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xit"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xit" presetSubtype="0" fill="hold" grpId="1" nodeType="withEffect">
                                  <p:stCondLst>
                                    <p:cond delay="0"/>
                                  </p:stCondLst>
                                  <p:childTnLst>
                                    <p:set>
                                      <p:cBhvr>
                                        <p:cTn id="20" dur="1" fill="hold">
                                          <p:stCondLst>
                                            <p:cond delay="0"/>
                                          </p:stCondLst>
                                        </p:cTn>
                                        <p:tgtEl>
                                          <p:spTgt spid="22"/>
                                        </p:tgtEl>
                                        <p:attrNameLst>
                                          <p:attrName>style.visibility</p:attrName>
                                        </p:attrNameLst>
                                      </p:cBhvr>
                                      <p:to>
                                        <p:strVal val="hidden"/>
                                      </p:to>
                                    </p:set>
                                  </p:childTnLst>
                                </p:cTn>
                              </p:par>
                              <p:par>
                                <p:cTn id="21" presetID="1" presetClass="exit" presetSubtype="0" fill="hold" nodeType="withEffect">
                                  <p:stCondLst>
                                    <p:cond delay="0"/>
                                  </p:stCondLst>
                                  <p:childTnLst>
                                    <p:set>
                                      <p:cBhvr>
                                        <p:cTn id="22" dur="1" fill="hold">
                                          <p:stCondLst>
                                            <p:cond delay="0"/>
                                          </p:stCondLst>
                                        </p:cTn>
                                        <p:tgtEl>
                                          <p:spTgt spid="24"/>
                                        </p:tgtEl>
                                        <p:attrNameLst>
                                          <p:attrName>style.visibility</p:attrName>
                                        </p:attrNameLst>
                                      </p:cBhvr>
                                      <p:to>
                                        <p:strVal val="hidden"/>
                                      </p:to>
                                    </p:set>
                                  </p:childTnLst>
                                </p:cTn>
                              </p:par>
                              <p:par>
                                <p:cTn id="23" presetID="1" presetClass="exit"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0" nodeType="clickEffect">
                                  <p:stCondLst>
                                    <p:cond delay="0"/>
                                  </p:stCondLst>
                                  <p:childTnLst>
                                    <p:set>
                                      <p:cBhvr>
                                        <p:cTn id="28" dur="1" fill="hold">
                                          <p:stCondLst>
                                            <p:cond delay="0"/>
                                          </p:stCondLst>
                                        </p:cTn>
                                        <p:tgtEl>
                                          <p:spTgt spid="18"/>
                                        </p:tgtEl>
                                        <p:attrNameLst>
                                          <p:attrName>style.visibility</p:attrName>
                                        </p:attrNameLst>
                                      </p:cBhvr>
                                      <p:to>
                                        <p:strVal val="hidden"/>
                                      </p:to>
                                    </p:set>
                                  </p:childTnLst>
                                </p:cTn>
                              </p:par>
                              <p:par>
                                <p:cTn id="29" presetID="1" presetClass="exit" presetSubtype="0" fill="hold" grpId="1" nodeType="withEffect">
                                  <p:stCondLst>
                                    <p:cond delay="0"/>
                                  </p:stCondLst>
                                  <p:childTnLst>
                                    <p:set>
                                      <p:cBhvr>
                                        <p:cTn id="30" dur="1" fill="hold">
                                          <p:stCondLst>
                                            <p:cond delay="0"/>
                                          </p:stCondLst>
                                        </p:cTn>
                                        <p:tgtEl>
                                          <p:spTgt spid="25"/>
                                        </p:tgtEl>
                                        <p:attrNameLst>
                                          <p:attrName>style.visibility</p:attrName>
                                        </p:attrNameLst>
                                      </p:cBhvr>
                                      <p:to>
                                        <p:strVal val="hidden"/>
                                      </p:to>
                                    </p:set>
                                  </p:childTnLst>
                                </p:cTn>
                              </p:par>
                              <p:par>
                                <p:cTn id="31" presetID="1" presetClass="exit" presetSubtype="0" fill="hold" nodeType="withEffect">
                                  <p:stCondLst>
                                    <p:cond delay="0"/>
                                  </p:stCondLst>
                                  <p:childTnLst>
                                    <p:set>
                                      <p:cBhvr>
                                        <p:cTn id="32" dur="1" fill="hold">
                                          <p:stCondLst>
                                            <p:cond delay="0"/>
                                          </p:stCondLst>
                                        </p:cTn>
                                        <p:tgtEl>
                                          <p:spTgt spid="29"/>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0">
                                            <p:txEl>
                                              <p:pRg st="0" end="0"/>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0">
                                            <p:txEl>
                                              <p:pRg st="1" end="1"/>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30">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p:bldP spid="22" grpId="1"/>
      <p:bldP spid="25" grpId="0"/>
      <p:bldP spid="25" grpId="1"/>
      <p:bldP spid="30" grpId="0" build="p" bldLvl="5"/>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2F3A01-1ADD-EBF1-A162-8B4ED48A09FA}"/>
            </a:ext>
          </a:extLst>
        </p:cNvPr>
        <p:cNvGrpSpPr/>
        <p:nvPr/>
      </p:nvGrpSpPr>
      <p:grpSpPr>
        <a:xfrm>
          <a:off x="0" y="0"/>
          <a:ext cx="0" cy="0"/>
          <a:chOff x="0" y="0"/>
          <a:chExt cx="0" cy="0"/>
        </a:xfrm>
      </p:grpSpPr>
      <p:pic>
        <p:nvPicPr>
          <p:cNvPr id="15" name="Graphic 14">
            <a:extLst>
              <a:ext uri="{FF2B5EF4-FFF2-40B4-BE49-F238E27FC236}">
                <a16:creationId xmlns:a16="http://schemas.microsoft.com/office/drawing/2014/main" id="{326E34EA-BC6B-E238-D3B8-4B35C05EB07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814965" y="1814512"/>
            <a:ext cx="5048250" cy="1514475"/>
          </a:xfrm>
          <a:prstGeom prst="rect">
            <a:avLst/>
          </a:prstGeom>
        </p:spPr>
      </p:pic>
      <p:sp>
        <p:nvSpPr>
          <p:cNvPr id="2" name="Title 1">
            <a:extLst>
              <a:ext uri="{FF2B5EF4-FFF2-40B4-BE49-F238E27FC236}">
                <a16:creationId xmlns:a16="http://schemas.microsoft.com/office/drawing/2014/main" id="{F3F2DEB8-1DE9-91FA-A831-B5A592DAA699}"/>
              </a:ext>
            </a:extLst>
          </p:cNvPr>
          <p:cNvSpPr>
            <a:spLocks noGrp="1"/>
          </p:cNvSpPr>
          <p:nvPr>
            <p:ph type="title"/>
          </p:nvPr>
        </p:nvSpPr>
        <p:spPr/>
        <p:txBody>
          <a:bodyPr/>
          <a:lstStyle/>
          <a:p>
            <a:r>
              <a:rPr lang="en-US"/>
              <a:t>Message-passing approach: Belief-propagation </a:t>
            </a:r>
            <a:endParaRPr lang="LID4096"/>
          </a:p>
        </p:txBody>
      </p:sp>
      <p:sp>
        <p:nvSpPr>
          <p:cNvPr id="4" name="TextBox 3">
            <a:extLst>
              <a:ext uri="{FF2B5EF4-FFF2-40B4-BE49-F238E27FC236}">
                <a16:creationId xmlns:a16="http://schemas.microsoft.com/office/drawing/2014/main" id="{4B5D81EA-44F7-4021-886A-5C4369BFCC5A}"/>
              </a:ext>
            </a:extLst>
          </p:cNvPr>
          <p:cNvSpPr txBox="1"/>
          <p:nvPr/>
        </p:nvSpPr>
        <p:spPr>
          <a:xfrm>
            <a:off x="3911661" y="1328468"/>
            <a:ext cx="1320683" cy="369332"/>
          </a:xfrm>
          <a:prstGeom prst="rect">
            <a:avLst/>
          </a:prstGeom>
          <a:noFill/>
        </p:spPr>
        <p:txBody>
          <a:bodyPr wrap="none" rtlCol="0">
            <a:spAutoFit/>
          </a:bodyPr>
          <a:lstStyle/>
          <a:p>
            <a:pPr algn="ctr"/>
            <a:r>
              <a:rPr lang="en-US"/>
              <a:t>(2) Products</a:t>
            </a:r>
            <a:endParaRPr lang="LID4096"/>
          </a:p>
        </p:txBody>
      </p:sp>
      <p:sp>
        <p:nvSpPr>
          <p:cNvPr id="9" name="Rectangle 8">
            <a:extLst>
              <a:ext uri="{FF2B5EF4-FFF2-40B4-BE49-F238E27FC236}">
                <a16:creationId xmlns:a16="http://schemas.microsoft.com/office/drawing/2014/main" id="{F87EEB67-0A8E-F006-2B76-1BCA5F882EC8}"/>
              </a:ext>
            </a:extLst>
          </p:cNvPr>
          <p:cNvSpPr/>
          <p:nvPr/>
        </p:nvSpPr>
        <p:spPr>
          <a:xfrm>
            <a:off x="3460279" y="2836100"/>
            <a:ext cx="3213571" cy="609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 name="Rectangle 10">
            <a:extLst>
              <a:ext uri="{FF2B5EF4-FFF2-40B4-BE49-F238E27FC236}">
                <a16:creationId xmlns:a16="http://schemas.microsoft.com/office/drawing/2014/main" id="{46ACBD73-12D6-FAEB-4669-7552D647370F}"/>
              </a:ext>
            </a:extLst>
          </p:cNvPr>
          <p:cNvSpPr/>
          <p:nvPr/>
        </p:nvSpPr>
        <p:spPr>
          <a:xfrm>
            <a:off x="3848100" y="2520156"/>
            <a:ext cx="581025" cy="3635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685A5C9-5F86-A019-7A3F-502E2AB56E8F}"/>
                  </a:ext>
                </a:extLst>
              </p:cNvPr>
              <p:cNvSpPr txBox="1"/>
              <p:nvPr/>
            </p:nvSpPr>
            <p:spPr>
              <a:xfrm>
                <a:off x="4723487" y="3275567"/>
                <a:ext cx="3505640" cy="404791"/>
              </a:xfrm>
              <a:prstGeom prst="rect">
                <a:avLst/>
              </a:prstGeom>
              <a:noFill/>
            </p:spPr>
            <p:txBody>
              <a:bodyPr wrap="none" rtlCol="0">
                <a:spAutoFit/>
              </a:bodyPr>
              <a:lstStyle/>
              <a:p>
                <a:r>
                  <a:rPr lang="en-US"/>
                  <a:t>Marginal for </a:t>
                </a:r>
                <a14:m>
                  <m:oMath xmlns:m="http://schemas.openxmlformats.org/officeDocument/2006/math">
                    <m:r>
                      <a:rPr lang="en-US" b="0" i="1" smtClean="0">
                        <a:latin typeface="Cambria Math" panose="02040503050406030204" pitchFamily="18" charset="0"/>
                      </a:rPr>
                      <m:t>𝑥</m:t>
                    </m:r>
                  </m:oMath>
                </a14:m>
                <a:r>
                  <a:rPr lang="en-US"/>
                  <a:t> at iteration </a:t>
                </a:r>
                <a14:m>
                  <m:oMath xmlns:m="http://schemas.openxmlformats.org/officeDocument/2006/math">
                    <m:r>
                      <a:rPr lang="en-US" b="0" i="1" smtClean="0">
                        <a:latin typeface="Cambria Math" panose="02040503050406030204" pitchFamily="18" charset="0"/>
                      </a:rPr>
                      <m:t>𝑘</m:t>
                    </m:r>
                  </m:oMath>
                </a14:m>
                <a:r>
                  <a:rPr lang="en-US"/>
                  <a:t>,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𝑞</m:t>
                        </m:r>
                      </m:e>
                      <m:sub/>
                      <m:sup>
                        <m:r>
                          <a:rPr lang="en-US" b="0" i="1" smtClean="0">
                            <a:latin typeface="Cambria Math" panose="02040503050406030204" pitchFamily="18" charset="0"/>
                          </a:rPr>
                          <m:t>𝑘</m:t>
                        </m:r>
                      </m:sup>
                    </m:sSubSup>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oMath>
                </a14:m>
                <a:endParaRPr lang="LID4096"/>
              </a:p>
            </p:txBody>
          </p:sp>
        </mc:Choice>
        <mc:Fallback xmlns="">
          <p:sp>
            <p:nvSpPr>
              <p:cNvPr id="12" name="TextBox 11">
                <a:extLst>
                  <a:ext uri="{FF2B5EF4-FFF2-40B4-BE49-F238E27FC236}">
                    <a16:creationId xmlns:a16="http://schemas.microsoft.com/office/drawing/2014/main" id="{7685A5C9-5F86-A019-7A3F-502E2AB56E8F}"/>
                  </a:ext>
                </a:extLst>
              </p:cNvPr>
              <p:cNvSpPr txBox="1">
                <a:spLocks noRot="1" noChangeAspect="1" noMove="1" noResize="1" noEditPoints="1" noAdjustHandles="1" noChangeArrowheads="1" noChangeShapeType="1" noTextEdit="1"/>
              </p:cNvSpPr>
              <p:nvPr/>
            </p:nvSpPr>
            <p:spPr>
              <a:xfrm>
                <a:off x="4723487" y="3275567"/>
                <a:ext cx="3505640" cy="404791"/>
              </a:xfrm>
              <a:prstGeom prst="rect">
                <a:avLst/>
              </a:prstGeom>
              <a:blipFill>
                <a:blip r:embed="rId4"/>
                <a:stretch>
                  <a:fillRect l="-1565" b="-20896"/>
                </a:stretch>
              </a:blipFill>
            </p:spPr>
            <p:txBody>
              <a:bodyPr/>
              <a:lstStyle/>
              <a:p>
                <a:r>
                  <a:rPr lang="en-US">
                    <a:noFill/>
                  </a:rPr>
                  <a:t> </a:t>
                </a:r>
              </a:p>
            </p:txBody>
          </p:sp>
        </mc:Fallback>
      </mc:AlternateContent>
      <p:cxnSp>
        <p:nvCxnSpPr>
          <p:cNvPr id="13" name="Connector: Elbow 12">
            <a:extLst>
              <a:ext uri="{FF2B5EF4-FFF2-40B4-BE49-F238E27FC236}">
                <a16:creationId xmlns:a16="http://schemas.microsoft.com/office/drawing/2014/main" id="{6B9F6B5D-835B-E264-3BDE-2660F0CEE12C}"/>
              </a:ext>
            </a:extLst>
          </p:cNvPr>
          <p:cNvCxnSpPr>
            <a:cxnSpLocks/>
            <a:stCxn id="12" idx="1"/>
          </p:cNvCxnSpPr>
          <p:nvPr/>
        </p:nvCxnSpPr>
        <p:spPr>
          <a:xfrm rot="10800000">
            <a:off x="4564163" y="2724241"/>
            <a:ext cx="159325" cy="753723"/>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A65A1F1-3AB4-C5BC-BC4D-BA94A03CA022}"/>
                  </a:ext>
                </a:extLst>
              </p:cNvPr>
              <p:cNvSpPr txBox="1"/>
              <p:nvPr/>
            </p:nvSpPr>
            <p:spPr>
              <a:xfrm>
                <a:off x="4736150" y="3664266"/>
                <a:ext cx="3570401" cy="369332"/>
              </a:xfrm>
              <a:prstGeom prst="rect">
                <a:avLst/>
              </a:prstGeom>
              <a:noFill/>
            </p:spPr>
            <p:txBody>
              <a:bodyPr wrap="none" rtlCol="0">
                <a:spAutoFit/>
              </a:bodyPr>
              <a:lstStyle/>
              <a:p>
                <a:r>
                  <a:rPr lang="en-US"/>
                  <a:t>Formed as product of messages to </a:t>
                </a:r>
                <a14:m>
                  <m:oMath xmlns:m="http://schemas.openxmlformats.org/officeDocument/2006/math">
                    <m:r>
                      <a:rPr lang="en-US" b="0" i="1" smtClean="0">
                        <a:latin typeface="Cambria Math" panose="02040503050406030204" pitchFamily="18" charset="0"/>
                      </a:rPr>
                      <m:t>𝑥</m:t>
                    </m:r>
                  </m:oMath>
                </a14:m>
                <a:endParaRPr lang="LID4096" i="1"/>
              </a:p>
            </p:txBody>
          </p:sp>
        </mc:Choice>
        <mc:Fallback xmlns="">
          <p:sp>
            <p:nvSpPr>
              <p:cNvPr id="14" name="TextBox 13">
                <a:extLst>
                  <a:ext uri="{FF2B5EF4-FFF2-40B4-BE49-F238E27FC236}">
                    <a16:creationId xmlns:a16="http://schemas.microsoft.com/office/drawing/2014/main" id="{9A65A1F1-3AB4-C5BC-BC4D-BA94A03CA022}"/>
                  </a:ext>
                </a:extLst>
              </p:cNvPr>
              <p:cNvSpPr txBox="1">
                <a:spLocks noRot="1" noChangeAspect="1" noMove="1" noResize="1" noEditPoints="1" noAdjustHandles="1" noChangeArrowheads="1" noChangeShapeType="1" noTextEdit="1"/>
              </p:cNvSpPr>
              <p:nvPr/>
            </p:nvSpPr>
            <p:spPr>
              <a:xfrm>
                <a:off x="4736150" y="3664266"/>
                <a:ext cx="3570401" cy="369332"/>
              </a:xfrm>
              <a:prstGeom prst="rect">
                <a:avLst/>
              </a:prstGeom>
              <a:blipFill>
                <a:blip r:embed="rId5"/>
                <a:stretch>
                  <a:fillRect l="-1536" t="-8197" b="-24590"/>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D443C7CB-9323-75A2-69B4-8872E2E1A306}"/>
              </a:ext>
            </a:extLst>
          </p:cNvPr>
          <p:cNvSpPr/>
          <p:nvPr/>
        </p:nvSpPr>
        <p:spPr>
          <a:xfrm>
            <a:off x="4688681" y="2520156"/>
            <a:ext cx="581025" cy="3635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5" name="Rectangle 4">
            <a:extLst>
              <a:ext uri="{FF2B5EF4-FFF2-40B4-BE49-F238E27FC236}">
                <a16:creationId xmlns:a16="http://schemas.microsoft.com/office/drawing/2014/main" id="{2AD443F1-3DE6-7C2B-C4B1-64EA0EAB0DAF}"/>
              </a:ext>
            </a:extLst>
          </p:cNvPr>
          <p:cNvSpPr/>
          <p:nvPr/>
        </p:nvSpPr>
        <p:spPr>
          <a:xfrm>
            <a:off x="4489770" y="2520156"/>
            <a:ext cx="148786" cy="19446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2473594302"/>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xit"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xit"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hidden"/>
                                      </p:to>
                                    </p:set>
                                  </p:childTnLst>
                                </p:cTn>
                              </p:par>
                              <p:par>
                                <p:cTn id="17" presetID="1" presetClass="exit"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12"/>
                                        </p:tgtEl>
                                        <p:attrNameLst>
                                          <p:attrName>style.visibility</p:attrName>
                                        </p:attrNameLst>
                                      </p:cBhvr>
                                      <p:to>
                                        <p:strVal val="hidden"/>
                                      </p:to>
                                    </p:set>
                                  </p:childTnLst>
                                </p:cTn>
                              </p:par>
                              <p:par>
                                <p:cTn id="23" presetID="1" presetClass="exit" presetSubtype="0" fill="hold" nodeType="withEffect">
                                  <p:stCondLst>
                                    <p:cond delay="0"/>
                                  </p:stCondLst>
                                  <p:childTnLst>
                                    <p:set>
                                      <p:cBhvr>
                                        <p:cTn id="24" dur="1" fill="hold">
                                          <p:stCondLst>
                                            <p:cond delay="0"/>
                                          </p:stCondLst>
                                        </p:cTn>
                                        <p:tgtEl>
                                          <p:spTgt spid="13"/>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4"/>
                                        </p:tgtEl>
                                        <p:attrNameLst>
                                          <p:attrName>style.visibility</p:attrName>
                                        </p:attrNameLst>
                                      </p:cBhvr>
                                      <p:to>
                                        <p:strVal val="hidden"/>
                                      </p:to>
                                    </p:set>
                                  </p:childTnLst>
                                </p:cTn>
                              </p:par>
                              <p:par>
                                <p:cTn id="27" presetID="1" presetClass="exit"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2" grpId="0"/>
      <p:bldP spid="12" grpId="1"/>
      <p:bldP spid="14" grpId="0"/>
      <p:bldP spid="14" grpId="1"/>
      <p:bldP spid="3" grpId="0" animBg="1"/>
      <p:bldP spid="5"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53BDD-63D5-4942-C77C-9D58D8A89A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AEF6FD-CFE4-ED6E-7476-61B554E4DF84}"/>
              </a:ext>
            </a:extLst>
          </p:cNvPr>
          <p:cNvSpPr>
            <a:spLocks noGrp="1"/>
          </p:cNvSpPr>
          <p:nvPr>
            <p:ph type="title"/>
          </p:nvPr>
        </p:nvSpPr>
        <p:spPr/>
        <p:txBody>
          <a:bodyPr/>
          <a:lstStyle/>
          <a:p>
            <a:r>
              <a:rPr lang="en-US"/>
              <a:t>Message-passing approach: Belief-propagation </a:t>
            </a:r>
            <a:endParaRPr lang="LID4096"/>
          </a:p>
        </p:txBody>
      </p:sp>
      <p:sp>
        <p:nvSpPr>
          <p:cNvPr id="4" name="TextBox 3">
            <a:extLst>
              <a:ext uri="{FF2B5EF4-FFF2-40B4-BE49-F238E27FC236}">
                <a16:creationId xmlns:a16="http://schemas.microsoft.com/office/drawing/2014/main" id="{D8C66BEB-0244-070E-9709-DC317E1BF2D9}"/>
              </a:ext>
            </a:extLst>
          </p:cNvPr>
          <p:cNvSpPr txBox="1"/>
          <p:nvPr/>
        </p:nvSpPr>
        <p:spPr>
          <a:xfrm>
            <a:off x="3921697" y="1328468"/>
            <a:ext cx="1300612" cy="369332"/>
          </a:xfrm>
          <a:prstGeom prst="rect">
            <a:avLst/>
          </a:prstGeom>
          <a:noFill/>
        </p:spPr>
        <p:txBody>
          <a:bodyPr wrap="none" rtlCol="0">
            <a:spAutoFit/>
          </a:bodyPr>
          <a:lstStyle/>
          <a:p>
            <a:pPr algn="ctr"/>
            <a:r>
              <a:rPr lang="en-US"/>
              <a:t>(3) Iteration</a:t>
            </a:r>
            <a:endParaRPr lang="LID4096"/>
          </a:p>
        </p:txBody>
      </p:sp>
      <p:pic>
        <p:nvPicPr>
          <p:cNvPr id="5" name="Picture 4">
            <a:extLst>
              <a:ext uri="{FF2B5EF4-FFF2-40B4-BE49-F238E27FC236}">
                <a16:creationId xmlns:a16="http://schemas.microsoft.com/office/drawing/2014/main" id="{E6C72A84-7D38-2087-E78B-ED52339E455C}"/>
              </a:ext>
            </a:extLst>
          </p:cNvPr>
          <p:cNvPicPr>
            <a:picLocks noChangeAspect="1"/>
          </p:cNvPicPr>
          <p:nvPr/>
        </p:nvPicPr>
        <p:blipFill>
          <a:blip r:embed="rId3"/>
          <a:stretch>
            <a:fillRect/>
          </a:stretch>
        </p:blipFill>
        <p:spPr>
          <a:xfrm>
            <a:off x="4381083" y="1904404"/>
            <a:ext cx="3888358" cy="2592238"/>
          </a:xfrm>
          <a:prstGeom prst="rect">
            <a:avLst/>
          </a:prstGeom>
        </p:spPr>
      </p:pic>
      <p:sp>
        <p:nvSpPr>
          <p:cNvPr id="10" name="TextBox 9">
            <a:extLst>
              <a:ext uri="{FF2B5EF4-FFF2-40B4-BE49-F238E27FC236}">
                <a16:creationId xmlns:a16="http://schemas.microsoft.com/office/drawing/2014/main" id="{957203CF-FF61-01D4-ECD8-1445B2F0AD3E}"/>
              </a:ext>
            </a:extLst>
          </p:cNvPr>
          <p:cNvSpPr txBox="1"/>
          <p:nvPr/>
        </p:nvSpPr>
        <p:spPr>
          <a:xfrm>
            <a:off x="2146379" y="1896271"/>
            <a:ext cx="1828001" cy="307777"/>
          </a:xfrm>
          <a:prstGeom prst="rect">
            <a:avLst/>
          </a:prstGeom>
          <a:noFill/>
        </p:spPr>
        <p:txBody>
          <a:bodyPr wrap="none" rtlCol="0">
            <a:spAutoFit/>
          </a:bodyPr>
          <a:lstStyle/>
          <a:p>
            <a:r>
              <a:rPr lang="en-US" sz="1400"/>
              <a:t>Evolves over iterations</a:t>
            </a:r>
            <a:endParaRPr lang="LID4096" sz="1400"/>
          </a:p>
        </p:txBody>
      </p:sp>
      <p:cxnSp>
        <p:nvCxnSpPr>
          <p:cNvPr id="19" name="Straight Arrow Connector 18">
            <a:extLst>
              <a:ext uri="{FF2B5EF4-FFF2-40B4-BE49-F238E27FC236}">
                <a16:creationId xmlns:a16="http://schemas.microsoft.com/office/drawing/2014/main" id="{78A58ED6-3B43-7C09-263B-E7D18C3E4EB4}"/>
              </a:ext>
            </a:extLst>
          </p:cNvPr>
          <p:cNvCxnSpPr>
            <a:cxnSpLocks/>
            <a:stCxn id="10" idx="1"/>
          </p:cNvCxnSpPr>
          <p:nvPr/>
        </p:nvCxnSpPr>
        <p:spPr>
          <a:xfrm flipH="1">
            <a:off x="1881188" y="2050160"/>
            <a:ext cx="26519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A8828A00-97E4-6357-D7C5-25FB4A4DD386}"/>
              </a:ext>
            </a:extLst>
          </p:cNvPr>
          <p:cNvSpPr/>
          <p:nvPr/>
        </p:nvSpPr>
        <p:spPr>
          <a:xfrm>
            <a:off x="1231979" y="1868390"/>
            <a:ext cx="649209" cy="3635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4" name="TextBox 23">
            <a:extLst>
              <a:ext uri="{FF2B5EF4-FFF2-40B4-BE49-F238E27FC236}">
                <a16:creationId xmlns:a16="http://schemas.microsoft.com/office/drawing/2014/main" id="{364CDC02-8806-A7C9-3777-DDF398305F3A}"/>
              </a:ext>
            </a:extLst>
          </p:cNvPr>
          <p:cNvSpPr txBox="1"/>
          <p:nvPr/>
        </p:nvSpPr>
        <p:spPr>
          <a:xfrm>
            <a:off x="2216229" y="4630277"/>
            <a:ext cx="1084208" cy="307777"/>
          </a:xfrm>
          <a:prstGeom prst="rect">
            <a:avLst/>
          </a:prstGeom>
          <a:noFill/>
        </p:spPr>
        <p:txBody>
          <a:bodyPr wrap="none" rtlCol="0">
            <a:spAutoFit/>
          </a:bodyPr>
          <a:lstStyle/>
          <a:p>
            <a:r>
              <a:rPr lang="en-US" sz="1400"/>
              <a:t>Loopy graph</a:t>
            </a:r>
            <a:endParaRPr lang="LID4096" sz="1400"/>
          </a:p>
        </p:txBody>
      </p:sp>
      <p:cxnSp>
        <p:nvCxnSpPr>
          <p:cNvPr id="26" name="Connector: Elbow 25">
            <a:extLst>
              <a:ext uri="{FF2B5EF4-FFF2-40B4-BE49-F238E27FC236}">
                <a16:creationId xmlns:a16="http://schemas.microsoft.com/office/drawing/2014/main" id="{E3804C15-9A79-F143-B0B3-7FAC1C642065}"/>
              </a:ext>
            </a:extLst>
          </p:cNvPr>
          <p:cNvCxnSpPr>
            <a:stCxn id="24" idx="1"/>
          </p:cNvCxnSpPr>
          <p:nvPr/>
        </p:nvCxnSpPr>
        <p:spPr>
          <a:xfrm rot="10800000">
            <a:off x="2012951" y="4540688"/>
            <a:ext cx="203279" cy="24347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pic>
        <p:nvPicPr>
          <p:cNvPr id="8" name="Graphic 7">
            <a:extLst>
              <a:ext uri="{FF2B5EF4-FFF2-40B4-BE49-F238E27FC236}">
                <a16:creationId xmlns:a16="http://schemas.microsoft.com/office/drawing/2014/main" id="{0B6A166E-22AE-8ACC-E1A3-AFCF851EA15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3549" y="1812565"/>
            <a:ext cx="2824712" cy="2699864"/>
          </a:xfrm>
          <a:prstGeom prst="rect">
            <a:avLst/>
          </a:prstGeom>
        </p:spPr>
      </p:pic>
      <p:sp>
        <p:nvSpPr>
          <p:cNvPr id="9" name="Rectangle 8">
            <a:extLst>
              <a:ext uri="{FF2B5EF4-FFF2-40B4-BE49-F238E27FC236}">
                <a16:creationId xmlns:a16="http://schemas.microsoft.com/office/drawing/2014/main" id="{E733D932-E91E-34D2-F97A-DEAAE49993C0}"/>
              </a:ext>
            </a:extLst>
          </p:cNvPr>
          <p:cNvSpPr/>
          <p:nvPr/>
        </p:nvSpPr>
        <p:spPr>
          <a:xfrm>
            <a:off x="1735930" y="2969423"/>
            <a:ext cx="566338" cy="8816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pic>
        <p:nvPicPr>
          <p:cNvPr id="12" name="Graphic 11">
            <a:extLst>
              <a:ext uri="{FF2B5EF4-FFF2-40B4-BE49-F238E27FC236}">
                <a16:creationId xmlns:a16="http://schemas.microsoft.com/office/drawing/2014/main" id="{C36290F9-C124-E21D-98E1-98206C35A10C}"/>
              </a:ext>
            </a:extLst>
          </p:cNvPr>
          <p:cNvPicPr>
            <a:picLocks noChangeAspect="1"/>
          </p:cNvPicPr>
          <p:nvPr/>
        </p:nvPicPr>
        <p:blipFill>
          <a:blip>
            <a:extLst>
              <a:ext uri="{96DAC541-7B7A-43D3-8B79-37D633B846F1}">
                <asvg:svgBlip xmlns:asvg="http://schemas.microsoft.com/office/drawing/2016/SVG/main" r:embed="rId5"/>
              </a:ext>
            </a:extLst>
          </a:blip>
          <a:srcRect l="18903"/>
          <a:stretch>
            <a:fillRect/>
          </a:stretch>
        </p:blipFill>
        <p:spPr>
          <a:xfrm>
            <a:off x="5553075" y="2343273"/>
            <a:ext cx="3468295" cy="781050"/>
          </a:xfrm>
          <a:prstGeom prst="rect">
            <a:avLst/>
          </a:prstGeom>
        </p:spPr>
      </p:pic>
      <p:sp>
        <p:nvSpPr>
          <p:cNvPr id="13" name="TextBox 12">
            <a:extLst>
              <a:ext uri="{FF2B5EF4-FFF2-40B4-BE49-F238E27FC236}">
                <a16:creationId xmlns:a16="http://schemas.microsoft.com/office/drawing/2014/main" id="{68AEF21C-C65F-DF71-ADA3-127AEE86A2DA}"/>
              </a:ext>
            </a:extLst>
          </p:cNvPr>
          <p:cNvSpPr txBox="1"/>
          <p:nvPr/>
        </p:nvSpPr>
        <p:spPr>
          <a:xfrm>
            <a:off x="5517543" y="3015857"/>
            <a:ext cx="1957202" cy="369332"/>
          </a:xfrm>
          <a:prstGeom prst="rect">
            <a:avLst/>
          </a:prstGeom>
          <a:solidFill>
            <a:schemeClr val="bg1"/>
          </a:solidFill>
        </p:spPr>
        <p:txBody>
          <a:bodyPr wrap="none" rtlCol="0">
            <a:spAutoFit/>
          </a:bodyPr>
          <a:lstStyle/>
          <a:p>
            <a:r>
              <a:rPr lang="en-US"/>
              <a:t>VFE for each factor</a:t>
            </a:r>
            <a:endParaRPr lang="LID4096"/>
          </a:p>
        </p:txBody>
      </p:sp>
      <p:cxnSp>
        <p:nvCxnSpPr>
          <p:cNvPr id="17" name="Connector: Elbow 16">
            <a:extLst>
              <a:ext uri="{FF2B5EF4-FFF2-40B4-BE49-F238E27FC236}">
                <a16:creationId xmlns:a16="http://schemas.microsoft.com/office/drawing/2014/main" id="{501DC125-7E1B-B078-0F67-F24CB3C00D22}"/>
              </a:ext>
            </a:extLst>
          </p:cNvPr>
          <p:cNvCxnSpPr>
            <a:stCxn id="13" idx="3"/>
          </p:cNvCxnSpPr>
          <p:nvPr/>
        </p:nvCxnSpPr>
        <p:spPr>
          <a:xfrm flipV="1">
            <a:off x="7474745" y="2838450"/>
            <a:ext cx="164305" cy="362073"/>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6138E978-DF69-9D00-92D7-EA10C7659600}"/>
              </a:ext>
            </a:extLst>
          </p:cNvPr>
          <p:cNvSpPr txBox="1"/>
          <p:nvPr/>
        </p:nvSpPr>
        <p:spPr>
          <a:xfrm>
            <a:off x="6308723" y="3403436"/>
            <a:ext cx="2248372" cy="369332"/>
          </a:xfrm>
          <a:prstGeom prst="rect">
            <a:avLst/>
          </a:prstGeom>
          <a:solidFill>
            <a:schemeClr val="bg1"/>
          </a:solidFill>
        </p:spPr>
        <p:txBody>
          <a:bodyPr wrap="none" rtlCol="0">
            <a:spAutoFit/>
          </a:bodyPr>
          <a:lstStyle/>
          <a:p>
            <a:r>
              <a:rPr lang="en-US"/>
              <a:t>Entropy for each edge</a:t>
            </a:r>
            <a:endParaRPr lang="LID4096"/>
          </a:p>
        </p:txBody>
      </p:sp>
      <p:cxnSp>
        <p:nvCxnSpPr>
          <p:cNvPr id="25" name="Connector: Elbow 24">
            <a:extLst>
              <a:ext uri="{FF2B5EF4-FFF2-40B4-BE49-F238E27FC236}">
                <a16:creationId xmlns:a16="http://schemas.microsoft.com/office/drawing/2014/main" id="{55884E9D-67D8-8E29-E512-55F5B3561C8D}"/>
              </a:ext>
            </a:extLst>
          </p:cNvPr>
          <p:cNvCxnSpPr>
            <a:stCxn id="18" idx="3"/>
          </p:cNvCxnSpPr>
          <p:nvPr/>
        </p:nvCxnSpPr>
        <p:spPr>
          <a:xfrm flipV="1">
            <a:off x="8557095" y="2838450"/>
            <a:ext cx="167805" cy="74965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83956398"/>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xit"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23"/>
                                        </p:tgtEl>
                                        <p:attrNameLst>
                                          <p:attrName>style.visibility</p:attrName>
                                        </p:attrNameLst>
                                      </p:cBhvr>
                                      <p:to>
                                        <p:strVal val="hidden"/>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3" grpId="0" animBg="1"/>
      <p:bldP spid="24" grpId="0"/>
      <p:bldP spid="9" grpId="0" animBg="1"/>
      <p:bldP spid="13" grpId="0" animBg="1"/>
      <p:bldP spid="18"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DC3CA-C681-E3DF-013C-D99913EA010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5C22672F-81E4-576D-2189-680778F717E8}"/>
                  </a:ext>
                </a:extLst>
              </p:cNvPr>
              <p:cNvSpPr>
                <a:spLocks noGrp="1"/>
              </p:cNvSpPr>
              <p:nvPr>
                <p:ph type="title"/>
              </p:nvPr>
            </p:nvSpPr>
            <p:spPr>
              <a:xfrm>
                <a:off x="612648" y="475488"/>
                <a:ext cx="7918704" cy="548640"/>
              </a:xfrm>
            </p:spPr>
            <p:txBody>
              <a:bodyPr/>
              <a:lstStyle/>
              <a:p>
                <a:r>
                  <a:rPr lang="en-GB" sz="2600">
                    <a:solidFill>
                      <a:srgbClr val="FFFFFF"/>
                    </a:solidFill>
                  </a:rPr>
                  <a:t>4. Message passing approach to </a:t>
                </a:r>
                <a14:m>
                  <m:oMath xmlns:m="http://schemas.openxmlformats.org/officeDocument/2006/math">
                    <m:r>
                      <a:rPr lang="en-US" sz="2800" i="1" dirty="0">
                        <a:solidFill>
                          <a:srgbClr val="FFFFFF"/>
                        </a:solidFill>
                        <a:latin typeface="Cambria Math" panose="02040503050406030204" pitchFamily="18" charset="0"/>
                      </a:rPr>
                      <m:t>𝐴</m:t>
                    </m:r>
                    <m:r>
                      <a:rPr lang="en-US" sz="2800" dirty="0">
                        <a:solidFill>
                          <a:srgbClr val="FFFFFF"/>
                        </a:solidFill>
                        <a:latin typeface="Cambria Math" panose="02040503050406030204" pitchFamily="18" charset="0"/>
                      </a:rPr>
                      <m:t>𝐱</m:t>
                    </m:r>
                    <m:r>
                      <a:rPr lang="en-US" sz="2800" dirty="0">
                        <a:solidFill>
                          <a:srgbClr val="FFFFFF"/>
                        </a:solidFill>
                        <a:latin typeface="Cambria Math" panose="02040503050406030204" pitchFamily="18" charset="0"/>
                      </a:rPr>
                      <m:t>=</m:t>
                    </m:r>
                    <m:r>
                      <a:rPr lang="en-US" sz="2800" dirty="0">
                        <a:solidFill>
                          <a:srgbClr val="FFFFFF"/>
                        </a:solidFill>
                        <a:latin typeface="Cambria Math" panose="02040503050406030204" pitchFamily="18" charset="0"/>
                      </a:rPr>
                      <m:t>𝐛</m:t>
                    </m:r>
                  </m:oMath>
                </a14:m>
                <a:endParaRPr sz="2600" b="1">
                  <a:solidFill>
                    <a:srgbClr val="FFFFFF"/>
                  </a:solidFill>
                  <a:latin typeface="Calibri"/>
                </a:endParaRPr>
              </a:p>
            </p:txBody>
          </p:sp>
        </mc:Choice>
        <mc:Fallback xmlns="">
          <p:sp>
            <p:nvSpPr>
              <p:cNvPr id="2" name="Title 1">
                <a:extLst>
                  <a:ext uri="{FF2B5EF4-FFF2-40B4-BE49-F238E27FC236}">
                    <a16:creationId xmlns:a16="http://schemas.microsoft.com/office/drawing/2014/main" id="{5C22672F-81E4-576D-2189-680778F717E8}"/>
                  </a:ext>
                </a:extLst>
              </p:cNvPr>
              <p:cNvSpPr>
                <a:spLocks noGrp="1" noRot="1" noChangeAspect="1" noMove="1" noResize="1" noEditPoints="1" noAdjustHandles="1" noChangeArrowheads="1" noChangeShapeType="1" noTextEdit="1"/>
              </p:cNvSpPr>
              <p:nvPr>
                <p:ph type="title"/>
              </p:nvPr>
            </p:nvSpPr>
            <p:spPr>
              <a:xfrm>
                <a:off x="612648" y="475488"/>
                <a:ext cx="7918704" cy="548640"/>
              </a:xfrm>
              <a:blipFill>
                <a:blip r:embed="rId3"/>
                <a:stretch>
                  <a:fillRect l="-2540" t="-27778"/>
                </a:stretch>
              </a:blipFill>
            </p:spPr>
            <p:txBody>
              <a:bodyPr/>
              <a:lstStyle/>
              <a:p>
                <a:r>
                  <a:rPr lang="en-US">
                    <a:noFill/>
                  </a:rPr>
                  <a:t> </a:t>
                </a:r>
              </a:p>
            </p:txBody>
          </p:sp>
        </mc:Fallback>
      </mc:AlternateContent>
      <p:sp>
        <p:nvSpPr>
          <p:cNvPr id="4" name="Tijdelijke aanduiding voor dianummer 3">
            <a:extLst>
              <a:ext uri="{FF2B5EF4-FFF2-40B4-BE49-F238E27FC236}">
                <a16:creationId xmlns:a16="http://schemas.microsoft.com/office/drawing/2014/main" id="{02C72720-FF81-93B6-D1F5-1E9E0CC4A6FD}"/>
              </a:ext>
            </a:extLst>
          </p:cNvPr>
          <p:cNvSpPr>
            <a:spLocks noGrp="1"/>
          </p:cNvSpPr>
          <p:nvPr>
            <p:ph type="sldNum" sz="quarter" idx="11"/>
          </p:nvPr>
        </p:nvSpPr>
        <p:spPr/>
        <p:txBody>
          <a:bodyPr/>
          <a:lstStyle/>
          <a:p>
            <a:fld id="{B7CEC10D-CD46-426F-915E-6C78530279CB}" type="slidenum">
              <a:rPr lang="en-US" smtClean="0"/>
              <a:pPr/>
              <a:t>36</a:t>
            </a:fld>
            <a:endParaRPr lang="en-US"/>
          </a:p>
        </p:txBody>
      </p:sp>
      <p:sp>
        <p:nvSpPr>
          <p:cNvPr id="6" name="Oval 5">
            <a:extLst>
              <a:ext uri="{FF2B5EF4-FFF2-40B4-BE49-F238E27FC236}">
                <a16:creationId xmlns:a16="http://schemas.microsoft.com/office/drawing/2014/main" id="{12DCF8C7-F676-9070-7A7B-DEBEAB6A7A45}"/>
              </a:ext>
            </a:extLst>
          </p:cNvPr>
          <p:cNvSpPr/>
          <p:nvPr/>
        </p:nvSpPr>
        <p:spPr>
          <a:xfrm>
            <a:off x="612000" y="1639411"/>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A</a:t>
            </a:r>
            <a:endParaRPr sz="1400" b="1">
              <a:solidFill>
                <a:srgbClr val="101073"/>
              </a:solidFill>
              <a:latin typeface="Calibri"/>
            </a:endParaRPr>
          </a:p>
        </p:txBody>
      </p:sp>
      <p:sp>
        <p:nvSpPr>
          <p:cNvPr id="7" name="TextBox 6">
            <a:extLst>
              <a:ext uri="{FF2B5EF4-FFF2-40B4-BE49-F238E27FC236}">
                <a16:creationId xmlns:a16="http://schemas.microsoft.com/office/drawing/2014/main" id="{49A6B9F8-B8F4-6BE9-25BB-B26606324ACF}"/>
              </a:ext>
            </a:extLst>
          </p:cNvPr>
          <p:cNvSpPr txBox="1"/>
          <p:nvPr/>
        </p:nvSpPr>
        <p:spPr>
          <a:xfrm>
            <a:off x="1252080" y="1708324"/>
            <a:ext cx="6949440" cy="246221"/>
          </a:xfrm>
          <a:prstGeom prst="rect">
            <a:avLst/>
          </a:prstGeom>
          <a:noFill/>
        </p:spPr>
        <p:txBody>
          <a:bodyPr wrap="square" lIns="0" tIns="0" rIns="0" bIns="0" anchor="ctr">
            <a:spAutoFit/>
          </a:bodyPr>
          <a:lstStyle/>
          <a:p>
            <a:pPr algn="l">
              <a:spcBef>
                <a:spcPts val="0"/>
              </a:spcBef>
              <a:spcAft>
                <a:spcPts val="600"/>
              </a:spcAft>
            </a:pPr>
            <a:r>
              <a:rPr lang="en-GB" sz="1600" b="1" i="0">
                <a:solidFill>
                  <a:srgbClr val="FFFFFF"/>
                </a:solidFill>
                <a:latin typeface="Calibri"/>
              </a:rPr>
              <a:t>Setup</a:t>
            </a:r>
            <a:endParaRPr sz="1400" b="0" i="0">
              <a:solidFill>
                <a:srgbClr val="C9CDE8"/>
              </a:solidFill>
              <a:latin typeface="Calibri"/>
            </a:endParaRPr>
          </a:p>
        </p:txBody>
      </p:sp>
      <p:sp>
        <p:nvSpPr>
          <p:cNvPr id="8" name="Oval 7">
            <a:extLst>
              <a:ext uri="{FF2B5EF4-FFF2-40B4-BE49-F238E27FC236}">
                <a16:creationId xmlns:a16="http://schemas.microsoft.com/office/drawing/2014/main" id="{D34E8C18-1283-CB45-EA04-30D681F8BEB4}"/>
              </a:ext>
            </a:extLst>
          </p:cNvPr>
          <p:cNvSpPr/>
          <p:nvPr/>
        </p:nvSpPr>
        <p:spPr>
          <a:xfrm>
            <a:off x="612000" y="2352643"/>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B</a:t>
            </a:r>
            <a:endParaRPr sz="1400" b="1">
              <a:solidFill>
                <a:srgbClr val="101073"/>
              </a:solidFill>
              <a:latin typeface="Calibri"/>
            </a:endParaRPr>
          </a:p>
        </p:txBody>
      </p:sp>
      <p:sp>
        <p:nvSpPr>
          <p:cNvPr id="9" name="TextBox 8">
            <a:extLst>
              <a:ext uri="{FF2B5EF4-FFF2-40B4-BE49-F238E27FC236}">
                <a16:creationId xmlns:a16="http://schemas.microsoft.com/office/drawing/2014/main" id="{CAD35145-4BD0-C28B-38AF-E5F5090CD6DC}"/>
              </a:ext>
            </a:extLst>
          </p:cNvPr>
          <p:cNvSpPr txBox="1"/>
          <p:nvPr/>
        </p:nvSpPr>
        <p:spPr>
          <a:xfrm>
            <a:off x="1252080" y="2448639"/>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Forney-style Factor Graphs</a:t>
            </a:r>
            <a:endParaRPr sz="1400" b="0" i="0">
              <a:solidFill>
                <a:srgbClr val="C9CDE8"/>
              </a:solidFill>
              <a:latin typeface="Calibri"/>
            </a:endParaRPr>
          </a:p>
        </p:txBody>
      </p:sp>
      <p:sp>
        <p:nvSpPr>
          <p:cNvPr id="3" name="Oval 2">
            <a:extLst>
              <a:ext uri="{FF2B5EF4-FFF2-40B4-BE49-F238E27FC236}">
                <a16:creationId xmlns:a16="http://schemas.microsoft.com/office/drawing/2014/main" id="{55818F5C-7EB4-B958-B148-5FE2D1A34E9C}"/>
              </a:ext>
            </a:extLst>
          </p:cNvPr>
          <p:cNvSpPr/>
          <p:nvPr/>
        </p:nvSpPr>
        <p:spPr>
          <a:xfrm>
            <a:off x="612000" y="3061037"/>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C</a:t>
            </a:r>
            <a:endParaRPr sz="1400" b="1">
              <a:solidFill>
                <a:srgbClr val="101073"/>
              </a:solidFill>
              <a:latin typeface="Calibri"/>
            </a:endParaRPr>
          </a:p>
        </p:txBody>
      </p:sp>
      <p:sp>
        <p:nvSpPr>
          <p:cNvPr id="5" name="TextBox 4">
            <a:extLst>
              <a:ext uri="{FF2B5EF4-FFF2-40B4-BE49-F238E27FC236}">
                <a16:creationId xmlns:a16="http://schemas.microsoft.com/office/drawing/2014/main" id="{1A05947E-1A12-34BB-7B2E-B93DF2E0DF90}"/>
              </a:ext>
            </a:extLst>
          </p:cNvPr>
          <p:cNvSpPr txBox="1"/>
          <p:nvPr/>
        </p:nvSpPr>
        <p:spPr>
          <a:xfrm>
            <a:off x="1252080" y="3157033"/>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Belief propagation</a:t>
            </a:r>
            <a:endParaRPr sz="1400" b="0" i="0">
              <a:solidFill>
                <a:srgbClr val="C9CDE8"/>
              </a:solidFill>
              <a:latin typeface="Calibri"/>
            </a:endParaRPr>
          </a:p>
        </p:txBody>
      </p:sp>
      <p:sp>
        <p:nvSpPr>
          <p:cNvPr id="10" name="Oval 9">
            <a:extLst>
              <a:ext uri="{FF2B5EF4-FFF2-40B4-BE49-F238E27FC236}">
                <a16:creationId xmlns:a16="http://schemas.microsoft.com/office/drawing/2014/main" id="{DBB7C990-01FA-3905-931F-3F48B3E2CC55}"/>
              </a:ext>
            </a:extLst>
          </p:cNvPr>
          <p:cNvSpPr/>
          <p:nvPr/>
        </p:nvSpPr>
        <p:spPr>
          <a:xfrm>
            <a:off x="612000" y="3772347"/>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chemeClr val="bg1"/>
                </a:solidFill>
                <a:latin typeface="Calibri"/>
              </a:rPr>
              <a:t>D</a:t>
            </a:r>
            <a:endParaRPr sz="1400" b="1">
              <a:solidFill>
                <a:schemeClr val="bg1"/>
              </a:solidFill>
              <a:latin typeface="Calibri"/>
            </a:endParaRP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D537845-4009-BF81-4095-DE60B3FE8DEF}"/>
                  </a:ext>
                </a:extLst>
              </p:cNvPr>
              <p:cNvSpPr txBox="1"/>
              <p:nvPr/>
            </p:nvSpPr>
            <p:spPr>
              <a:xfrm>
                <a:off x="1252080" y="3868343"/>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Solving </a:t>
                </a:r>
                <a14:m>
                  <m:oMath xmlns:m="http://schemas.openxmlformats.org/officeDocument/2006/math">
                    <m:r>
                      <a:rPr lang="en-GB" sz="1600" b="1" i="1" dirty="0" smtClean="0">
                        <a:solidFill>
                          <a:srgbClr val="FFFFFF"/>
                        </a:solidFill>
                        <a:latin typeface="Cambria Math" panose="02040503050406030204" pitchFamily="18" charset="0"/>
                      </a:rPr>
                      <m:t>𝐴</m:t>
                    </m:r>
                    <m:r>
                      <a:rPr lang="en-GB" sz="1600" b="1" i="0" dirty="0" smtClean="0">
                        <a:solidFill>
                          <a:srgbClr val="FFFFFF"/>
                        </a:solidFill>
                        <a:latin typeface="Cambria Math" panose="02040503050406030204" pitchFamily="18" charset="0"/>
                      </a:rPr>
                      <m:t>𝐱</m:t>
                    </m:r>
                    <m:r>
                      <a:rPr lang="en-GB" sz="1600" b="1" i="0" dirty="0" smtClean="0">
                        <a:solidFill>
                          <a:srgbClr val="FFFFFF"/>
                        </a:solidFill>
                        <a:latin typeface="Cambria Math" panose="02040503050406030204" pitchFamily="18" charset="0"/>
                      </a:rPr>
                      <m:t>=</m:t>
                    </m:r>
                    <m:r>
                      <a:rPr lang="en-GB" sz="1600" b="1" i="0" dirty="0" smtClean="0">
                        <a:solidFill>
                          <a:srgbClr val="FFFFFF"/>
                        </a:solidFill>
                        <a:latin typeface="Cambria Math" panose="02040503050406030204" pitchFamily="18" charset="0"/>
                      </a:rPr>
                      <m:t>𝐛</m:t>
                    </m:r>
                  </m:oMath>
                </a14:m>
                <a:r>
                  <a:rPr lang="en-GB" sz="1600" b="1">
                    <a:solidFill>
                      <a:srgbClr val="FFFFFF"/>
                    </a:solidFill>
                    <a:latin typeface="Calibri"/>
                  </a:rPr>
                  <a:t> by Message-Passing on a Factor-Graph</a:t>
                </a:r>
                <a:endParaRPr sz="1400" b="0" i="0">
                  <a:solidFill>
                    <a:srgbClr val="C9CDE8"/>
                  </a:solidFill>
                  <a:latin typeface="Calibri"/>
                </a:endParaRPr>
              </a:p>
            </p:txBody>
          </p:sp>
        </mc:Choice>
        <mc:Fallback xmlns="">
          <p:sp>
            <p:nvSpPr>
              <p:cNvPr id="11" name="TextBox 10">
                <a:extLst>
                  <a:ext uri="{FF2B5EF4-FFF2-40B4-BE49-F238E27FC236}">
                    <a16:creationId xmlns:a16="http://schemas.microsoft.com/office/drawing/2014/main" id="{9D537845-4009-BF81-4095-DE60B3FE8DEF}"/>
                  </a:ext>
                </a:extLst>
              </p:cNvPr>
              <p:cNvSpPr txBox="1">
                <a:spLocks noRot="1" noChangeAspect="1" noMove="1" noResize="1" noEditPoints="1" noAdjustHandles="1" noChangeArrowheads="1" noChangeShapeType="1" noTextEdit="1"/>
              </p:cNvSpPr>
              <p:nvPr/>
            </p:nvSpPr>
            <p:spPr>
              <a:xfrm>
                <a:off x="1252080" y="3868343"/>
                <a:ext cx="6949440" cy="246221"/>
              </a:xfrm>
              <a:prstGeom prst="rect">
                <a:avLst/>
              </a:prstGeom>
              <a:blipFill>
                <a:blip r:embed="rId4"/>
                <a:stretch>
                  <a:fillRect l="-1754" t="-27500" b="-50000"/>
                </a:stretch>
              </a:blipFill>
            </p:spPr>
            <p:txBody>
              <a:bodyPr/>
              <a:lstStyle/>
              <a:p>
                <a:r>
                  <a:rPr lang="en-US">
                    <a:noFill/>
                  </a:rPr>
                  <a:t> </a:t>
                </a:r>
              </a:p>
            </p:txBody>
          </p:sp>
        </mc:Fallback>
      </mc:AlternateContent>
    </p:spTree>
    <p:extLst>
      <p:ext uri="{BB962C8B-B14F-4D97-AF65-F5344CB8AC3E}">
        <p14:creationId xmlns:p14="http://schemas.microsoft.com/office/powerpoint/2010/main" val="533113721"/>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6F671-C06C-5AD0-A0F8-D7B2EBF2DE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43E7AB45-7779-2740-F8C6-19A6A03848E1}"/>
                  </a:ext>
                </a:extLst>
              </p:cNvPr>
              <p:cNvSpPr>
                <a:spLocks noGrp="1"/>
              </p:cNvSpPr>
              <p:nvPr>
                <p:ph type="title"/>
              </p:nvPr>
            </p:nvSpPr>
            <p:spPr/>
            <p:txBody>
              <a:bodyPr/>
              <a:lstStyle/>
              <a:p>
                <a:r>
                  <a:rPr lang="en-US"/>
                  <a:t>Message-passing approach: Solving </a:t>
                </a:r>
                <a14:m>
                  <m:oMath xmlns:m="http://schemas.openxmlformats.org/officeDocument/2006/math">
                    <m:r>
                      <a:rPr lang="en-US" i="1" dirty="0" smtClean="0">
                        <a:latin typeface="Cambria Math" panose="02040503050406030204" pitchFamily="18" charset="0"/>
                      </a:rPr>
                      <m:t>𝐴</m:t>
                    </m:r>
                    <m:r>
                      <a:rPr lang="en-US" b="1" i="0" dirty="0" smtClean="0">
                        <a:latin typeface="Cambria Math" panose="02040503050406030204" pitchFamily="18" charset="0"/>
                      </a:rPr>
                      <m:t>𝐱</m:t>
                    </m:r>
                    <m:r>
                      <a:rPr lang="en-US" i="0" dirty="0" smtClean="0">
                        <a:latin typeface="Cambria Math" panose="02040503050406030204" pitchFamily="18" charset="0"/>
                      </a:rPr>
                      <m:t>=</m:t>
                    </m:r>
                    <m:r>
                      <a:rPr lang="en-US" b="1" i="0" dirty="0" smtClean="0">
                        <a:latin typeface="Cambria Math" panose="02040503050406030204" pitchFamily="18" charset="0"/>
                      </a:rPr>
                      <m:t>𝐛</m:t>
                    </m:r>
                  </m:oMath>
                </a14:m>
                <a:r>
                  <a:rPr lang="en-US"/>
                  <a:t> </a:t>
                </a:r>
                <a:endParaRPr lang="LID4096"/>
              </a:p>
            </p:txBody>
          </p:sp>
        </mc:Choice>
        <mc:Fallback xmlns="">
          <p:sp>
            <p:nvSpPr>
              <p:cNvPr id="2" name="Title 1">
                <a:extLst>
                  <a:ext uri="{FF2B5EF4-FFF2-40B4-BE49-F238E27FC236}">
                    <a16:creationId xmlns:a16="http://schemas.microsoft.com/office/drawing/2014/main" id="{43E7AB45-7779-2740-F8C6-19A6A03848E1}"/>
                  </a:ext>
                </a:extLst>
              </p:cNvPr>
              <p:cNvSpPr>
                <a:spLocks noGrp="1" noRot="1" noChangeAspect="1" noMove="1" noResize="1" noEditPoints="1" noAdjustHandles="1" noChangeArrowheads="1" noChangeShapeType="1" noTextEdit="1"/>
              </p:cNvSpPr>
              <p:nvPr>
                <p:ph type="title"/>
              </p:nvPr>
            </p:nvSpPr>
            <p:spPr>
              <a:blipFill>
                <a:blip r:embed="rId3"/>
                <a:stretch>
                  <a:fillRect l="-2615" t="-41538" b="-40000"/>
                </a:stretch>
              </a:blipFill>
            </p:spPr>
            <p:txBody>
              <a:bodyPr/>
              <a:lstStyle/>
              <a:p>
                <a:r>
                  <a:rPr lang="en-US">
                    <a:noFill/>
                  </a:rPr>
                  <a:t> </a:t>
                </a:r>
              </a:p>
            </p:txBody>
          </p:sp>
        </mc:Fallback>
      </mc:AlternateContent>
      <p:pic>
        <p:nvPicPr>
          <p:cNvPr id="11" name="Graphic 10">
            <a:extLst>
              <a:ext uri="{FF2B5EF4-FFF2-40B4-BE49-F238E27FC236}">
                <a16:creationId xmlns:a16="http://schemas.microsoft.com/office/drawing/2014/main" id="{FC20FB35-6BCD-D49A-FB33-E5877A3CCD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35299" y="2930432"/>
            <a:ext cx="2857500" cy="838200"/>
          </a:xfrm>
          <a:prstGeom prst="rect">
            <a:avLst/>
          </a:prstGeom>
        </p:spPr>
      </p:pic>
      <p:pic>
        <p:nvPicPr>
          <p:cNvPr id="15" name="Graphic 14">
            <a:extLst>
              <a:ext uri="{FF2B5EF4-FFF2-40B4-BE49-F238E27FC236}">
                <a16:creationId xmlns:a16="http://schemas.microsoft.com/office/drawing/2014/main" id="{F814E06E-1193-4538-E730-4844B3D30D1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79855" y="988922"/>
            <a:ext cx="4701747" cy="3685834"/>
          </a:xfrm>
          <a:prstGeom prst="rect">
            <a:avLst/>
          </a:prstGeom>
        </p:spPr>
      </p:pic>
      <p:pic>
        <p:nvPicPr>
          <p:cNvPr id="4" name="Graphic 3">
            <a:extLst>
              <a:ext uri="{FF2B5EF4-FFF2-40B4-BE49-F238E27FC236}">
                <a16:creationId xmlns:a16="http://schemas.microsoft.com/office/drawing/2014/main" id="{AC91FD3B-3C1C-0B51-3938-382192E2EA1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87674" y="2207062"/>
            <a:ext cx="2952750" cy="809625"/>
          </a:xfrm>
          <a:prstGeom prst="rect">
            <a:avLst/>
          </a:prstGeom>
        </p:spPr>
      </p:pic>
      <p:pic>
        <p:nvPicPr>
          <p:cNvPr id="5" name="Graphic 4">
            <a:extLst>
              <a:ext uri="{FF2B5EF4-FFF2-40B4-BE49-F238E27FC236}">
                <a16:creationId xmlns:a16="http://schemas.microsoft.com/office/drawing/2014/main" id="{1E67A36E-A865-5E1A-360F-0B9C3DB11C0B}"/>
              </a:ext>
            </a:extLst>
          </p:cNvPr>
          <p:cNvPicPr/>
          <p:nvPr/>
        </p:nvPicPr>
        <p:blipFill>
          <a:blip>
            <a:extLst>
              <a:ext uri="{96DAC541-7B7A-43D3-8B79-37D633B846F1}">
                <asvg:svgBlip xmlns:asvg="http://schemas.microsoft.com/office/drawing/2016/SVG/main" r:embed="rId7"/>
              </a:ext>
            </a:extLst>
          </a:blip>
          <a:stretch>
            <a:fillRect/>
          </a:stretch>
        </p:blipFill>
        <p:spPr>
          <a:xfrm>
            <a:off x="6983049" y="988922"/>
            <a:ext cx="762000" cy="561975"/>
          </a:xfrm>
          <a:prstGeom prst="rect">
            <a:avLst/>
          </a:prstGeom>
        </p:spPr>
      </p:pic>
      <p:pic>
        <p:nvPicPr>
          <p:cNvPr id="9" name="Graphic 8">
            <a:extLst>
              <a:ext uri="{FF2B5EF4-FFF2-40B4-BE49-F238E27FC236}">
                <a16:creationId xmlns:a16="http://schemas.microsoft.com/office/drawing/2014/main" id="{7193B96C-C1FB-111B-73A8-58EE7139C5EC}"/>
              </a:ext>
            </a:extLst>
          </p:cNvPr>
          <p:cNvPicPr/>
          <p:nvPr/>
        </p:nvPicPr>
        <p:blipFill>
          <a:blip>
            <a:extLst>
              <a:ext uri="{96DAC541-7B7A-43D3-8B79-37D633B846F1}">
                <asvg:svgBlip xmlns:asvg="http://schemas.microsoft.com/office/drawing/2016/SVG/main" r:embed="rId8"/>
              </a:ext>
            </a:extLst>
          </a:blip>
          <a:stretch>
            <a:fillRect/>
          </a:stretch>
        </p:blipFill>
        <p:spPr>
          <a:xfrm>
            <a:off x="5887674" y="1464642"/>
            <a:ext cx="2952750" cy="828675"/>
          </a:xfrm>
          <a:prstGeom prst="rect">
            <a:avLst/>
          </a:prstGeom>
        </p:spPr>
      </p:pic>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879E5F5-B6CF-AFB3-1ABD-D9A76A56BC7C}"/>
                  </a:ext>
                </a:extLst>
              </p:cNvPr>
              <p:cNvSpPr txBox="1"/>
              <p:nvPr/>
            </p:nvSpPr>
            <p:spPr>
              <a:xfrm>
                <a:off x="1141976" y="4674756"/>
                <a:ext cx="1504771" cy="369332"/>
              </a:xfrm>
              <a:prstGeom prst="rect">
                <a:avLst/>
              </a:prstGeom>
              <a:noFill/>
            </p:spPr>
            <p:txBody>
              <a:bodyPr wrap="none" rtlCol="0">
                <a:spAutoFit/>
              </a:bodyPr>
              <a:lstStyle/>
              <a:p>
                <a:r>
                  <a:rPr lang="en-US"/>
                  <a:t>Structure of </a:t>
                </a:r>
                <a14:m>
                  <m:oMath xmlns:m="http://schemas.openxmlformats.org/officeDocument/2006/math">
                    <m:r>
                      <a:rPr lang="en-US" i="1" dirty="0" smtClean="0">
                        <a:latin typeface="Cambria Math" panose="02040503050406030204" pitchFamily="18" charset="0"/>
                      </a:rPr>
                      <m:t>𝐴</m:t>
                    </m:r>
                  </m:oMath>
                </a14:m>
                <a:endParaRPr lang="LID4096"/>
              </a:p>
            </p:txBody>
          </p:sp>
        </mc:Choice>
        <mc:Fallback xmlns="">
          <p:sp>
            <p:nvSpPr>
              <p:cNvPr id="12" name="TextBox 11">
                <a:extLst>
                  <a:ext uri="{FF2B5EF4-FFF2-40B4-BE49-F238E27FC236}">
                    <a16:creationId xmlns:a16="http://schemas.microsoft.com/office/drawing/2014/main" id="{D879E5F5-B6CF-AFB3-1ABD-D9A76A56BC7C}"/>
                  </a:ext>
                </a:extLst>
              </p:cNvPr>
              <p:cNvSpPr txBox="1">
                <a:spLocks noRot="1" noChangeAspect="1" noMove="1" noResize="1" noEditPoints="1" noAdjustHandles="1" noChangeArrowheads="1" noChangeShapeType="1" noTextEdit="1"/>
              </p:cNvSpPr>
              <p:nvPr/>
            </p:nvSpPr>
            <p:spPr>
              <a:xfrm>
                <a:off x="1141976" y="4674756"/>
                <a:ext cx="1504771" cy="369332"/>
              </a:xfrm>
              <a:prstGeom prst="rect">
                <a:avLst/>
              </a:prstGeom>
              <a:blipFill>
                <a:blip r:embed="rId9"/>
                <a:stretch>
                  <a:fillRect l="-3239" t="-10000" b="-26667"/>
                </a:stretch>
              </a:blipFill>
            </p:spPr>
            <p:txBody>
              <a:bodyPr/>
              <a:lstStyle/>
              <a:p>
                <a:r>
                  <a:rPr lang="en-US">
                    <a:noFill/>
                  </a:rPr>
                  <a:t> </a:t>
                </a:r>
              </a:p>
            </p:txBody>
          </p:sp>
        </mc:Fallback>
      </mc:AlternateContent>
      <p:pic>
        <p:nvPicPr>
          <p:cNvPr id="18" name="Graphic 17">
            <a:extLst>
              <a:ext uri="{FF2B5EF4-FFF2-40B4-BE49-F238E27FC236}">
                <a16:creationId xmlns:a16="http://schemas.microsoft.com/office/drawing/2014/main" id="{182B4916-E552-1196-54BF-4A7E86B7401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045925" y="3679031"/>
            <a:ext cx="2667000" cy="561975"/>
          </a:xfrm>
          <a:prstGeom prst="rect">
            <a:avLst/>
          </a:prstGeom>
        </p:spPr>
      </p:pic>
      <p:pic>
        <p:nvPicPr>
          <p:cNvPr id="6" name="Picture 5" descr="A screenshot of a computer screen&#10;&#10;AI-generated content may be incorrect.">
            <a:extLst>
              <a:ext uri="{FF2B5EF4-FFF2-40B4-BE49-F238E27FC236}">
                <a16:creationId xmlns:a16="http://schemas.microsoft.com/office/drawing/2014/main" id="{A4C6FFAA-631D-86B3-52D4-0973C3B8D14A}"/>
              </a:ext>
            </a:extLst>
          </p:cNvPr>
          <p:cNvPicPr>
            <a:picLocks noChangeAspect="1"/>
          </p:cNvPicPr>
          <p:nvPr/>
        </p:nvPicPr>
        <p:blipFill>
          <a:blip r:embed="rId11"/>
          <a:srcRect t="-2046" r="33681" b="799"/>
          <a:stretch>
            <a:fillRect/>
          </a:stretch>
        </p:blipFill>
        <p:spPr>
          <a:xfrm>
            <a:off x="125954" y="3992372"/>
            <a:ext cx="1019653" cy="1047956"/>
          </a:xfrm>
          <a:prstGeom prst="rect">
            <a:avLst/>
          </a:prstGeom>
        </p:spPr>
      </p:pic>
    </p:spTree>
    <p:extLst>
      <p:ext uri="{BB962C8B-B14F-4D97-AF65-F5344CB8AC3E}">
        <p14:creationId xmlns:p14="http://schemas.microsoft.com/office/powerpoint/2010/main" val="2970907753"/>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D6E62-57F8-19F7-8533-5024E71953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C37740CD-016B-3940-6EBC-EC43E13C9B86}"/>
                  </a:ext>
                </a:extLst>
              </p:cNvPr>
              <p:cNvSpPr>
                <a:spLocks noGrp="1"/>
              </p:cNvSpPr>
              <p:nvPr>
                <p:ph type="title"/>
              </p:nvPr>
            </p:nvSpPr>
            <p:spPr/>
            <p:txBody>
              <a:bodyPr/>
              <a:lstStyle/>
              <a:p>
                <a:r>
                  <a:rPr lang="en-US"/>
                  <a:t>Message-passing approach: Solving </a:t>
                </a:r>
                <a14:m>
                  <m:oMath xmlns:m="http://schemas.openxmlformats.org/officeDocument/2006/math">
                    <m:r>
                      <a:rPr lang="en-US" i="1" dirty="0" smtClean="0">
                        <a:latin typeface="Cambria Math" panose="02040503050406030204" pitchFamily="18" charset="0"/>
                      </a:rPr>
                      <m:t>𝐴</m:t>
                    </m:r>
                    <m:r>
                      <a:rPr lang="en-US" b="1" i="0" dirty="0" smtClean="0">
                        <a:latin typeface="Cambria Math" panose="02040503050406030204" pitchFamily="18" charset="0"/>
                      </a:rPr>
                      <m:t>𝐱</m:t>
                    </m:r>
                    <m:r>
                      <a:rPr lang="en-US" i="0" dirty="0" smtClean="0">
                        <a:latin typeface="Cambria Math" panose="02040503050406030204" pitchFamily="18" charset="0"/>
                      </a:rPr>
                      <m:t>=</m:t>
                    </m:r>
                    <m:r>
                      <a:rPr lang="en-US" b="1" i="0" dirty="0" smtClean="0">
                        <a:latin typeface="Cambria Math" panose="02040503050406030204" pitchFamily="18" charset="0"/>
                      </a:rPr>
                      <m:t>𝐛</m:t>
                    </m:r>
                  </m:oMath>
                </a14:m>
                <a:r>
                  <a:rPr lang="en-US"/>
                  <a:t> </a:t>
                </a:r>
                <a:endParaRPr lang="LID4096"/>
              </a:p>
            </p:txBody>
          </p:sp>
        </mc:Choice>
        <mc:Fallback xmlns="">
          <p:sp>
            <p:nvSpPr>
              <p:cNvPr id="2" name="Title 1">
                <a:extLst>
                  <a:ext uri="{FF2B5EF4-FFF2-40B4-BE49-F238E27FC236}">
                    <a16:creationId xmlns:a16="http://schemas.microsoft.com/office/drawing/2014/main" id="{C37740CD-016B-3940-6EBC-EC43E13C9B86}"/>
                  </a:ext>
                </a:extLst>
              </p:cNvPr>
              <p:cNvSpPr>
                <a:spLocks noGrp="1" noRot="1" noChangeAspect="1" noMove="1" noResize="1" noEditPoints="1" noAdjustHandles="1" noChangeArrowheads="1" noChangeShapeType="1" noTextEdit="1"/>
              </p:cNvSpPr>
              <p:nvPr>
                <p:ph type="title"/>
              </p:nvPr>
            </p:nvSpPr>
            <p:spPr>
              <a:blipFill>
                <a:blip r:embed="rId3"/>
                <a:stretch>
                  <a:fillRect l="-2615" t="-41538" b="-40000"/>
                </a:stretch>
              </a:blipFill>
            </p:spPr>
            <p:txBody>
              <a:bodyPr/>
              <a:lstStyle/>
              <a:p>
                <a:r>
                  <a:rPr lang="en-US">
                    <a:noFill/>
                  </a:rPr>
                  <a:t> </a:t>
                </a:r>
              </a:p>
            </p:txBody>
          </p:sp>
        </mc:Fallback>
      </mc:AlternateContent>
      <p:pic>
        <p:nvPicPr>
          <p:cNvPr id="11" name="Graphic 10">
            <a:extLst>
              <a:ext uri="{FF2B5EF4-FFF2-40B4-BE49-F238E27FC236}">
                <a16:creationId xmlns:a16="http://schemas.microsoft.com/office/drawing/2014/main" id="{2C1B6D97-565A-CA7F-9D47-4D720260F96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35299" y="2930432"/>
            <a:ext cx="2857500" cy="838200"/>
          </a:xfrm>
          <a:prstGeom prst="rect">
            <a:avLst/>
          </a:prstGeom>
        </p:spPr>
      </p:pic>
      <p:pic>
        <p:nvPicPr>
          <p:cNvPr id="4" name="Graphic 3">
            <a:extLst>
              <a:ext uri="{FF2B5EF4-FFF2-40B4-BE49-F238E27FC236}">
                <a16:creationId xmlns:a16="http://schemas.microsoft.com/office/drawing/2014/main" id="{4D9B4BC7-83AC-4DAB-874B-7DA2A1C95DF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87674" y="2207062"/>
            <a:ext cx="2952750" cy="809625"/>
          </a:xfrm>
          <a:prstGeom prst="rect">
            <a:avLst/>
          </a:prstGeom>
        </p:spPr>
      </p:pic>
      <p:pic>
        <p:nvPicPr>
          <p:cNvPr id="5" name="Graphic 4">
            <a:extLst>
              <a:ext uri="{FF2B5EF4-FFF2-40B4-BE49-F238E27FC236}">
                <a16:creationId xmlns:a16="http://schemas.microsoft.com/office/drawing/2014/main" id="{043EE137-5CE4-7BBF-435C-6E950D3BB26E}"/>
              </a:ext>
            </a:extLst>
          </p:cNvPr>
          <p:cNvPicPr/>
          <p:nvPr/>
        </p:nvPicPr>
        <p:blipFill>
          <a:blip>
            <a:extLst>
              <a:ext uri="{96DAC541-7B7A-43D3-8B79-37D633B846F1}">
                <asvg:svgBlip xmlns:asvg="http://schemas.microsoft.com/office/drawing/2016/SVG/main" r:embed="rId6"/>
              </a:ext>
            </a:extLst>
          </a:blip>
          <a:stretch>
            <a:fillRect/>
          </a:stretch>
        </p:blipFill>
        <p:spPr>
          <a:xfrm>
            <a:off x="6983049" y="988922"/>
            <a:ext cx="762000" cy="561975"/>
          </a:xfrm>
          <a:prstGeom prst="rect">
            <a:avLst/>
          </a:prstGeom>
        </p:spPr>
      </p:pic>
      <p:pic>
        <p:nvPicPr>
          <p:cNvPr id="9" name="Graphic 8">
            <a:extLst>
              <a:ext uri="{FF2B5EF4-FFF2-40B4-BE49-F238E27FC236}">
                <a16:creationId xmlns:a16="http://schemas.microsoft.com/office/drawing/2014/main" id="{17B78A58-0630-F155-6A64-D356A8BD7EAF}"/>
              </a:ext>
            </a:extLst>
          </p:cNvPr>
          <p:cNvPicPr/>
          <p:nvPr/>
        </p:nvPicPr>
        <p:blipFill>
          <a:blip>
            <a:extLst>
              <a:ext uri="{96DAC541-7B7A-43D3-8B79-37D633B846F1}">
                <asvg:svgBlip xmlns:asvg="http://schemas.microsoft.com/office/drawing/2016/SVG/main" r:embed="rId7"/>
              </a:ext>
            </a:extLst>
          </a:blip>
          <a:stretch>
            <a:fillRect/>
          </a:stretch>
        </p:blipFill>
        <p:spPr>
          <a:xfrm>
            <a:off x="5887674" y="1464642"/>
            <a:ext cx="2952750" cy="828675"/>
          </a:xfrm>
          <a:prstGeom prst="rect">
            <a:avLst/>
          </a:prstGeom>
        </p:spPr>
      </p:pic>
      <p:pic>
        <p:nvPicPr>
          <p:cNvPr id="6" name="Picture 5">
            <a:extLst>
              <a:ext uri="{FF2B5EF4-FFF2-40B4-BE49-F238E27FC236}">
                <a16:creationId xmlns:a16="http://schemas.microsoft.com/office/drawing/2014/main" id="{F143549A-15DE-AD04-CAC3-414E672D30AB}"/>
              </a:ext>
            </a:extLst>
          </p:cNvPr>
          <p:cNvPicPr>
            <a:picLocks noChangeAspect="1"/>
          </p:cNvPicPr>
          <p:nvPr/>
        </p:nvPicPr>
        <p:blipFill>
          <a:blip r:embed="rId8"/>
          <a:stretch>
            <a:fillRect/>
          </a:stretch>
        </p:blipFill>
        <p:spPr>
          <a:xfrm>
            <a:off x="2333223" y="988922"/>
            <a:ext cx="3006763" cy="3840480"/>
          </a:xfrm>
          <a:prstGeom prst="rect">
            <a:avLst/>
          </a:prstGeom>
        </p:spPr>
      </p:pic>
      <p:sp>
        <p:nvSpPr>
          <p:cNvPr id="8" name="Rectangle 7">
            <a:extLst>
              <a:ext uri="{FF2B5EF4-FFF2-40B4-BE49-F238E27FC236}">
                <a16:creationId xmlns:a16="http://schemas.microsoft.com/office/drawing/2014/main" id="{AF70FB7A-2589-5A13-9488-CF8F019EABDD}"/>
              </a:ext>
            </a:extLst>
          </p:cNvPr>
          <p:cNvSpPr/>
          <p:nvPr/>
        </p:nvSpPr>
        <p:spPr>
          <a:xfrm>
            <a:off x="4460491" y="1468030"/>
            <a:ext cx="395288" cy="619125"/>
          </a:xfrm>
          <a:prstGeom prst="rect">
            <a:avLst/>
          </a:prstGeom>
          <a:noFill/>
          <a:ln w="19050">
            <a:solidFill>
              <a:schemeClr val="bg2">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6" name="Rectangle 15">
            <a:extLst>
              <a:ext uri="{FF2B5EF4-FFF2-40B4-BE49-F238E27FC236}">
                <a16:creationId xmlns:a16="http://schemas.microsoft.com/office/drawing/2014/main" id="{15CF49B2-32B9-0C3A-12C7-D60020BBD843}"/>
              </a:ext>
            </a:extLst>
          </p:cNvPr>
          <p:cNvSpPr/>
          <p:nvPr/>
        </p:nvSpPr>
        <p:spPr>
          <a:xfrm>
            <a:off x="3893754" y="2196692"/>
            <a:ext cx="395288" cy="295275"/>
          </a:xfrm>
          <a:prstGeom prst="rect">
            <a:avLst/>
          </a:prstGeom>
          <a:noFill/>
          <a:ln w="19050">
            <a:solidFill>
              <a:srgbClr val="C0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pic>
        <p:nvPicPr>
          <p:cNvPr id="18" name="Picture 17">
            <a:extLst>
              <a:ext uri="{FF2B5EF4-FFF2-40B4-BE49-F238E27FC236}">
                <a16:creationId xmlns:a16="http://schemas.microsoft.com/office/drawing/2014/main" id="{20885EC9-E4EA-CFB2-E386-D961BD57C6DA}"/>
              </a:ext>
            </a:extLst>
          </p:cNvPr>
          <p:cNvPicPr>
            <a:picLocks noChangeAspect="1"/>
          </p:cNvPicPr>
          <p:nvPr/>
        </p:nvPicPr>
        <p:blipFill>
          <a:blip r:embed="rId9"/>
          <a:stretch>
            <a:fillRect/>
          </a:stretch>
        </p:blipFill>
        <p:spPr>
          <a:xfrm>
            <a:off x="5887674" y="4337342"/>
            <a:ext cx="1764313" cy="582223"/>
          </a:xfrm>
          <a:prstGeom prst="rect">
            <a:avLst/>
          </a:prstGeom>
        </p:spPr>
      </p:pic>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495C327-3E50-F6F4-4D06-2FC002D4925D}"/>
                  </a:ext>
                </a:extLst>
              </p:cNvPr>
              <p:cNvSpPr txBox="1"/>
              <p:nvPr/>
            </p:nvSpPr>
            <p:spPr>
              <a:xfrm>
                <a:off x="1141976" y="4674756"/>
                <a:ext cx="1504771" cy="369332"/>
              </a:xfrm>
              <a:prstGeom prst="rect">
                <a:avLst/>
              </a:prstGeom>
              <a:noFill/>
            </p:spPr>
            <p:txBody>
              <a:bodyPr wrap="none" rtlCol="0">
                <a:spAutoFit/>
              </a:bodyPr>
              <a:lstStyle/>
              <a:p>
                <a:r>
                  <a:rPr lang="en-US"/>
                  <a:t>Structure of </a:t>
                </a:r>
                <a14:m>
                  <m:oMath xmlns:m="http://schemas.openxmlformats.org/officeDocument/2006/math">
                    <m:r>
                      <a:rPr lang="en-US" i="1" dirty="0" smtClean="0">
                        <a:latin typeface="Cambria Math" panose="02040503050406030204" pitchFamily="18" charset="0"/>
                      </a:rPr>
                      <m:t>𝐴</m:t>
                    </m:r>
                  </m:oMath>
                </a14:m>
                <a:endParaRPr lang="LID4096"/>
              </a:p>
            </p:txBody>
          </p:sp>
        </mc:Choice>
        <mc:Fallback xmlns="">
          <p:sp>
            <p:nvSpPr>
              <p:cNvPr id="12" name="TextBox 11">
                <a:extLst>
                  <a:ext uri="{FF2B5EF4-FFF2-40B4-BE49-F238E27FC236}">
                    <a16:creationId xmlns:a16="http://schemas.microsoft.com/office/drawing/2014/main" id="{2495C327-3E50-F6F4-4D06-2FC002D4925D}"/>
                  </a:ext>
                </a:extLst>
              </p:cNvPr>
              <p:cNvSpPr txBox="1">
                <a:spLocks noRot="1" noChangeAspect="1" noMove="1" noResize="1" noEditPoints="1" noAdjustHandles="1" noChangeArrowheads="1" noChangeShapeType="1" noTextEdit="1"/>
              </p:cNvSpPr>
              <p:nvPr/>
            </p:nvSpPr>
            <p:spPr>
              <a:xfrm>
                <a:off x="1141976" y="4674756"/>
                <a:ext cx="1504771" cy="369332"/>
              </a:xfrm>
              <a:prstGeom prst="rect">
                <a:avLst/>
              </a:prstGeom>
              <a:blipFill>
                <a:blip r:embed="rId10"/>
                <a:stretch>
                  <a:fillRect l="-3239" t="-10000" b="-26667"/>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FB0F0182-3C2E-BDAF-08D1-5BE96DDD54CA}"/>
              </a:ext>
            </a:extLst>
          </p:cNvPr>
          <p:cNvSpPr txBox="1"/>
          <p:nvPr/>
        </p:nvSpPr>
        <p:spPr>
          <a:xfrm>
            <a:off x="4289042" y="4456874"/>
            <a:ext cx="1599925" cy="584775"/>
          </a:xfrm>
          <a:prstGeom prst="rect">
            <a:avLst/>
          </a:prstGeom>
          <a:noFill/>
        </p:spPr>
        <p:txBody>
          <a:bodyPr wrap="none" rtlCol="0">
            <a:spAutoFit/>
          </a:bodyPr>
          <a:lstStyle/>
          <a:p>
            <a:r>
              <a:rPr lang="en-US" sz="3200"/>
              <a:t>Next up:</a:t>
            </a:r>
            <a:endParaRPr lang="LID4096" sz="3200"/>
          </a:p>
        </p:txBody>
      </p:sp>
      <p:sp>
        <p:nvSpPr>
          <p:cNvPr id="20" name="TextBox 19">
            <a:extLst>
              <a:ext uri="{FF2B5EF4-FFF2-40B4-BE49-F238E27FC236}">
                <a16:creationId xmlns:a16="http://schemas.microsoft.com/office/drawing/2014/main" id="{1579E443-0553-B73B-4487-D594F6EBE662}"/>
              </a:ext>
            </a:extLst>
          </p:cNvPr>
          <p:cNvSpPr txBox="1"/>
          <p:nvPr/>
        </p:nvSpPr>
        <p:spPr>
          <a:xfrm>
            <a:off x="7580026" y="4456874"/>
            <a:ext cx="317716" cy="584775"/>
          </a:xfrm>
          <a:prstGeom prst="rect">
            <a:avLst/>
          </a:prstGeom>
          <a:noFill/>
        </p:spPr>
        <p:txBody>
          <a:bodyPr wrap="none" rtlCol="0">
            <a:spAutoFit/>
          </a:bodyPr>
          <a:lstStyle/>
          <a:p>
            <a:r>
              <a:rPr lang="en-US" sz="3200"/>
              <a:t>!</a:t>
            </a:r>
            <a:endParaRPr lang="LID4096" sz="3200"/>
          </a:p>
        </p:txBody>
      </p:sp>
      <p:pic>
        <p:nvPicPr>
          <p:cNvPr id="25" name="Graphic 24">
            <a:extLst>
              <a:ext uri="{FF2B5EF4-FFF2-40B4-BE49-F238E27FC236}">
                <a16:creationId xmlns:a16="http://schemas.microsoft.com/office/drawing/2014/main" id="{076CE8A8-C5D4-E99A-0AC5-9ECCFA6635EC}"/>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040073" y="3682376"/>
            <a:ext cx="2667000" cy="561975"/>
          </a:xfrm>
          <a:prstGeom prst="rect">
            <a:avLst/>
          </a:prstGeom>
        </p:spPr>
      </p:pic>
      <p:sp>
        <p:nvSpPr>
          <p:cNvPr id="26" name="TextBox 25">
            <a:extLst>
              <a:ext uri="{FF2B5EF4-FFF2-40B4-BE49-F238E27FC236}">
                <a16:creationId xmlns:a16="http://schemas.microsoft.com/office/drawing/2014/main" id="{EEAB1F48-BD7A-CE5C-2559-51AEF652D0DF}"/>
              </a:ext>
            </a:extLst>
          </p:cNvPr>
          <p:cNvSpPr txBox="1"/>
          <p:nvPr/>
        </p:nvSpPr>
        <p:spPr>
          <a:xfrm>
            <a:off x="158115" y="2344329"/>
            <a:ext cx="2151295" cy="646331"/>
          </a:xfrm>
          <a:prstGeom prst="rect">
            <a:avLst/>
          </a:prstGeom>
          <a:noFill/>
        </p:spPr>
        <p:txBody>
          <a:bodyPr wrap="none" rtlCol="0">
            <a:spAutoFit/>
          </a:bodyPr>
          <a:lstStyle/>
          <a:p>
            <a:r>
              <a:rPr lang="en-US"/>
              <a:t>Same graph, </a:t>
            </a:r>
          </a:p>
          <a:p>
            <a:r>
              <a:rPr lang="en-US"/>
              <a:t>different appearance</a:t>
            </a:r>
            <a:endParaRPr lang="LID4096"/>
          </a:p>
        </p:txBody>
      </p:sp>
      <p:pic>
        <p:nvPicPr>
          <p:cNvPr id="27" name="Graphic 26">
            <a:extLst>
              <a:ext uri="{FF2B5EF4-FFF2-40B4-BE49-F238E27FC236}">
                <a16:creationId xmlns:a16="http://schemas.microsoft.com/office/drawing/2014/main" id="{617CFC84-F84D-7FA0-977B-1E7F54E48946}"/>
              </a:ext>
            </a:extLst>
          </p:cNvPr>
          <p:cNvPicPr>
            <a:picLocks noChangeAspect="1"/>
          </p:cNvPicPr>
          <p:nvPr/>
        </p:nvPicPr>
        <p:blipFill>
          <a:blip>
            <a:extLst>
              <a:ext uri="{96DAC541-7B7A-43D3-8B79-37D633B846F1}">
                <asvg:svgBlip xmlns:asvg="http://schemas.microsoft.com/office/drawing/2016/SVG/main" r:embed="rId4"/>
              </a:ext>
            </a:extLst>
          </a:blip>
          <a:srcRect r="77552"/>
          <a:stretch>
            <a:fillRect/>
          </a:stretch>
        </p:blipFill>
        <p:spPr>
          <a:xfrm>
            <a:off x="3907698" y="1240575"/>
            <a:ext cx="542382" cy="708754"/>
          </a:xfrm>
          <a:prstGeom prst="rect">
            <a:avLst/>
          </a:prstGeom>
        </p:spPr>
      </p:pic>
      <p:pic>
        <p:nvPicPr>
          <p:cNvPr id="28" name="Graphic 27">
            <a:extLst>
              <a:ext uri="{FF2B5EF4-FFF2-40B4-BE49-F238E27FC236}">
                <a16:creationId xmlns:a16="http://schemas.microsoft.com/office/drawing/2014/main" id="{21ACFEB5-35E6-25D8-14CC-7E8571696AF0}"/>
              </a:ext>
            </a:extLst>
          </p:cNvPr>
          <p:cNvPicPr>
            <a:picLocks noChangeAspect="1"/>
          </p:cNvPicPr>
          <p:nvPr/>
        </p:nvPicPr>
        <p:blipFill>
          <a:blip>
            <a:extLst>
              <a:ext uri="{96DAC541-7B7A-43D3-8B79-37D633B846F1}">
                <asvg:svgBlip xmlns:asvg="http://schemas.microsoft.com/office/drawing/2016/SVG/main" r:embed="rId11"/>
              </a:ext>
            </a:extLst>
          </a:blip>
          <a:srcRect r="61877"/>
          <a:stretch>
            <a:fillRect/>
          </a:stretch>
        </p:blipFill>
        <p:spPr>
          <a:xfrm>
            <a:off x="3623852" y="1850395"/>
            <a:ext cx="787719" cy="435395"/>
          </a:xfrm>
          <a:prstGeom prst="rect">
            <a:avLst/>
          </a:prstGeom>
        </p:spPr>
      </p:pic>
      <p:pic>
        <p:nvPicPr>
          <p:cNvPr id="7" name="Picture 6" descr="A screenshot of a computer screen&#10;&#10;AI-generated content may be incorrect.">
            <a:extLst>
              <a:ext uri="{FF2B5EF4-FFF2-40B4-BE49-F238E27FC236}">
                <a16:creationId xmlns:a16="http://schemas.microsoft.com/office/drawing/2014/main" id="{04E4F03B-EA4F-093B-A26A-B6CAE9322E82}"/>
              </a:ext>
            </a:extLst>
          </p:cNvPr>
          <p:cNvPicPr>
            <a:picLocks noChangeAspect="1"/>
          </p:cNvPicPr>
          <p:nvPr/>
        </p:nvPicPr>
        <p:blipFill>
          <a:blip r:embed="rId12"/>
          <a:srcRect t="-2046" r="33681" b="799"/>
          <a:stretch>
            <a:fillRect/>
          </a:stretch>
        </p:blipFill>
        <p:spPr>
          <a:xfrm>
            <a:off x="157412" y="3934697"/>
            <a:ext cx="1019653" cy="1047956"/>
          </a:xfrm>
          <a:prstGeom prst="rect">
            <a:avLst/>
          </a:prstGeom>
        </p:spPr>
      </p:pic>
    </p:spTree>
    <p:extLst>
      <p:ext uri="{BB962C8B-B14F-4D97-AF65-F5344CB8AC3E}">
        <p14:creationId xmlns:p14="http://schemas.microsoft.com/office/powerpoint/2010/main" val="3687348046"/>
      </p:ext>
    </p:extLst>
  </p:cSld>
  <p:clrMapOvr>
    <a:masterClrMapping/>
  </p:clrMapOvr>
  <mc:AlternateContent xmlns:mc="http://schemas.openxmlformats.org/markup-compatibility/2006" xmlns:p14="http://schemas.microsoft.com/office/powerpoint/2010/main">
    <mc:Choice Requires="p14">
      <p:transition p14:dur="1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6" grpId="0" animBg="1"/>
      <p:bldP spid="19" grpId="0"/>
      <p:bldP spid="20"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62F317-7CF1-2150-C606-D5943C6913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549B6C-22A1-22DB-BF52-5A9C85DE291C}"/>
              </a:ext>
            </a:extLst>
          </p:cNvPr>
          <p:cNvSpPr>
            <a:spLocks noGrp="1"/>
          </p:cNvSpPr>
          <p:nvPr>
            <p:ph type="title"/>
          </p:nvPr>
        </p:nvSpPr>
        <p:spPr>
          <a:xfrm>
            <a:off x="612648" y="475488"/>
            <a:ext cx="7918704" cy="548640"/>
          </a:xfrm>
        </p:spPr>
        <p:txBody>
          <a:bodyPr/>
          <a:lstStyle/>
          <a:p>
            <a:r>
              <a:rPr lang="en-GB" sz="2600">
                <a:solidFill>
                  <a:srgbClr val="FFFFFF"/>
                </a:solidFill>
                <a:latin typeface="Calibri"/>
              </a:rPr>
              <a:t>5</a:t>
            </a:r>
            <a:r>
              <a:rPr lang="en-GB" sz="2600" b="1">
                <a:solidFill>
                  <a:srgbClr val="FFFFFF"/>
                </a:solidFill>
                <a:latin typeface="Calibri"/>
              </a:rPr>
              <a:t>. Stacking modular components</a:t>
            </a:r>
            <a:endParaRPr sz="2600" b="1">
              <a:solidFill>
                <a:srgbClr val="FFFFFF"/>
              </a:solidFill>
              <a:latin typeface="Calibri"/>
            </a:endParaRPr>
          </a:p>
        </p:txBody>
      </p:sp>
      <p:sp>
        <p:nvSpPr>
          <p:cNvPr id="4" name="Tijdelijke aanduiding voor dianummer 3">
            <a:extLst>
              <a:ext uri="{FF2B5EF4-FFF2-40B4-BE49-F238E27FC236}">
                <a16:creationId xmlns:a16="http://schemas.microsoft.com/office/drawing/2014/main" id="{E225AFEE-021A-CA54-98BA-D8DD560C352D}"/>
              </a:ext>
            </a:extLst>
          </p:cNvPr>
          <p:cNvSpPr>
            <a:spLocks noGrp="1"/>
          </p:cNvSpPr>
          <p:nvPr>
            <p:ph type="sldNum" sz="quarter" idx="11"/>
          </p:nvPr>
        </p:nvSpPr>
        <p:spPr/>
        <p:txBody>
          <a:bodyPr/>
          <a:lstStyle/>
          <a:p>
            <a:fld id="{B7CEC10D-CD46-426F-915E-6C78530279CB}" type="slidenum">
              <a:rPr lang="en-US" smtClean="0"/>
              <a:pPr/>
              <a:t>39</a:t>
            </a:fld>
            <a:endParaRPr lang="en-US"/>
          </a:p>
        </p:txBody>
      </p:sp>
      <p:sp>
        <p:nvSpPr>
          <p:cNvPr id="6" name="Oval 5">
            <a:extLst>
              <a:ext uri="{FF2B5EF4-FFF2-40B4-BE49-F238E27FC236}">
                <a16:creationId xmlns:a16="http://schemas.microsoft.com/office/drawing/2014/main" id="{75B91B3F-D77B-D89A-A7A2-1DB8D49DE6C1}"/>
              </a:ext>
            </a:extLst>
          </p:cNvPr>
          <p:cNvSpPr/>
          <p:nvPr/>
        </p:nvSpPr>
        <p:spPr>
          <a:xfrm>
            <a:off x="612000" y="1639411"/>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A</a:t>
            </a:r>
            <a:endParaRPr sz="1400" b="1">
              <a:solidFill>
                <a:srgbClr val="101073"/>
              </a:solidFill>
              <a:latin typeface="Calibri"/>
            </a:endParaRPr>
          </a:p>
        </p:txBody>
      </p:sp>
      <p:sp>
        <p:nvSpPr>
          <p:cNvPr id="8" name="Oval 7">
            <a:extLst>
              <a:ext uri="{FF2B5EF4-FFF2-40B4-BE49-F238E27FC236}">
                <a16:creationId xmlns:a16="http://schemas.microsoft.com/office/drawing/2014/main" id="{3EFFD7BC-8DAA-5459-FD65-472A8E481CFB}"/>
              </a:ext>
            </a:extLst>
          </p:cNvPr>
          <p:cNvSpPr/>
          <p:nvPr/>
        </p:nvSpPr>
        <p:spPr>
          <a:xfrm>
            <a:off x="612000" y="2352643"/>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B</a:t>
            </a:r>
            <a:endParaRPr sz="1400" b="1">
              <a:solidFill>
                <a:srgbClr val="101073"/>
              </a:solidFill>
              <a:latin typeface="Calibri"/>
            </a:endParaRPr>
          </a:p>
        </p:txBody>
      </p:sp>
      <p:sp>
        <p:nvSpPr>
          <p:cNvPr id="9" name="TextBox 8">
            <a:extLst>
              <a:ext uri="{FF2B5EF4-FFF2-40B4-BE49-F238E27FC236}">
                <a16:creationId xmlns:a16="http://schemas.microsoft.com/office/drawing/2014/main" id="{EF1109E7-3506-DB87-CDA5-556748BFB1D9}"/>
              </a:ext>
            </a:extLst>
          </p:cNvPr>
          <p:cNvSpPr txBox="1"/>
          <p:nvPr/>
        </p:nvSpPr>
        <p:spPr>
          <a:xfrm>
            <a:off x="1252080" y="2448639"/>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Building</a:t>
            </a:r>
            <a:endParaRPr sz="1400" b="0" i="0">
              <a:solidFill>
                <a:srgbClr val="C9CDE8"/>
              </a:solidFill>
              <a:latin typeface="Calibri"/>
            </a:endParaRPr>
          </a:p>
        </p:txBody>
      </p:sp>
      <p:sp>
        <p:nvSpPr>
          <p:cNvPr id="5" name="TextBox 4">
            <a:extLst>
              <a:ext uri="{FF2B5EF4-FFF2-40B4-BE49-F238E27FC236}">
                <a16:creationId xmlns:a16="http://schemas.microsoft.com/office/drawing/2014/main" id="{C7D95119-3DE5-80A1-D259-0C068141CB9C}"/>
              </a:ext>
            </a:extLst>
          </p:cNvPr>
          <p:cNvSpPr txBox="1"/>
          <p:nvPr/>
        </p:nvSpPr>
        <p:spPr>
          <a:xfrm>
            <a:off x="1252080" y="1708324"/>
            <a:ext cx="6949440" cy="246221"/>
          </a:xfrm>
          <a:prstGeom prst="rect">
            <a:avLst/>
          </a:prstGeom>
          <a:noFill/>
        </p:spPr>
        <p:txBody>
          <a:bodyPr wrap="square" lIns="0" tIns="0" rIns="0" bIns="0" anchor="ctr">
            <a:spAutoFit/>
          </a:bodyPr>
          <a:lstStyle/>
          <a:p>
            <a:pPr>
              <a:spcAft>
                <a:spcPts val="600"/>
              </a:spcAft>
            </a:pPr>
            <a:r>
              <a:rPr lang="en-GB" sz="1600" b="1" err="1">
                <a:solidFill>
                  <a:srgbClr val="FFFFFF"/>
                </a:solidFill>
                <a:latin typeface="Calibri"/>
              </a:rPr>
              <a:t>Anylyzing</a:t>
            </a:r>
            <a:r>
              <a:rPr lang="en-GB" sz="1600" b="1">
                <a:solidFill>
                  <a:srgbClr val="FFFFFF"/>
                </a:solidFill>
                <a:latin typeface="Calibri"/>
              </a:rPr>
              <a:t> </a:t>
            </a:r>
            <a:r>
              <a:rPr lang="en-GB" sz="1600" b="1" err="1">
                <a:solidFill>
                  <a:srgbClr val="FFFFFF"/>
                </a:solidFill>
                <a:latin typeface="Calibri"/>
              </a:rPr>
              <a:t>GaBP</a:t>
            </a:r>
            <a:r>
              <a:rPr lang="en-GB" sz="1600" b="1">
                <a:solidFill>
                  <a:srgbClr val="FFFFFF"/>
                </a:solidFill>
                <a:latin typeface="Calibri"/>
              </a:rPr>
              <a:t> (Bayesian Jacobi solver)</a:t>
            </a:r>
            <a:endParaRPr lang="en-US" sz="1400" b="0" i="0">
              <a:solidFill>
                <a:srgbClr val="C9CDE8"/>
              </a:solidFill>
              <a:latin typeface="Calibri"/>
              <a:ea typeface="Calibri"/>
              <a:cs typeface="Calibri"/>
            </a:endParaRPr>
          </a:p>
        </p:txBody>
      </p:sp>
    </p:spTree>
    <p:extLst>
      <p:ext uri="{BB962C8B-B14F-4D97-AF65-F5344CB8AC3E}">
        <p14:creationId xmlns:p14="http://schemas.microsoft.com/office/powerpoint/2010/main" val="22373326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7D94B-8332-512C-BF6E-57319AB543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285897-59A8-1EAD-A6AF-CAB6D321766C}"/>
              </a:ext>
            </a:extLst>
          </p:cNvPr>
          <p:cNvSpPr>
            <a:spLocks noGrp="1"/>
          </p:cNvSpPr>
          <p:nvPr>
            <p:ph type="title"/>
          </p:nvPr>
        </p:nvSpPr>
        <p:spPr>
          <a:xfrm>
            <a:off x="612648" y="475488"/>
            <a:ext cx="7918704" cy="548640"/>
          </a:xfrm>
        </p:spPr>
        <p:txBody>
          <a:bodyPr/>
          <a:lstStyle/>
          <a:p>
            <a:r>
              <a:rPr lang="en-GB" sz="2600">
                <a:solidFill>
                  <a:srgbClr val="FFFFFF"/>
                </a:solidFill>
                <a:latin typeface="Calibri"/>
              </a:rPr>
              <a:t>5</a:t>
            </a:r>
            <a:r>
              <a:rPr lang="en-GB" sz="2600" b="1">
                <a:solidFill>
                  <a:srgbClr val="FFFFFF"/>
                </a:solidFill>
                <a:latin typeface="Calibri"/>
              </a:rPr>
              <a:t>. Stacking modular components</a:t>
            </a:r>
            <a:endParaRPr sz="2600" b="1">
              <a:solidFill>
                <a:srgbClr val="FFFFFF"/>
              </a:solidFill>
              <a:latin typeface="Calibri"/>
            </a:endParaRPr>
          </a:p>
        </p:txBody>
      </p:sp>
      <p:sp>
        <p:nvSpPr>
          <p:cNvPr id="4" name="Tijdelijke aanduiding voor dianummer 3">
            <a:extLst>
              <a:ext uri="{FF2B5EF4-FFF2-40B4-BE49-F238E27FC236}">
                <a16:creationId xmlns:a16="http://schemas.microsoft.com/office/drawing/2014/main" id="{313E8235-DCAB-6E8D-ADE6-0B67CEC03730}"/>
              </a:ext>
            </a:extLst>
          </p:cNvPr>
          <p:cNvSpPr>
            <a:spLocks noGrp="1"/>
          </p:cNvSpPr>
          <p:nvPr>
            <p:ph type="sldNum" sz="quarter" idx="11"/>
          </p:nvPr>
        </p:nvSpPr>
        <p:spPr/>
        <p:txBody>
          <a:bodyPr/>
          <a:lstStyle/>
          <a:p>
            <a:fld id="{B7CEC10D-CD46-426F-915E-6C78530279CB}" type="slidenum">
              <a:rPr lang="en-US" smtClean="0"/>
              <a:pPr/>
              <a:t>40</a:t>
            </a:fld>
            <a:endParaRPr lang="en-US"/>
          </a:p>
        </p:txBody>
      </p:sp>
      <p:sp>
        <p:nvSpPr>
          <p:cNvPr id="6" name="Oval 5">
            <a:extLst>
              <a:ext uri="{FF2B5EF4-FFF2-40B4-BE49-F238E27FC236}">
                <a16:creationId xmlns:a16="http://schemas.microsoft.com/office/drawing/2014/main" id="{9D93B0E7-F594-57E0-A565-EFE45373F585}"/>
              </a:ext>
            </a:extLst>
          </p:cNvPr>
          <p:cNvSpPr/>
          <p:nvPr/>
        </p:nvSpPr>
        <p:spPr>
          <a:xfrm>
            <a:off x="612000" y="1639411"/>
            <a:ext cx="384048" cy="3840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FFFFFF"/>
                </a:solidFill>
                <a:latin typeface="Calibri"/>
              </a:rPr>
              <a:t>A</a:t>
            </a:r>
            <a:endParaRPr sz="1400" b="1">
              <a:solidFill>
                <a:srgbClr val="FFFFFF"/>
              </a:solidFill>
              <a:latin typeface="Calibri"/>
            </a:endParaRPr>
          </a:p>
        </p:txBody>
      </p:sp>
      <p:sp>
        <p:nvSpPr>
          <p:cNvPr id="7" name="TextBox 6">
            <a:extLst>
              <a:ext uri="{FF2B5EF4-FFF2-40B4-BE49-F238E27FC236}">
                <a16:creationId xmlns:a16="http://schemas.microsoft.com/office/drawing/2014/main" id="{91E20942-91B8-41D5-4720-CB25884939F6}"/>
              </a:ext>
            </a:extLst>
          </p:cNvPr>
          <p:cNvSpPr txBox="1"/>
          <p:nvPr/>
        </p:nvSpPr>
        <p:spPr>
          <a:xfrm>
            <a:off x="1252080" y="1708324"/>
            <a:ext cx="6949440" cy="246221"/>
          </a:xfrm>
          <a:prstGeom prst="rect">
            <a:avLst/>
          </a:prstGeom>
          <a:noFill/>
        </p:spPr>
        <p:txBody>
          <a:bodyPr wrap="square" lIns="0" tIns="0" rIns="0" bIns="0" anchor="ctr">
            <a:spAutoFit/>
          </a:bodyPr>
          <a:lstStyle/>
          <a:p>
            <a:pPr>
              <a:spcAft>
                <a:spcPts val="600"/>
              </a:spcAft>
            </a:pPr>
            <a:r>
              <a:rPr lang="en-GB" sz="1600" b="1" err="1">
                <a:solidFill>
                  <a:srgbClr val="FFFFFF"/>
                </a:solidFill>
                <a:latin typeface="Calibri"/>
              </a:rPr>
              <a:t>Anylyzing</a:t>
            </a:r>
            <a:r>
              <a:rPr lang="en-GB" sz="1600" b="1">
                <a:solidFill>
                  <a:srgbClr val="FFFFFF"/>
                </a:solidFill>
                <a:latin typeface="Calibri"/>
              </a:rPr>
              <a:t> </a:t>
            </a:r>
            <a:r>
              <a:rPr lang="en-GB" sz="1600" b="1" err="1">
                <a:solidFill>
                  <a:srgbClr val="FFFFFF"/>
                </a:solidFill>
                <a:latin typeface="Calibri"/>
              </a:rPr>
              <a:t>GaBP</a:t>
            </a:r>
            <a:r>
              <a:rPr lang="en-GB" sz="1600" b="1">
                <a:solidFill>
                  <a:srgbClr val="FFFFFF"/>
                </a:solidFill>
                <a:latin typeface="Calibri"/>
              </a:rPr>
              <a:t> (Bayesian Jacobi solver)</a:t>
            </a:r>
            <a:endParaRPr lang="en-US" sz="1400" b="0" i="0">
              <a:solidFill>
                <a:srgbClr val="C9CDE8"/>
              </a:solidFill>
              <a:latin typeface="Calibri"/>
              <a:ea typeface="Calibri"/>
              <a:cs typeface="Calibri"/>
            </a:endParaRPr>
          </a:p>
        </p:txBody>
      </p:sp>
      <p:sp>
        <p:nvSpPr>
          <p:cNvPr id="8" name="Oval 7">
            <a:extLst>
              <a:ext uri="{FF2B5EF4-FFF2-40B4-BE49-F238E27FC236}">
                <a16:creationId xmlns:a16="http://schemas.microsoft.com/office/drawing/2014/main" id="{E679B185-012D-FC44-AB0C-CED40168D8A7}"/>
              </a:ext>
            </a:extLst>
          </p:cNvPr>
          <p:cNvSpPr/>
          <p:nvPr/>
        </p:nvSpPr>
        <p:spPr>
          <a:xfrm>
            <a:off x="612000" y="2352643"/>
            <a:ext cx="384048" cy="38404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B</a:t>
            </a:r>
            <a:endParaRPr sz="1400" b="1">
              <a:solidFill>
                <a:srgbClr val="101073"/>
              </a:solidFill>
              <a:latin typeface="Calibri"/>
            </a:endParaRPr>
          </a:p>
        </p:txBody>
      </p:sp>
      <p:sp>
        <p:nvSpPr>
          <p:cNvPr id="9" name="TextBox 8">
            <a:extLst>
              <a:ext uri="{FF2B5EF4-FFF2-40B4-BE49-F238E27FC236}">
                <a16:creationId xmlns:a16="http://schemas.microsoft.com/office/drawing/2014/main" id="{535823D3-2123-233B-43D5-4BF2F7E8DA1D}"/>
              </a:ext>
            </a:extLst>
          </p:cNvPr>
          <p:cNvSpPr txBox="1"/>
          <p:nvPr/>
        </p:nvSpPr>
        <p:spPr>
          <a:xfrm>
            <a:off x="1252080" y="2448639"/>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Building</a:t>
            </a:r>
            <a:endParaRPr sz="1400" b="0" i="0">
              <a:solidFill>
                <a:srgbClr val="C9CDE8"/>
              </a:solidFill>
              <a:latin typeface="Calibri"/>
            </a:endParaRPr>
          </a:p>
        </p:txBody>
      </p:sp>
    </p:spTree>
    <p:extLst>
      <p:ext uri="{BB962C8B-B14F-4D97-AF65-F5344CB8AC3E}">
        <p14:creationId xmlns:p14="http://schemas.microsoft.com/office/powerpoint/2010/main" val="18679321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8A20D-3E52-D5B7-8DA2-F1F64E3CF0BB}"/>
              </a:ext>
            </a:extLst>
          </p:cNvPr>
          <p:cNvSpPr>
            <a:spLocks noGrp="1"/>
          </p:cNvSpPr>
          <p:nvPr>
            <p:ph type="title"/>
          </p:nvPr>
        </p:nvSpPr>
        <p:spPr/>
        <p:txBody>
          <a:bodyPr/>
          <a:lstStyle/>
          <a:p>
            <a:r>
              <a:rPr lang="en-US" dirty="0" err="1"/>
              <a:t>GaBP</a:t>
            </a:r>
            <a:r>
              <a:rPr lang="en-US" dirty="0"/>
              <a:t> is a generalization of Jacobi </a:t>
            </a:r>
            <a:endParaRPr lang="LID4096" dirty="0"/>
          </a:p>
        </p:txBody>
      </p:sp>
      <p:pic>
        <p:nvPicPr>
          <p:cNvPr id="5" name="Graphic 4">
            <a:extLst>
              <a:ext uri="{FF2B5EF4-FFF2-40B4-BE49-F238E27FC236}">
                <a16:creationId xmlns:a16="http://schemas.microsoft.com/office/drawing/2014/main" id="{BC394567-F367-127C-58A2-321EDB4C983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49239" y="1471077"/>
            <a:ext cx="2857500" cy="1038225"/>
          </a:xfrm>
          <a:prstGeom prst="rect">
            <a:avLst/>
          </a:prstGeom>
        </p:spPr>
      </p:pic>
      <p:pic>
        <p:nvPicPr>
          <p:cNvPr id="7" name="Graphic 6">
            <a:extLst>
              <a:ext uri="{FF2B5EF4-FFF2-40B4-BE49-F238E27FC236}">
                <a16:creationId xmlns:a16="http://schemas.microsoft.com/office/drawing/2014/main" id="{46DE78DA-AD38-3C4F-F447-B7FFFD4D6E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44489" y="2670028"/>
            <a:ext cx="2667000" cy="914400"/>
          </a:xfrm>
          <a:prstGeom prst="rect">
            <a:avLst/>
          </a:prstGeom>
        </p:spPr>
      </p:pic>
      <p:pic>
        <p:nvPicPr>
          <p:cNvPr id="9" name="Graphic 8">
            <a:extLst>
              <a:ext uri="{FF2B5EF4-FFF2-40B4-BE49-F238E27FC236}">
                <a16:creationId xmlns:a16="http://schemas.microsoft.com/office/drawing/2014/main" id="{E0DF1687-70A7-F62B-1E7D-4C0DEDE21B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42976" y="1532989"/>
            <a:ext cx="2857500" cy="914400"/>
          </a:xfrm>
          <a:prstGeom prst="rect">
            <a:avLst/>
          </a:prstGeom>
        </p:spPr>
      </p:pic>
      <p:pic>
        <p:nvPicPr>
          <p:cNvPr id="11" name="Graphic 10">
            <a:extLst>
              <a:ext uri="{FF2B5EF4-FFF2-40B4-BE49-F238E27FC236}">
                <a16:creationId xmlns:a16="http://schemas.microsoft.com/office/drawing/2014/main" id="{FB326703-09AB-5838-6C64-469CD92A714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92130" y="3769532"/>
            <a:ext cx="3238500" cy="990600"/>
          </a:xfrm>
          <a:prstGeom prst="rect">
            <a:avLst/>
          </a:prstGeom>
        </p:spPr>
      </p:pic>
      <p:sp>
        <p:nvSpPr>
          <p:cNvPr id="12" name="TextBox 11">
            <a:extLst>
              <a:ext uri="{FF2B5EF4-FFF2-40B4-BE49-F238E27FC236}">
                <a16:creationId xmlns:a16="http://schemas.microsoft.com/office/drawing/2014/main" id="{2CDE69CD-BD37-03DB-295B-8370B95BE597}"/>
              </a:ext>
            </a:extLst>
          </p:cNvPr>
          <p:cNvSpPr txBox="1"/>
          <p:nvPr/>
        </p:nvSpPr>
        <p:spPr>
          <a:xfrm>
            <a:off x="2646217" y="983671"/>
            <a:ext cx="684803" cy="369332"/>
          </a:xfrm>
          <a:prstGeom prst="rect">
            <a:avLst/>
          </a:prstGeom>
          <a:noFill/>
        </p:spPr>
        <p:txBody>
          <a:bodyPr wrap="none" rtlCol="0">
            <a:spAutoFit/>
          </a:bodyPr>
          <a:lstStyle/>
          <a:p>
            <a:r>
              <a:rPr lang="en-US" dirty="0" err="1"/>
              <a:t>GaBP</a:t>
            </a:r>
            <a:endParaRPr lang="LID4096" dirty="0"/>
          </a:p>
        </p:txBody>
      </p:sp>
      <p:sp>
        <p:nvSpPr>
          <p:cNvPr id="13" name="TextBox 12">
            <a:extLst>
              <a:ext uri="{FF2B5EF4-FFF2-40B4-BE49-F238E27FC236}">
                <a16:creationId xmlns:a16="http://schemas.microsoft.com/office/drawing/2014/main" id="{CA0120C2-2C9D-0E0D-4ED0-48D606D5C78F}"/>
              </a:ext>
            </a:extLst>
          </p:cNvPr>
          <p:cNvSpPr txBox="1"/>
          <p:nvPr/>
        </p:nvSpPr>
        <p:spPr>
          <a:xfrm>
            <a:off x="5888181" y="981609"/>
            <a:ext cx="761427" cy="369332"/>
          </a:xfrm>
          <a:prstGeom prst="rect">
            <a:avLst/>
          </a:prstGeom>
          <a:noFill/>
        </p:spPr>
        <p:txBody>
          <a:bodyPr wrap="none" rtlCol="0">
            <a:spAutoFit/>
          </a:bodyPr>
          <a:lstStyle/>
          <a:p>
            <a:r>
              <a:rPr lang="en-US" dirty="0"/>
              <a:t>Jacobi</a:t>
            </a:r>
            <a:endParaRPr lang="LID4096" dirty="0"/>
          </a:p>
        </p:txBody>
      </p:sp>
      <p:sp>
        <p:nvSpPr>
          <p:cNvPr id="14" name="TextBox 13">
            <a:extLst>
              <a:ext uri="{FF2B5EF4-FFF2-40B4-BE49-F238E27FC236}">
                <a16:creationId xmlns:a16="http://schemas.microsoft.com/office/drawing/2014/main" id="{B8F18CED-1A86-D179-BDBA-46403F77AD44}"/>
              </a:ext>
            </a:extLst>
          </p:cNvPr>
          <p:cNvSpPr txBox="1"/>
          <p:nvPr/>
        </p:nvSpPr>
        <p:spPr>
          <a:xfrm>
            <a:off x="1364673" y="4080166"/>
            <a:ext cx="2516907" cy="369332"/>
          </a:xfrm>
          <a:prstGeom prst="rect">
            <a:avLst/>
          </a:prstGeom>
          <a:noFill/>
        </p:spPr>
        <p:txBody>
          <a:bodyPr wrap="none" rtlCol="0">
            <a:spAutoFit/>
          </a:bodyPr>
          <a:lstStyle/>
          <a:p>
            <a:r>
              <a:rPr lang="en-US" dirty="0" err="1"/>
              <a:t>GaBP</a:t>
            </a:r>
            <a:r>
              <a:rPr lang="en-US" dirty="0"/>
              <a:t> precision message:</a:t>
            </a:r>
            <a:endParaRPr lang="LID4096" dirty="0"/>
          </a:p>
        </p:txBody>
      </p:sp>
      <p:sp>
        <p:nvSpPr>
          <p:cNvPr id="15" name="TextBox 14">
            <a:extLst>
              <a:ext uri="{FF2B5EF4-FFF2-40B4-BE49-F238E27FC236}">
                <a16:creationId xmlns:a16="http://schemas.microsoft.com/office/drawing/2014/main" id="{E56BD6E1-0430-6DF4-4D73-CA5502B0E14D}"/>
              </a:ext>
            </a:extLst>
          </p:cNvPr>
          <p:cNvSpPr txBox="1"/>
          <p:nvPr/>
        </p:nvSpPr>
        <p:spPr>
          <a:xfrm>
            <a:off x="5261246" y="2942562"/>
            <a:ext cx="2015295" cy="369332"/>
          </a:xfrm>
          <a:prstGeom prst="rect">
            <a:avLst/>
          </a:prstGeom>
          <a:noFill/>
        </p:spPr>
        <p:txBody>
          <a:bodyPr wrap="none" rtlCol="0">
            <a:spAutoFit/>
          </a:bodyPr>
          <a:lstStyle/>
          <a:p>
            <a:r>
              <a:rPr lang="en-US" dirty="0"/>
              <a:t>No variance update</a:t>
            </a:r>
            <a:endParaRPr lang="LID4096" dirty="0"/>
          </a:p>
        </p:txBody>
      </p:sp>
      <p:cxnSp>
        <p:nvCxnSpPr>
          <p:cNvPr id="17" name="Straight Connector 16">
            <a:extLst>
              <a:ext uri="{FF2B5EF4-FFF2-40B4-BE49-F238E27FC236}">
                <a16:creationId xmlns:a16="http://schemas.microsoft.com/office/drawing/2014/main" id="{5C31EEBC-0591-D4AA-C953-0085ABE2B819}"/>
              </a:ext>
            </a:extLst>
          </p:cNvPr>
          <p:cNvCxnSpPr>
            <a:cxnSpLocks/>
          </p:cNvCxnSpPr>
          <p:nvPr/>
        </p:nvCxnSpPr>
        <p:spPr>
          <a:xfrm>
            <a:off x="4572000" y="1141269"/>
            <a:ext cx="0" cy="2606386"/>
          </a:xfrm>
          <a:prstGeom prst="line">
            <a:avLst/>
          </a:prstGeom>
          <a:ln>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9C98CA0F-6A64-0BF2-8A68-590B4210010D}"/>
              </a:ext>
            </a:extLst>
          </p:cNvPr>
          <p:cNvCxnSpPr>
            <a:cxnSpLocks/>
          </p:cNvCxnSpPr>
          <p:nvPr/>
        </p:nvCxnSpPr>
        <p:spPr>
          <a:xfrm>
            <a:off x="1232648" y="2571750"/>
            <a:ext cx="6678704" cy="0"/>
          </a:xfrm>
          <a:prstGeom prst="line">
            <a:avLst/>
          </a:prstGeom>
          <a:ln>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70724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82921E-F286-391E-FE84-0996B25570A4}"/>
              </a:ext>
            </a:extLst>
          </p:cNvPr>
          <p:cNvSpPr>
            <a:spLocks noGrp="1"/>
          </p:cNvSpPr>
          <p:nvPr>
            <p:ph type="title"/>
          </p:nvPr>
        </p:nvSpPr>
        <p:spPr/>
        <p:txBody>
          <a:bodyPr/>
          <a:lstStyle/>
          <a:p>
            <a:r>
              <a:rPr lang="en-US" dirty="0" err="1"/>
              <a:t>GaBP</a:t>
            </a:r>
            <a:r>
              <a:rPr lang="en-US" dirty="0"/>
              <a:t> iterations</a:t>
            </a:r>
            <a:endParaRPr lang="LID4096" dirty="0"/>
          </a:p>
        </p:txBody>
      </p:sp>
      <p:pic>
        <p:nvPicPr>
          <p:cNvPr id="5" name="Picture 4">
            <a:extLst>
              <a:ext uri="{FF2B5EF4-FFF2-40B4-BE49-F238E27FC236}">
                <a16:creationId xmlns:a16="http://schemas.microsoft.com/office/drawing/2014/main" id="{DCB3E18F-9E36-2E66-2213-4D76727F08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71600" y="1028700"/>
            <a:ext cx="6400800" cy="3086100"/>
          </a:xfrm>
          <a:prstGeom prst="rect">
            <a:avLst/>
          </a:prstGeom>
        </p:spPr>
      </p:pic>
    </p:spTree>
    <p:extLst>
      <p:ext uri="{BB962C8B-B14F-4D97-AF65-F5344CB8AC3E}">
        <p14:creationId xmlns:p14="http://schemas.microsoft.com/office/powerpoint/2010/main" val="7810124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5B280A-006F-70FE-DA49-733EAB199A5F}"/>
              </a:ext>
            </a:extLst>
          </p:cNvPr>
          <p:cNvSpPr>
            <a:spLocks noGrp="1"/>
          </p:cNvSpPr>
          <p:nvPr>
            <p:ph type="title"/>
          </p:nvPr>
        </p:nvSpPr>
        <p:spPr/>
        <p:txBody>
          <a:bodyPr/>
          <a:lstStyle/>
          <a:p>
            <a:r>
              <a:rPr lang="en-US" dirty="0"/>
              <a:t>You can play with schedules!</a:t>
            </a:r>
            <a:endParaRPr lang="LID4096" dirty="0"/>
          </a:p>
        </p:txBody>
      </p:sp>
      <p:pic>
        <p:nvPicPr>
          <p:cNvPr id="5" name="Picture 4">
            <a:extLst>
              <a:ext uri="{FF2B5EF4-FFF2-40B4-BE49-F238E27FC236}">
                <a16:creationId xmlns:a16="http://schemas.microsoft.com/office/drawing/2014/main" id="{4D3A8E5E-2CB2-A361-08E0-EDFB9D14FE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71600" y="1028700"/>
            <a:ext cx="6400800" cy="3086100"/>
          </a:xfrm>
          <a:prstGeom prst="rect">
            <a:avLst/>
          </a:prstGeom>
        </p:spPr>
      </p:pic>
    </p:spTree>
    <p:extLst>
      <p:ext uri="{BB962C8B-B14F-4D97-AF65-F5344CB8AC3E}">
        <p14:creationId xmlns:p14="http://schemas.microsoft.com/office/powerpoint/2010/main" val="34646148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9F3FA552-F7FD-D627-8607-3E881DD5F56B}"/>
              </a:ext>
            </a:extLst>
          </p:cNvPr>
          <p:cNvSpPr>
            <a:spLocks noGrp="1"/>
          </p:cNvSpPr>
          <p:nvPr>
            <p:ph type="title"/>
          </p:nvPr>
        </p:nvSpPr>
        <p:spPr/>
        <p:txBody>
          <a:bodyPr/>
          <a:lstStyle/>
          <a:p>
            <a:r>
              <a:rPr lang="en-US">
                <a:ea typeface="Calibri"/>
                <a:cs typeface="Calibri"/>
              </a:rPr>
              <a:t>Is our generalization useful?</a:t>
            </a:r>
            <a:endParaRPr lang="en-US"/>
          </a:p>
        </p:txBody>
      </p:sp>
      <p:pic>
        <p:nvPicPr>
          <p:cNvPr id="2" name="Content Placeholder 1">
            <a:extLst>
              <a:ext uri="{FF2B5EF4-FFF2-40B4-BE49-F238E27FC236}">
                <a16:creationId xmlns:a16="http://schemas.microsoft.com/office/drawing/2014/main" id="{A41DB302-4B1E-745C-D9E8-92262570161A}"/>
              </a:ext>
            </a:extLst>
          </p:cNvPr>
          <p:cNvPicPr>
            <a:picLocks noGrp="1" noChangeAspect="1"/>
          </p:cNvPicPr>
          <p:nvPr>
            <p:ph idx="1"/>
          </p:nvPr>
        </p:nvPicPr>
        <p:blipFill>
          <a:blip r:embed="rId3"/>
          <a:stretch>
            <a:fillRect/>
          </a:stretch>
        </p:blipFill>
        <p:spPr>
          <a:xfrm>
            <a:off x="1256068" y="1123241"/>
            <a:ext cx="5908378" cy="3207945"/>
          </a:xfrm>
          <a:prstGeom prst="rect">
            <a:avLst/>
          </a:prstGeom>
        </p:spPr>
      </p:pic>
      <p:sp>
        <p:nvSpPr>
          <p:cNvPr id="3" name="Tijdelijke aanduiding voor dianummer 2">
            <a:extLst>
              <a:ext uri="{FF2B5EF4-FFF2-40B4-BE49-F238E27FC236}">
                <a16:creationId xmlns:a16="http://schemas.microsoft.com/office/drawing/2014/main" id="{0C4EF258-21C6-19FA-5400-7A91DEA0E21E}"/>
              </a:ext>
            </a:extLst>
          </p:cNvPr>
          <p:cNvSpPr>
            <a:spLocks noGrp="1"/>
          </p:cNvSpPr>
          <p:nvPr>
            <p:ph type="sldNum" sz="quarter" idx="12"/>
          </p:nvPr>
        </p:nvSpPr>
        <p:spPr/>
        <p:txBody>
          <a:bodyPr/>
          <a:lstStyle/>
          <a:p>
            <a:fld id="{B7CEC10D-CD46-426F-915E-6C78530279CB}" type="slidenum">
              <a:rPr lang="en-US" smtClean="0"/>
              <a:pPr/>
              <a:t>44</a:t>
            </a:fld>
            <a:endParaRPr lang="en-US"/>
          </a:p>
        </p:txBody>
      </p:sp>
    </p:spTree>
    <p:extLst>
      <p:ext uri="{BB962C8B-B14F-4D97-AF65-F5344CB8AC3E}">
        <p14:creationId xmlns:p14="http://schemas.microsoft.com/office/powerpoint/2010/main" val="8840988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71E139-B79B-B914-D644-FEB7879C3B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D485A8-0C1C-C9D7-C977-825B039CEF74}"/>
              </a:ext>
            </a:extLst>
          </p:cNvPr>
          <p:cNvSpPr>
            <a:spLocks noGrp="1"/>
          </p:cNvSpPr>
          <p:nvPr>
            <p:ph type="title"/>
          </p:nvPr>
        </p:nvSpPr>
        <p:spPr/>
        <p:txBody>
          <a:bodyPr/>
          <a:lstStyle/>
          <a:p>
            <a:r>
              <a:rPr lang="en-GB" sz="2600" err="1">
                <a:solidFill>
                  <a:srgbClr val="101073"/>
                </a:solidFill>
                <a:latin typeface="Calibri"/>
              </a:rPr>
              <a:t>GaBP</a:t>
            </a:r>
            <a:r>
              <a:rPr lang="en-GB" sz="2600">
                <a:solidFill>
                  <a:srgbClr val="101073"/>
                </a:solidFill>
                <a:latin typeface="Calibri"/>
              </a:rPr>
              <a:t> is distributed algorithm</a:t>
            </a:r>
            <a:endParaRPr lang="en-US"/>
          </a:p>
        </p:txBody>
      </p:sp>
      <p:sp>
        <p:nvSpPr>
          <p:cNvPr id="6" name="Tijdelijke aanduiding voor dianummer 5">
            <a:extLst>
              <a:ext uri="{FF2B5EF4-FFF2-40B4-BE49-F238E27FC236}">
                <a16:creationId xmlns:a16="http://schemas.microsoft.com/office/drawing/2014/main" id="{80D14A05-8EFC-7914-4521-801DA013C807}"/>
              </a:ext>
            </a:extLst>
          </p:cNvPr>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45</a:t>
            </a:fld>
            <a:endParaRPr lang="en-US"/>
          </a:p>
        </p:txBody>
      </p:sp>
      <p:pic>
        <p:nvPicPr>
          <p:cNvPr id="4" name="Picture 3">
            <a:extLst>
              <a:ext uri="{FF2B5EF4-FFF2-40B4-BE49-F238E27FC236}">
                <a16:creationId xmlns:a16="http://schemas.microsoft.com/office/drawing/2014/main" id="{B1A9EE8E-EF76-5444-138E-EFE7DCD124FA}"/>
              </a:ext>
            </a:extLst>
          </p:cNvPr>
          <p:cNvPicPr>
            <a:picLocks noChangeAspect="1"/>
          </p:cNvPicPr>
          <p:nvPr/>
        </p:nvPicPr>
        <p:blipFill>
          <a:blip r:embed="rId3"/>
          <a:stretch>
            <a:fillRect/>
          </a:stretch>
        </p:blipFill>
        <p:spPr>
          <a:xfrm>
            <a:off x="913085" y="1284052"/>
            <a:ext cx="6582105" cy="2726481"/>
          </a:xfrm>
          <a:prstGeom prst="rect">
            <a:avLst/>
          </a:prstGeom>
        </p:spPr>
      </p:pic>
    </p:spTree>
    <p:extLst>
      <p:ext uri="{BB962C8B-B14F-4D97-AF65-F5344CB8AC3E}">
        <p14:creationId xmlns:p14="http://schemas.microsoft.com/office/powerpoint/2010/main" val="372646771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7974B-B781-F08C-4691-570975DB2D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598039-96FB-8DC6-4415-27C5CB94011A}"/>
              </a:ext>
            </a:extLst>
          </p:cNvPr>
          <p:cNvSpPr>
            <a:spLocks noGrp="1"/>
          </p:cNvSpPr>
          <p:nvPr>
            <p:ph type="title"/>
          </p:nvPr>
        </p:nvSpPr>
        <p:spPr/>
        <p:txBody>
          <a:bodyPr/>
          <a:lstStyle/>
          <a:p>
            <a:r>
              <a:rPr lang="en-GB" sz="2600">
                <a:solidFill>
                  <a:srgbClr val="101073"/>
                </a:solidFill>
                <a:ea typeface="Calibri"/>
                <a:cs typeface="Calibri"/>
              </a:rPr>
              <a:t>CG needs global synchronization steps</a:t>
            </a:r>
          </a:p>
        </p:txBody>
      </p:sp>
      <p:sp>
        <p:nvSpPr>
          <p:cNvPr id="6" name="Tijdelijke aanduiding voor dianummer 5">
            <a:extLst>
              <a:ext uri="{FF2B5EF4-FFF2-40B4-BE49-F238E27FC236}">
                <a16:creationId xmlns:a16="http://schemas.microsoft.com/office/drawing/2014/main" id="{632E43BB-0E5F-3BE6-A2B2-006C8FD98745}"/>
              </a:ext>
            </a:extLst>
          </p:cNvPr>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46</a:t>
            </a:fld>
            <a:endParaRPr lang="en-US"/>
          </a:p>
        </p:txBody>
      </p:sp>
      <p:pic>
        <p:nvPicPr>
          <p:cNvPr id="3" name="Picture 2">
            <a:extLst>
              <a:ext uri="{FF2B5EF4-FFF2-40B4-BE49-F238E27FC236}">
                <a16:creationId xmlns:a16="http://schemas.microsoft.com/office/drawing/2014/main" id="{5FB6A9D9-2266-3502-1475-F15BF35E8495}"/>
              </a:ext>
            </a:extLst>
          </p:cNvPr>
          <p:cNvPicPr>
            <a:picLocks noChangeAspect="1"/>
          </p:cNvPicPr>
          <p:nvPr/>
        </p:nvPicPr>
        <p:blipFill>
          <a:blip r:embed="rId3"/>
          <a:stretch>
            <a:fillRect/>
          </a:stretch>
        </p:blipFill>
        <p:spPr>
          <a:xfrm>
            <a:off x="358140" y="1188687"/>
            <a:ext cx="8229600" cy="2941387"/>
          </a:xfrm>
          <a:prstGeom prst="rect">
            <a:avLst/>
          </a:prstGeom>
        </p:spPr>
      </p:pic>
    </p:spTree>
    <p:extLst>
      <p:ext uri="{BB962C8B-B14F-4D97-AF65-F5344CB8AC3E}">
        <p14:creationId xmlns:p14="http://schemas.microsoft.com/office/powerpoint/2010/main" val="171262520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92D0E-3336-F659-57FE-4456EBD729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D578A1-C1EA-EDE0-1FE2-4BF160F90162}"/>
              </a:ext>
            </a:extLst>
          </p:cNvPr>
          <p:cNvSpPr>
            <a:spLocks noGrp="1"/>
          </p:cNvSpPr>
          <p:nvPr>
            <p:ph type="title"/>
          </p:nvPr>
        </p:nvSpPr>
        <p:spPr>
          <a:xfrm>
            <a:off x="612000" y="544228"/>
            <a:ext cx="7923213" cy="394448"/>
          </a:xfrm>
        </p:spPr>
        <p:txBody>
          <a:bodyPr>
            <a:normAutofit/>
          </a:bodyPr>
          <a:lstStyle/>
          <a:p>
            <a:r>
              <a:rPr lang="en-GB"/>
              <a:t>What algorithm wins and for what topology</a:t>
            </a:r>
          </a:p>
        </p:txBody>
      </p:sp>
      <p:pic>
        <p:nvPicPr>
          <p:cNvPr id="5" name="Picture 4">
            <a:extLst>
              <a:ext uri="{FF2B5EF4-FFF2-40B4-BE49-F238E27FC236}">
                <a16:creationId xmlns:a16="http://schemas.microsoft.com/office/drawing/2014/main" id="{AB3F646A-6DA5-C1EA-69D1-5AA1F6A0B0BB}"/>
              </a:ext>
            </a:extLst>
          </p:cNvPr>
          <p:cNvPicPr>
            <a:picLocks noChangeAspect="1"/>
          </p:cNvPicPr>
          <p:nvPr/>
        </p:nvPicPr>
        <p:blipFill>
          <a:blip r:embed="rId3"/>
          <a:stretch>
            <a:fillRect/>
          </a:stretch>
        </p:blipFill>
        <p:spPr>
          <a:xfrm>
            <a:off x="863236" y="1206085"/>
            <a:ext cx="7157648" cy="3310413"/>
          </a:xfrm>
          <a:prstGeom prst="rect">
            <a:avLst/>
          </a:prstGeom>
          <a:noFill/>
        </p:spPr>
      </p:pic>
      <p:sp>
        <p:nvSpPr>
          <p:cNvPr id="6" name="Tijdelijke aanduiding voor dianummer 5" hidden="1">
            <a:extLst>
              <a:ext uri="{FF2B5EF4-FFF2-40B4-BE49-F238E27FC236}">
                <a16:creationId xmlns:a16="http://schemas.microsoft.com/office/drawing/2014/main" id="{CC61E41A-890A-8067-C2F2-AFCE03EA8D3A}"/>
              </a:ext>
            </a:extLst>
          </p:cNvPr>
          <p:cNvSpPr>
            <a:spLocks noGrp="1"/>
          </p:cNvSpPr>
          <p:nvPr>
            <p:ph type="sldNum" sz="quarter" idx="12"/>
          </p:nvPr>
        </p:nvSpPr>
        <p:spPr/>
        <p:txBody>
          <a:bodyPr/>
          <a:lstStyle>
            <a:lvl1pPr>
              <a:defRPr>
                <a:solidFill>
                  <a:schemeClr val="tx1"/>
                </a:solidFill>
              </a:defRPr>
            </a:lvl1pPr>
          </a:lstStyle>
          <a:p>
            <a:pPr>
              <a:spcAft>
                <a:spcPts val="600"/>
              </a:spcAft>
            </a:pPr>
            <a:fld id="{B7CEC10D-CD46-426F-915E-6C78530279CB}" type="slidenum">
              <a:rPr lang="en-US" smtClean="0"/>
              <a:pPr>
                <a:spcAft>
                  <a:spcPts val="600"/>
                </a:spcAft>
              </a:pPr>
              <a:t>47</a:t>
            </a:fld>
            <a:endParaRPr lang="en-US"/>
          </a:p>
        </p:txBody>
      </p:sp>
    </p:spTree>
    <p:extLst>
      <p:ext uri="{BB962C8B-B14F-4D97-AF65-F5344CB8AC3E}">
        <p14:creationId xmlns:p14="http://schemas.microsoft.com/office/powerpoint/2010/main" val="240656686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2585FC-2489-1C9B-5D85-4D932F2318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A5F77F-22E7-4DD2-4CC7-C7BB6D4D298D}"/>
              </a:ext>
            </a:extLst>
          </p:cNvPr>
          <p:cNvSpPr>
            <a:spLocks noGrp="1"/>
          </p:cNvSpPr>
          <p:nvPr>
            <p:ph type="title"/>
          </p:nvPr>
        </p:nvSpPr>
        <p:spPr>
          <a:xfrm>
            <a:off x="612648" y="475488"/>
            <a:ext cx="7918704" cy="548640"/>
          </a:xfrm>
        </p:spPr>
        <p:txBody>
          <a:bodyPr/>
          <a:lstStyle/>
          <a:p>
            <a:r>
              <a:rPr lang="en-GB" sz="2600">
                <a:solidFill>
                  <a:srgbClr val="FFFFFF"/>
                </a:solidFill>
                <a:latin typeface="Calibri"/>
              </a:rPr>
              <a:t>5</a:t>
            </a:r>
            <a:r>
              <a:rPr lang="en-GB" sz="2600" b="1">
                <a:solidFill>
                  <a:srgbClr val="FFFFFF"/>
                </a:solidFill>
                <a:latin typeface="Calibri"/>
              </a:rPr>
              <a:t>. Stacking modular components</a:t>
            </a:r>
            <a:endParaRPr sz="2600" b="1">
              <a:solidFill>
                <a:srgbClr val="FFFFFF"/>
              </a:solidFill>
              <a:latin typeface="Calibri"/>
            </a:endParaRPr>
          </a:p>
        </p:txBody>
      </p:sp>
      <p:sp>
        <p:nvSpPr>
          <p:cNvPr id="4" name="Tijdelijke aanduiding voor dianummer 3">
            <a:extLst>
              <a:ext uri="{FF2B5EF4-FFF2-40B4-BE49-F238E27FC236}">
                <a16:creationId xmlns:a16="http://schemas.microsoft.com/office/drawing/2014/main" id="{331E07A0-AA00-DFC6-0F3E-5A0601177094}"/>
              </a:ext>
            </a:extLst>
          </p:cNvPr>
          <p:cNvSpPr>
            <a:spLocks noGrp="1"/>
          </p:cNvSpPr>
          <p:nvPr>
            <p:ph type="sldNum" sz="quarter" idx="11"/>
          </p:nvPr>
        </p:nvSpPr>
        <p:spPr/>
        <p:txBody>
          <a:bodyPr/>
          <a:lstStyle/>
          <a:p>
            <a:fld id="{B7CEC10D-CD46-426F-915E-6C78530279CB}" type="slidenum">
              <a:rPr lang="en-US" smtClean="0"/>
              <a:pPr/>
              <a:t>48</a:t>
            </a:fld>
            <a:endParaRPr lang="en-US"/>
          </a:p>
        </p:txBody>
      </p:sp>
      <p:sp>
        <p:nvSpPr>
          <p:cNvPr id="6" name="Oval 5">
            <a:extLst>
              <a:ext uri="{FF2B5EF4-FFF2-40B4-BE49-F238E27FC236}">
                <a16:creationId xmlns:a16="http://schemas.microsoft.com/office/drawing/2014/main" id="{217D8DC4-25F6-AD39-77C4-10245574D0A5}"/>
              </a:ext>
            </a:extLst>
          </p:cNvPr>
          <p:cNvSpPr/>
          <p:nvPr/>
        </p:nvSpPr>
        <p:spPr>
          <a:xfrm>
            <a:off x="612000" y="1639411"/>
            <a:ext cx="384048" cy="38404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101073"/>
                </a:solidFill>
                <a:latin typeface="Calibri"/>
              </a:rPr>
              <a:t>A</a:t>
            </a:r>
            <a:endParaRPr sz="1400" b="1">
              <a:solidFill>
                <a:srgbClr val="101073"/>
              </a:solidFill>
              <a:latin typeface="Calibri"/>
            </a:endParaRPr>
          </a:p>
        </p:txBody>
      </p:sp>
      <p:sp>
        <p:nvSpPr>
          <p:cNvPr id="7" name="TextBox 6">
            <a:extLst>
              <a:ext uri="{FF2B5EF4-FFF2-40B4-BE49-F238E27FC236}">
                <a16:creationId xmlns:a16="http://schemas.microsoft.com/office/drawing/2014/main" id="{150D9F94-F97E-4150-A042-21CF59AAE75B}"/>
              </a:ext>
            </a:extLst>
          </p:cNvPr>
          <p:cNvSpPr txBox="1"/>
          <p:nvPr/>
        </p:nvSpPr>
        <p:spPr>
          <a:xfrm>
            <a:off x="1252080" y="1708324"/>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Bayesian Jacobi solver</a:t>
            </a:r>
            <a:endParaRPr sz="1400" b="0" i="0">
              <a:solidFill>
                <a:srgbClr val="C9CDE8"/>
              </a:solidFill>
              <a:latin typeface="Calibri"/>
            </a:endParaRPr>
          </a:p>
        </p:txBody>
      </p:sp>
      <p:sp>
        <p:nvSpPr>
          <p:cNvPr id="8" name="Oval 7">
            <a:extLst>
              <a:ext uri="{FF2B5EF4-FFF2-40B4-BE49-F238E27FC236}">
                <a16:creationId xmlns:a16="http://schemas.microsoft.com/office/drawing/2014/main" id="{CB3D233F-FFF0-97EB-F245-E29DB1CDC51C}"/>
              </a:ext>
            </a:extLst>
          </p:cNvPr>
          <p:cNvSpPr/>
          <p:nvPr/>
        </p:nvSpPr>
        <p:spPr>
          <a:xfrm>
            <a:off x="612000" y="2352643"/>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en-GB" sz="1400" b="1">
                <a:solidFill>
                  <a:srgbClr val="FFFFFF"/>
                </a:solidFill>
                <a:latin typeface="Calibri"/>
              </a:rPr>
              <a:t>B</a:t>
            </a:r>
            <a:endParaRPr sz="1400" b="1">
              <a:solidFill>
                <a:srgbClr val="FFFFFF"/>
              </a:solidFill>
              <a:latin typeface="Calibri"/>
            </a:endParaRPr>
          </a:p>
        </p:txBody>
      </p:sp>
      <p:sp>
        <p:nvSpPr>
          <p:cNvPr id="9" name="TextBox 8">
            <a:extLst>
              <a:ext uri="{FF2B5EF4-FFF2-40B4-BE49-F238E27FC236}">
                <a16:creationId xmlns:a16="http://schemas.microsoft.com/office/drawing/2014/main" id="{0CF52C54-DC49-509A-D9E6-658FC4229373}"/>
              </a:ext>
            </a:extLst>
          </p:cNvPr>
          <p:cNvSpPr txBox="1"/>
          <p:nvPr/>
        </p:nvSpPr>
        <p:spPr>
          <a:xfrm>
            <a:off x="1252080" y="2448639"/>
            <a:ext cx="6949440" cy="246221"/>
          </a:xfrm>
          <a:prstGeom prst="rect">
            <a:avLst/>
          </a:prstGeom>
          <a:noFill/>
        </p:spPr>
        <p:txBody>
          <a:bodyPr wrap="square" lIns="0" tIns="0" rIns="0" bIns="0" anchor="ctr">
            <a:spAutoFit/>
          </a:bodyPr>
          <a:lstStyle/>
          <a:p>
            <a:pPr algn="l">
              <a:spcBef>
                <a:spcPts val="0"/>
              </a:spcBef>
              <a:spcAft>
                <a:spcPts val="600"/>
              </a:spcAft>
            </a:pPr>
            <a:r>
              <a:rPr lang="en-GB" sz="1600" b="1">
                <a:solidFill>
                  <a:srgbClr val="FFFFFF"/>
                </a:solidFill>
                <a:latin typeface="Calibri"/>
              </a:rPr>
              <a:t>Building</a:t>
            </a:r>
            <a:endParaRPr sz="1400" b="0" i="0">
              <a:solidFill>
                <a:srgbClr val="C9CDE8"/>
              </a:solidFill>
              <a:latin typeface="Calibri"/>
            </a:endParaRPr>
          </a:p>
        </p:txBody>
      </p:sp>
    </p:spTree>
    <p:extLst>
      <p:ext uri="{BB962C8B-B14F-4D97-AF65-F5344CB8AC3E}">
        <p14:creationId xmlns:p14="http://schemas.microsoft.com/office/powerpoint/2010/main" val="34644125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74673-C7A1-75E7-413E-56E62E25FA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A50E66-F760-719B-4D7A-DAE39F98522B}"/>
              </a:ext>
            </a:extLst>
          </p:cNvPr>
          <p:cNvSpPr>
            <a:spLocks noGrp="1"/>
          </p:cNvSpPr>
          <p:nvPr>
            <p:ph type="title"/>
          </p:nvPr>
        </p:nvSpPr>
        <p:spPr>
          <a:xfrm>
            <a:off x="612000" y="544228"/>
            <a:ext cx="7923213" cy="394448"/>
          </a:xfrm>
        </p:spPr>
        <p:txBody>
          <a:bodyPr>
            <a:normAutofit/>
          </a:bodyPr>
          <a:lstStyle/>
          <a:p>
            <a:r>
              <a:rPr lang="en-GB">
                <a:ea typeface="Calibri"/>
                <a:cs typeface="Calibri"/>
              </a:rPr>
              <a:t>Adding some Fans</a:t>
            </a:r>
          </a:p>
        </p:txBody>
      </p:sp>
      <p:sp>
        <p:nvSpPr>
          <p:cNvPr id="6" name="Tijdelijke aanduiding voor dianummer 5" hidden="1">
            <a:extLst>
              <a:ext uri="{FF2B5EF4-FFF2-40B4-BE49-F238E27FC236}">
                <a16:creationId xmlns:a16="http://schemas.microsoft.com/office/drawing/2014/main" id="{7B217F8D-9F0F-FBC6-E4BD-E88C1D6A3A24}"/>
              </a:ext>
            </a:extLst>
          </p:cNvPr>
          <p:cNvSpPr>
            <a:spLocks noGrp="1"/>
          </p:cNvSpPr>
          <p:nvPr>
            <p:ph type="sldNum" sz="quarter" idx="12"/>
          </p:nvPr>
        </p:nvSpPr>
        <p:spPr/>
        <p:txBody>
          <a:bodyPr/>
          <a:lstStyle>
            <a:lvl1pPr>
              <a:defRPr>
                <a:solidFill>
                  <a:schemeClr val="tx1"/>
                </a:solidFill>
              </a:defRPr>
            </a:lvl1pPr>
          </a:lstStyle>
          <a:p>
            <a:pPr>
              <a:spcAft>
                <a:spcPts val="600"/>
              </a:spcAft>
            </a:pPr>
            <a:fld id="{B7CEC10D-CD46-426F-915E-6C78530279CB}" type="slidenum">
              <a:rPr lang="en-US" smtClean="0"/>
              <a:pPr>
                <a:spcAft>
                  <a:spcPts val="600"/>
                </a:spcAft>
              </a:pPr>
              <a:t>49</a:t>
            </a:fld>
            <a:endParaRPr lang="en-US"/>
          </a:p>
        </p:txBody>
      </p:sp>
      <p:pic>
        <p:nvPicPr>
          <p:cNvPr id="5" name="Picture 4">
            <a:extLst>
              <a:ext uri="{FF2B5EF4-FFF2-40B4-BE49-F238E27FC236}">
                <a16:creationId xmlns:a16="http://schemas.microsoft.com/office/drawing/2014/main" id="{7093FFB4-DA84-8D69-982B-A2109C7CE7F3}"/>
              </a:ext>
            </a:extLst>
          </p:cNvPr>
          <p:cNvPicPr>
            <a:picLocks noChangeAspect="1"/>
          </p:cNvPicPr>
          <p:nvPr/>
        </p:nvPicPr>
        <p:blipFill>
          <a:blip r:embed="rId3"/>
          <a:stretch>
            <a:fillRect/>
          </a:stretch>
        </p:blipFill>
        <p:spPr>
          <a:xfrm>
            <a:off x="3641452" y="1150620"/>
            <a:ext cx="4764317" cy="3177540"/>
          </a:xfrm>
          <a:prstGeom prst="rect">
            <a:avLst/>
          </a:prstGeom>
        </p:spPr>
      </p:pic>
      <p:pic>
        <p:nvPicPr>
          <p:cNvPr id="12" name="Afbeelding 14" descr="A close-up of a computer chip&#10;&#10;AI-generated content may be incorrect.">
            <a:extLst>
              <a:ext uri="{FF2B5EF4-FFF2-40B4-BE49-F238E27FC236}">
                <a16:creationId xmlns:a16="http://schemas.microsoft.com/office/drawing/2014/main" id="{65D378A4-FA11-594B-3321-6FEB58CD2873}"/>
              </a:ext>
            </a:extLst>
          </p:cNvPr>
          <p:cNvPicPr>
            <a:picLocks noChangeAspect="1"/>
          </p:cNvPicPr>
          <p:nvPr/>
        </p:nvPicPr>
        <p:blipFill>
          <a:blip r:embed="rId4">
            <a:extLst>
              <a:ext uri="{28A0092B-C50C-407E-A947-70E740481C1C}">
                <a14:useLocalDpi xmlns:a14="http://schemas.microsoft.com/office/drawing/2010/main" val="0"/>
              </a:ext>
            </a:extLst>
          </a:blip>
          <a:srcRect l="1613" r="35245" b="3898"/>
          <a:stretch>
            <a:fillRect/>
          </a:stretch>
        </p:blipFill>
        <p:spPr>
          <a:xfrm rot="5400000">
            <a:off x="538778" y="1347953"/>
            <a:ext cx="2983070" cy="2805830"/>
          </a:xfrm>
          <a:prstGeom prst="rect">
            <a:avLst/>
          </a:prstGeom>
        </p:spPr>
      </p:pic>
      <p:sp>
        <p:nvSpPr>
          <p:cNvPr id="16" name="Rechthoek 15">
            <a:extLst>
              <a:ext uri="{FF2B5EF4-FFF2-40B4-BE49-F238E27FC236}">
                <a16:creationId xmlns:a16="http://schemas.microsoft.com/office/drawing/2014/main" id="{DFC32287-B0FF-9124-3610-216B51147A65}"/>
              </a:ext>
            </a:extLst>
          </p:cNvPr>
          <p:cNvSpPr/>
          <p:nvPr/>
        </p:nvSpPr>
        <p:spPr>
          <a:xfrm>
            <a:off x="704888" y="1323677"/>
            <a:ext cx="650954" cy="2841234"/>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hthoek 32">
            <a:extLst>
              <a:ext uri="{FF2B5EF4-FFF2-40B4-BE49-F238E27FC236}">
                <a16:creationId xmlns:a16="http://schemas.microsoft.com/office/drawing/2014/main" id="{1CEE289A-EB67-C743-C947-B860035DDD0A}"/>
              </a:ext>
            </a:extLst>
          </p:cNvPr>
          <p:cNvSpPr/>
          <p:nvPr/>
        </p:nvSpPr>
        <p:spPr>
          <a:xfrm>
            <a:off x="1355842" y="1323677"/>
            <a:ext cx="650954" cy="2841234"/>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hthoek 33">
            <a:extLst>
              <a:ext uri="{FF2B5EF4-FFF2-40B4-BE49-F238E27FC236}">
                <a16:creationId xmlns:a16="http://schemas.microsoft.com/office/drawing/2014/main" id="{FB19E020-9D85-EABF-CAF9-7E45AE22F061}"/>
              </a:ext>
            </a:extLst>
          </p:cNvPr>
          <p:cNvSpPr/>
          <p:nvPr/>
        </p:nvSpPr>
        <p:spPr>
          <a:xfrm>
            <a:off x="2006796" y="1323677"/>
            <a:ext cx="650954" cy="2841234"/>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hthoek 34">
            <a:extLst>
              <a:ext uri="{FF2B5EF4-FFF2-40B4-BE49-F238E27FC236}">
                <a16:creationId xmlns:a16="http://schemas.microsoft.com/office/drawing/2014/main" id="{CA4AD079-7CC9-9694-0A3B-DFED7034D5D0}"/>
              </a:ext>
            </a:extLst>
          </p:cNvPr>
          <p:cNvSpPr/>
          <p:nvPr/>
        </p:nvSpPr>
        <p:spPr>
          <a:xfrm>
            <a:off x="2657750" y="1323677"/>
            <a:ext cx="650954" cy="2841234"/>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hthoek 35">
            <a:extLst>
              <a:ext uri="{FF2B5EF4-FFF2-40B4-BE49-F238E27FC236}">
                <a16:creationId xmlns:a16="http://schemas.microsoft.com/office/drawing/2014/main" id="{34A0D2F5-DF5B-AAB6-C175-61A080EF9AC8}"/>
              </a:ext>
            </a:extLst>
          </p:cNvPr>
          <p:cNvSpPr/>
          <p:nvPr/>
        </p:nvSpPr>
        <p:spPr>
          <a:xfrm rot="5400000">
            <a:off x="1681319" y="463811"/>
            <a:ext cx="650954" cy="2603816"/>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hthoek 36">
            <a:extLst>
              <a:ext uri="{FF2B5EF4-FFF2-40B4-BE49-F238E27FC236}">
                <a16:creationId xmlns:a16="http://schemas.microsoft.com/office/drawing/2014/main" id="{8BEDB9EE-309E-6045-8E9C-67628A0E2625}"/>
              </a:ext>
            </a:extLst>
          </p:cNvPr>
          <p:cNvSpPr/>
          <p:nvPr/>
        </p:nvSpPr>
        <p:spPr>
          <a:xfrm rot="5400000">
            <a:off x="1681319" y="1114764"/>
            <a:ext cx="650954" cy="2603817"/>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hthoek 37">
            <a:extLst>
              <a:ext uri="{FF2B5EF4-FFF2-40B4-BE49-F238E27FC236}">
                <a16:creationId xmlns:a16="http://schemas.microsoft.com/office/drawing/2014/main" id="{1142ADA2-3232-DF03-3A65-35CBE2B26123}"/>
              </a:ext>
            </a:extLst>
          </p:cNvPr>
          <p:cNvSpPr/>
          <p:nvPr/>
        </p:nvSpPr>
        <p:spPr>
          <a:xfrm rot="5400000">
            <a:off x="1681319" y="1765718"/>
            <a:ext cx="650954" cy="2603817"/>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hthoek 38">
            <a:extLst>
              <a:ext uri="{FF2B5EF4-FFF2-40B4-BE49-F238E27FC236}">
                <a16:creationId xmlns:a16="http://schemas.microsoft.com/office/drawing/2014/main" id="{6DF838D4-1C7A-913D-82B7-A0AEBD8A138F}"/>
              </a:ext>
            </a:extLst>
          </p:cNvPr>
          <p:cNvSpPr/>
          <p:nvPr/>
        </p:nvSpPr>
        <p:spPr>
          <a:xfrm rot="5400000">
            <a:off x="1681319" y="2416672"/>
            <a:ext cx="650954" cy="2603817"/>
          </a:xfrm>
          <a:prstGeom prst="rect">
            <a:avLst/>
          </a:prstGeom>
          <a:solidFill>
            <a:srgbClr val="FFFFFF">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7" name="Picture 36" descr="Pc Fan Cooler Download at Ellie Gillespie blog">
            <a:extLst>
              <a:ext uri="{FF2B5EF4-FFF2-40B4-BE49-F238E27FC236}">
                <a16:creationId xmlns:a16="http://schemas.microsoft.com/office/drawing/2014/main" id="{8E4E7B94-5E96-6ACA-D320-2B98A3DDA116}"/>
              </a:ext>
            </a:extLst>
          </p:cNvPr>
          <p:cNvPicPr>
            <a:picLocks noChangeAspect="1"/>
          </p:cNvPicPr>
          <p:nvPr/>
        </p:nvPicPr>
        <p:blipFill>
          <a:blip r:embed="rId5"/>
          <a:srcRect/>
          <a:stretch>
            <a:fillRect/>
          </a:stretch>
        </p:blipFill>
        <p:spPr>
          <a:xfrm flipH="1">
            <a:off x="1178243" y="1281113"/>
            <a:ext cx="1003935" cy="965835"/>
          </a:xfrm>
          <a:prstGeom prst="rect">
            <a:avLst/>
          </a:prstGeom>
        </p:spPr>
      </p:pic>
      <p:pic>
        <p:nvPicPr>
          <p:cNvPr id="3" name="Picture 2" descr="Pc Fan Cooler Download at Ellie Gillespie blog">
            <a:extLst>
              <a:ext uri="{FF2B5EF4-FFF2-40B4-BE49-F238E27FC236}">
                <a16:creationId xmlns:a16="http://schemas.microsoft.com/office/drawing/2014/main" id="{33FD4993-3EE7-8CA4-BA85-8388612C4D53}"/>
              </a:ext>
            </a:extLst>
          </p:cNvPr>
          <p:cNvPicPr>
            <a:picLocks noChangeAspect="1"/>
          </p:cNvPicPr>
          <p:nvPr/>
        </p:nvPicPr>
        <p:blipFill>
          <a:blip r:embed="rId5"/>
          <a:srcRect/>
          <a:stretch>
            <a:fillRect/>
          </a:stretch>
        </p:blipFill>
        <p:spPr>
          <a:xfrm flipH="1">
            <a:off x="530543" y="2584133"/>
            <a:ext cx="1003935" cy="965835"/>
          </a:xfrm>
          <a:prstGeom prst="rect">
            <a:avLst/>
          </a:prstGeom>
        </p:spPr>
      </p:pic>
      <p:pic>
        <p:nvPicPr>
          <p:cNvPr id="4" name="Picture 3" descr="Pc Fan Cooler Download at Ellie Gillespie blog">
            <a:extLst>
              <a:ext uri="{FF2B5EF4-FFF2-40B4-BE49-F238E27FC236}">
                <a16:creationId xmlns:a16="http://schemas.microsoft.com/office/drawing/2014/main" id="{334DDA21-51B6-FB6A-C638-2D1EABE10872}"/>
              </a:ext>
            </a:extLst>
          </p:cNvPr>
          <p:cNvPicPr>
            <a:picLocks noChangeAspect="1"/>
          </p:cNvPicPr>
          <p:nvPr/>
        </p:nvPicPr>
        <p:blipFill>
          <a:blip r:embed="rId5"/>
          <a:srcRect/>
          <a:stretch>
            <a:fillRect/>
          </a:stretch>
        </p:blipFill>
        <p:spPr>
          <a:xfrm flipH="1">
            <a:off x="2481263" y="1936433"/>
            <a:ext cx="1003935" cy="965835"/>
          </a:xfrm>
          <a:prstGeom prst="rect">
            <a:avLst/>
          </a:prstGeom>
        </p:spPr>
      </p:pic>
      <p:pic>
        <p:nvPicPr>
          <p:cNvPr id="7" name="Picture 6" descr="Pc Fan Cooler Download at Ellie Gillespie blog">
            <a:extLst>
              <a:ext uri="{FF2B5EF4-FFF2-40B4-BE49-F238E27FC236}">
                <a16:creationId xmlns:a16="http://schemas.microsoft.com/office/drawing/2014/main" id="{4A0E661C-110B-F0AC-7C21-7CCDC0A3901E}"/>
              </a:ext>
            </a:extLst>
          </p:cNvPr>
          <p:cNvPicPr>
            <a:picLocks noChangeAspect="1"/>
          </p:cNvPicPr>
          <p:nvPr/>
        </p:nvPicPr>
        <p:blipFill>
          <a:blip r:embed="rId5"/>
          <a:srcRect/>
          <a:stretch>
            <a:fillRect/>
          </a:stretch>
        </p:blipFill>
        <p:spPr>
          <a:xfrm flipH="1">
            <a:off x="1833563" y="3239453"/>
            <a:ext cx="1003935" cy="965835"/>
          </a:xfrm>
          <a:prstGeom prst="rect">
            <a:avLst/>
          </a:prstGeom>
        </p:spPr>
      </p:pic>
    </p:spTree>
    <p:extLst>
      <p:ext uri="{BB962C8B-B14F-4D97-AF65-F5344CB8AC3E}">
        <p14:creationId xmlns:p14="http://schemas.microsoft.com/office/powerpoint/2010/main" val="9837984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20" grpId="0" animBg="1"/>
      <p:bldP spid="24" grpId="0" animBg="1"/>
      <p:bldP spid="28" grpId="0" animBg="1"/>
      <p:bldP spid="30" grpId="0" animBg="1"/>
      <p:bldP spid="32" grpId="0" animBg="1"/>
      <p:bldP spid="34" grpId="0" animBg="1"/>
      <p:bldP spid="3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8C7BD9-8F70-3557-1877-527CBFF28D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346CB6-0DB4-B239-CBC5-015D24C2A418}"/>
              </a:ext>
            </a:extLst>
          </p:cNvPr>
          <p:cNvSpPr>
            <a:spLocks noGrp="1"/>
          </p:cNvSpPr>
          <p:nvPr>
            <p:ph type="title"/>
          </p:nvPr>
        </p:nvSpPr>
        <p:spPr>
          <a:xfrm>
            <a:off x="612000" y="544228"/>
            <a:ext cx="7923213" cy="394448"/>
          </a:xfrm>
        </p:spPr>
        <p:txBody>
          <a:bodyPr>
            <a:normAutofit/>
          </a:bodyPr>
          <a:lstStyle/>
          <a:p>
            <a:r>
              <a:rPr lang="en-GB">
                <a:ea typeface="Calibri"/>
                <a:cs typeface="Calibri"/>
              </a:rPr>
              <a:t>Translating from the FFG into Code</a:t>
            </a:r>
          </a:p>
        </p:txBody>
      </p:sp>
      <p:sp>
        <p:nvSpPr>
          <p:cNvPr id="6" name="Tijdelijke aanduiding voor dianummer 5" hidden="1">
            <a:extLst>
              <a:ext uri="{FF2B5EF4-FFF2-40B4-BE49-F238E27FC236}">
                <a16:creationId xmlns:a16="http://schemas.microsoft.com/office/drawing/2014/main" id="{746799F3-37EB-C787-68F2-DD6CA388EA57}"/>
              </a:ext>
            </a:extLst>
          </p:cNvPr>
          <p:cNvSpPr>
            <a:spLocks noGrp="1"/>
          </p:cNvSpPr>
          <p:nvPr>
            <p:ph type="sldNum" sz="quarter" idx="12"/>
          </p:nvPr>
        </p:nvSpPr>
        <p:spPr/>
        <p:txBody>
          <a:bodyPr/>
          <a:lstStyle>
            <a:lvl1pPr>
              <a:defRPr>
                <a:solidFill>
                  <a:schemeClr val="tx1"/>
                </a:solidFill>
              </a:defRPr>
            </a:lvl1pPr>
          </a:lstStyle>
          <a:p>
            <a:pPr>
              <a:spcAft>
                <a:spcPts val="600"/>
              </a:spcAft>
            </a:pPr>
            <a:fld id="{B7CEC10D-CD46-426F-915E-6C78530279CB}" type="slidenum">
              <a:rPr lang="en-US" smtClean="0"/>
              <a:pPr>
                <a:spcAft>
                  <a:spcPts val="600"/>
                </a:spcAft>
              </a:pPr>
              <a:t>50</a:t>
            </a:fld>
            <a:endParaRPr lang="en-US"/>
          </a:p>
        </p:txBody>
      </p:sp>
      <p:pic>
        <p:nvPicPr>
          <p:cNvPr id="3" name="Picture 2">
            <a:extLst>
              <a:ext uri="{FF2B5EF4-FFF2-40B4-BE49-F238E27FC236}">
                <a16:creationId xmlns:a16="http://schemas.microsoft.com/office/drawing/2014/main" id="{0FDFD9B5-FD05-F9AF-679C-3237D689217F}"/>
              </a:ext>
            </a:extLst>
          </p:cNvPr>
          <p:cNvPicPr>
            <a:picLocks noChangeAspect="1"/>
          </p:cNvPicPr>
          <p:nvPr/>
        </p:nvPicPr>
        <p:blipFill>
          <a:blip r:embed="rId3"/>
          <a:stretch>
            <a:fillRect/>
          </a:stretch>
        </p:blipFill>
        <p:spPr>
          <a:xfrm>
            <a:off x="957878" y="982980"/>
            <a:ext cx="3006763" cy="3840480"/>
          </a:xfrm>
          <a:prstGeom prst="rect">
            <a:avLst/>
          </a:prstGeom>
        </p:spPr>
      </p:pic>
      <p:pic>
        <p:nvPicPr>
          <p:cNvPr id="4" name="Picture 3">
            <a:extLst>
              <a:ext uri="{FF2B5EF4-FFF2-40B4-BE49-F238E27FC236}">
                <a16:creationId xmlns:a16="http://schemas.microsoft.com/office/drawing/2014/main" id="{AF4551D4-2209-1FCE-D114-880AAB6700E8}"/>
              </a:ext>
            </a:extLst>
          </p:cNvPr>
          <p:cNvPicPr>
            <a:picLocks noChangeAspect="1"/>
          </p:cNvPicPr>
          <p:nvPr/>
        </p:nvPicPr>
        <p:blipFill>
          <a:blip r:embed="rId4"/>
          <a:stretch>
            <a:fillRect/>
          </a:stretch>
        </p:blipFill>
        <p:spPr>
          <a:xfrm>
            <a:off x="4084320" y="1546125"/>
            <a:ext cx="4724400" cy="2592269"/>
          </a:xfrm>
          <a:prstGeom prst="rect">
            <a:avLst/>
          </a:prstGeom>
        </p:spPr>
      </p:pic>
    </p:spTree>
    <p:extLst>
      <p:ext uri="{BB962C8B-B14F-4D97-AF65-F5344CB8AC3E}">
        <p14:creationId xmlns:p14="http://schemas.microsoft.com/office/powerpoint/2010/main" val="226343906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31BBB-92E8-A5BD-0895-BC5DE7E27F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ED5DD5-B97E-317C-6464-FA3A84DB3A2A}"/>
              </a:ext>
            </a:extLst>
          </p:cNvPr>
          <p:cNvSpPr>
            <a:spLocks noGrp="1"/>
          </p:cNvSpPr>
          <p:nvPr>
            <p:ph type="title"/>
          </p:nvPr>
        </p:nvSpPr>
        <p:spPr>
          <a:xfrm>
            <a:off x="612000" y="544228"/>
            <a:ext cx="7923213" cy="394448"/>
          </a:xfrm>
        </p:spPr>
        <p:txBody>
          <a:bodyPr>
            <a:normAutofit/>
          </a:bodyPr>
          <a:lstStyle/>
          <a:p>
            <a:r>
              <a:rPr lang="en-GB">
                <a:ea typeface="Calibri"/>
                <a:cs typeface="Calibri"/>
              </a:rPr>
              <a:t>A linear state space model is a probabilistic block</a:t>
            </a:r>
            <a:endParaRPr lang="en-US"/>
          </a:p>
        </p:txBody>
      </p:sp>
      <p:sp>
        <p:nvSpPr>
          <p:cNvPr id="6" name="Tijdelijke aanduiding voor dianummer 5" hidden="1">
            <a:extLst>
              <a:ext uri="{FF2B5EF4-FFF2-40B4-BE49-F238E27FC236}">
                <a16:creationId xmlns:a16="http://schemas.microsoft.com/office/drawing/2014/main" id="{DF939F2C-434D-0413-7128-E30D93B72EA2}"/>
              </a:ext>
            </a:extLst>
          </p:cNvPr>
          <p:cNvSpPr>
            <a:spLocks noGrp="1"/>
          </p:cNvSpPr>
          <p:nvPr>
            <p:ph type="sldNum" sz="quarter" idx="12"/>
          </p:nvPr>
        </p:nvSpPr>
        <p:spPr/>
        <p:txBody>
          <a:bodyPr/>
          <a:lstStyle>
            <a:lvl1pPr>
              <a:defRPr>
                <a:solidFill>
                  <a:schemeClr val="tx1"/>
                </a:solidFill>
              </a:defRPr>
            </a:lvl1pPr>
          </a:lstStyle>
          <a:p>
            <a:pPr>
              <a:spcAft>
                <a:spcPts val="600"/>
              </a:spcAft>
            </a:pPr>
            <a:fld id="{B7CEC10D-CD46-426F-915E-6C78530279CB}" type="slidenum">
              <a:rPr lang="en-US" smtClean="0"/>
              <a:pPr>
                <a:spcAft>
                  <a:spcPts val="600"/>
                </a:spcAft>
              </a:pPr>
              <a:t>51</a:t>
            </a:fld>
            <a:endParaRPr lang="en-US"/>
          </a:p>
        </p:txBody>
      </p:sp>
      <p:pic>
        <p:nvPicPr>
          <p:cNvPr id="3" name="Picture 2">
            <a:extLst>
              <a:ext uri="{FF2B5EF4-FFF2-40B4-BE49-F238E27FC236}">
                <a16:creationId xmlns:a16="http://schemas.microsoft.com/office/drawing/2014/main" id="{338FAE97-45F4-46B1-9E0E-1ED002172364}"/>
              </a:ext>
            </a:extLst>
          </p:cNvPr>
          <p:cNvPicPr>
            <a:picLocks noChangeAspect="1"/>
          </p:cNvPicPr>
          <p:nvPr/>
        </p:nvPicPr>
        <p:blipFill>
          <a:blip r:embed="rId3"/>
          <a:stretch>
            <a:fillRect/>
          </a:stretch>
        </p:blipFill>
        <p:spPr>
          <a:xfrm>
            <a:off x="914400" y="1149137"/>
            <a:ext cx="6492240" cy="3127167"/>
          </a:xfrm>
          <a:prstGeom prst="rect">
            <a:avLst/>
          </a:prstGeom>
        </p:spPr>
      </p:pic>
    </p:spTree>
    <p:extLst>
      <p:ext uri="{BB962C8B-B14F-4D97-AF65-F5344CB8AC3E}">
        <p14:creationId xmlns:p14="http://schemas.microsoft.com/office/powerpoint/2010/main" val="94047804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20DBA-F4F2-C341-8E93-481AB22893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6EB7EE-E60B-A1A6-A2A1-3969DF5B9857}"/>
              </a:ext>
            </a:extLst>
          </p:cNvPr>
          <p:cNvSpPr>
            <a:spLocks noGrp="1"/>
          </p:cNvSpPr>
          <p:nvPr>
            <p:ph type="title"/>
          </p:nvPr>
        </p:nvSpPr>
        <p:spPr>
          <a:xfrm>
            <a:off x="612000" y="544228"/>
            <a:ext cx="7923213" cy="394448"/>
          </a:xfrm>
        </p:spPr>
        <p:txBody>
          <a:bodyPr>
            <a:normAutofit/>
          </a:bodyPr>
          <a:lstStyle/>
          <a:p>
            <a:r>
              <a:rPr lang="en-GB">
                <a:ea typeface="Calibri"/>
                <a:cs typeface="Calibri"/>
              </a:rPr>
              <a:t>A linear state space in code</a:t>
            </a:r>
            <a:endParaRPr lang="en-US"/>
          </a:p>
        </p:txBody>
      </p:sp>
      <p:sp>
        <p:nvSpPr>
          <p:cNvPr id="6" name="Tijdelijke aanduiding voor dianummer 5" hidden="1">
            <a:extLst>
              <a:ext uri="{FF2B5EF4-FFF2-40B4-BE49-F238E27FC236}">
                <a16:creationId xmlns:a16="http://schemas.microsoft.com/office/drawing/2014/main" id="{B6E73305-8654-C892-EE31-91D69C93B79A}"/>
              </a:ext>
            </a:extLst>
          </p:cNvPr>
          <p:cNvSpPr>
            <a:spLocks noGrp="1"/>
          </p:cNvSpPr>
          <p:nvPr>
            <p:ph type="sldNum" sz="quarter" idx="12"/>
          </p:nvPr>
        </p:nvSpPr>
        <p:spPr/>
        <p:txBody>
          <a:bodyPr/>
          <a:lstStyle>
            <a:lvl1pPr>
              <a:defRPr>
                <a:solidFill>
                  <a:schemeClr val="tx1"/>
                </a:solidFill>
              </a:defRPr>
            </a:lvl1pPr>
          </a:lstStyle>
          <a:p>
            <a:pPr>
              <a:spcAft>
                <a:spcPts val="600"/>
              </a:spcAft>
            </a:pPr>
            <a:fld id="{B7CEC10D-CD46-426F-915E-6C78530279CB}" type="slidenum">
              <a:rPr lang="en-US" smtClean="0"/>
              <a:pPr>
                <a:spcAft>
                  <a:spcPts val="600"/>
                </a:spcAft>
              </a:pPr>
              <a:t>52</a:t>
            </a:fld>
            <a:endParaRPr lang="en-US"/>
          </a:p>
        </p:txBody>
      </p:sp>
      <p:pic>
        <p:nvPicPr>
          <p:cNvPr id="3" name="Picture 2">
            <a:extLst>
              <a:ext uri="{FF2B5EF4-FFF2-40B4-BE49-F238E27FC236}">
                <a16:creationId xmlns:a16="http://schemas.microsoft.com/office/drawing/2014/main" id="{32511673-F290-AC49-AF61-AA878A73FD40}"/>
              </a:ext>
            </a:extLst>
          </p:cNvPr>
          <p:cNvPicPr>
            <a:picLocks noChangeAspect="1"/>
          </p:cNvPicPr>
          <p:nvPr/>
        </p:nvPicPr>
        <p:blipFill>
          <a:blip r:embed="rId3"/>
          <a:stretch>
            <a:fillRect/>
          </a:stretch>
        </p:blipFill>
        <p:spPr>
          <a:xfrm>
            <a:off x="274320" y="943397"/>
            <a:ext cx="4030980" cy="1938447"/>
          </a:xfrm>
          <a:prstGeom prst="rect">
            <a:avLst/>
          </a:prstGeom>
        </p:spPr>
      </p:pic>
      <p:pic>
        <p:nvPicPr>
          <p:cNvPr id="4" name="Picture 3">
            <a:extLst>
              <a:ext uri="{FF2B5EF4-FFF2-40B4-BE49-F238E27FC236}">
                <a16:creationId xmlns:a16="http://schemas.microsoft.com/office/drawing/2014/main" id="{6EE8C62D-34BA-C427-1A0E-6868EC440C6E}"/>
              </a:ext>
            </a:extLst>
          </p:cNvPr>
          <p:cNvPicPr>
            <a:picLocks noChangeAspect="1"/>
          </p:cNvPicPr>
          <p:nvPr/>
        </p:nvPicPr>
        <p:blipFill>
          <a:blip r:embed="rId4"/>
          <a:stretch>
            <a:fillRect/>
          </a:stretch>
        </p:blipFill>
        <p:spPr>
          <a:xfrm>
            <a:off x="2506980" y="1642575"/>
            <a:ext cx="5654040" cy="3008970"/>
          </a:xfrm>
          <a:prstGeom prst="rect">
            <a:avLst/>
          </a:prstGeom>
        </p:spPr>
      </p:pic>
    </p:spTree>
    <p:extLst>
      <p:ext uri="{BB962C8B-B14F-4D97-AF65-F5344CB8AC3E}">
        <p14:creationId xmlns:p14="http://schemas.microsoft.com/office/powerpoint/2010/main" val="152423365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BDF62-C14A-B590-1BB6-22DCB129F8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C324FB-B9A2-6FD3-9872-3CC70D331ED9}"/>
              </a:ext>
            </a:extLst>
          </p:cNvPr>
          <p:cNvSpPr>
            <a:spLocks noGrp="1"/>
          </p:cNvSpPr>
          <p:nvPr>
            <p:ph type="title"/>
          </p:nvPr>
        </p:nvSpPr>
        <p:spPr>
          <a:xfrm>
            <a:off x="612000" y="544228"/>
            <a:ext cx="7923213" cy="394448"/>
          </a:xfrm>
        </p:spPr>
        <p:txBody>
          <a:bodyPr>
            <a:normAutofit/>
          </a:bodyPr>
          <a:lstStyle/>
          <a:p>
            <a:r>
              <a:rPr lang="en-GB">
                <a:ea typeface="Calibri"/>
                <a:cs typeface="Calibri"/>
              </a:rPr>
              <a:t>Compositional payoff</a:t>
            </a:r>
            <a:endParaRPr lang="en-US"/>
          </a:p>
        </p:txBody>
      </p:sp>
      <p:sp>
        <p:nvSpPr>
          <p:cNvPr id="6" name="Tijdelijke aanduiding voor dianummer 5" hidden="1">
            <a:extLst>
              <a:ext uri="{FF2B5EF4-FFF2-40B4-BE49-F238E27FC236}">
                <a16:creationId xmlns:a16="http://schemas.microsoft.com/office/drawing/2014/main" id="{2959E354-D509-152E-6386-382AEC889F56}"/>
              </a:ext>
            </a:extLst>
          </p:cNvPr>
          <p:cNvSpPr>
            <a:spLocks noGrp="1"/>
          </p:cNvSpPr>
          <p:nvPr>
            <p:ph type="sldNum" sz="quarter" idx="12"/>
          </p:nvPr>
        </p:nvSpPr>
        <p:spPr/>
        <p:txBody>
          <a:bodyPr/>
          <a:lstStyle>
            <a:lvl1pPr>
              <a:defRPr>
                <a:solidFill>
                  <a:schemeClr val="tx1"/>
                </a:solidFill>
              </a:defRPr>
            </a:lvl1pPr>
          </a:lstStyle>
          <a:p>
            <a:pPr>
              <a:spcAft>
                <a:spcPts val="600"/>
              </a:spcAft>
            </a:pPr>
            <a:fld id="{B7CEC10D-CD46-426F-915E-6C78530279CB}" type="slidenum">
              <a:rPr lang="en-US" smtClean="0"/>
              <a:pPr>
                <a:spcAft>
                  <a:spcPts val="600"/>
                </a:spcAft>
              </a:pPr>
              <a:t>53</a:t>
            </a:fld>
            <a:endParaRPr lang="en-US"/>
          </a:p>
        </p:txBody>
      </p:sp>
      <p:pic>
        <p:nvPicPr>
          <p:cNvPr id="3" name="Picture 2">
            <a:extLst>
              <a:ext uri="{FF2B5EF4-FFF2-40B4-BE49-F238E27FC236}">
                <a16:creationId xmlns:a16="http://schemas.microsoft.com/office/drawing/2014/main" id="{0C5FB141-2194-2766-C09C-02C3ECF796B7}"/>
              </a:ext>
            </a:extLst>
          </p:cNvPr>
          <p:cNvPicPr>
            <a:picLocks noChangeAspect="1"/>
          </p:cNvPicPr>
          <p:nvPr/>
        </p:nvPicPr>
        <p:blipFill>
          <a:blip r:embed="rId3"/>
          <a:stretch>
            <a:fillRect/>
          </a:stretch>
        </p:blipFill>
        <p:spPr>
          <a:xfrm>
            <a:off x="650410" y="922020"/>
            <a:ext cx="2874940" cy="3848100"/>
          </a:xfrm>
          <a:prstGeom prst="rect">
            <a:avLst/>
          </a:prstGeom>
        </p:spPr>
      </p:pic>
      <p:pic>
        <p:nvPicPr>
          <p:cNvPr id="4" name="Picture 3">
            <a:extLst>
              <a:ext uri="{FF2B5EF4-FFF2-40B4-BE49-F238E27FC236}">
                <a16:creationId xmlns:a16="http://schemas.microsoft.com/office/drawing/2014/main" id="{C71F9212-6173-E517-C9A9-9945D365D7F1}"/>
              </a:ext>
            </a:extLst>
          </p:cNvPr>
          <p:cNvPicPr>
            <a:picLocks noChangeAspect="1"/>
          </p:cNvPicPr>
          <p:nvPr/>
        </p:nvPicPr>
        <p:blipFill>
          <a:blip r:embed="rId4"/>
          <a:stretch>
            <a:fillRect/>
          </a:stretch>
        </p:blipFill>
        <p:spPr>
          <a:xfrm>
            <a:off x="3728997" y="1173480"/>
            <a:ext cx="4916887" cy="3596640"/>
          </a:xfrm>
          <a:prstGeom prst="rect">
            <a:avLst/>
          </a:prstGeom>
        </p:spPr>
      </p:pic>
    </p:spTree>
    <p:extLst>
      <p:ext uri="{BB962C8B-B14F-4D97-AF65-F5344CB8AC3E}">
        <p14:creationId xmlns:p14="http://schemas.microsoft.com/office/powerpoint/2010/main" val="125193513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9D92E-509C-370C-E96D-6E7B77C493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37B073-D602-6A30-260A-6197443B5610}"/>
              </a:ext>
            </a:extLst>
          </p:cNvPr>
          <p:cNvSpPr>
            <a:spLocks noGrp="1"/>
          </p:cNvSpPr>
          <p:nvPr>
            <p:ph type="title"/>
          </p:nvPr>
        </p:nvSpPr>
        <p:spPr>
          <a:xfrm>
            <a:off x="612000" y="544228"/>
            <a:ext cx="7923213" cy="394448"/>
          </a:xfrm>
        </p:spPr>
        <p:txBody>
          <a:bodyPr>
            <a:normAutofit/>
          </a:bodyPr>
          <a:lstStyle/>
          <a:p>
            <a:r>
              <a:rPr lang="en-GB">
                <a:ea typeface="Calibri"/>
                <a:cs typeface="Calibri"/>
              </a:rPr>
              <a:t>Let's do some Infer!</a:t>
            </a:r>
            <a:endParaRPr lang="en-US"/>
          </a:p>
        </p:txBody>
      </p:sp>
      <p:sp>
        <p:nvSpPr>
          <p:cNvPr id="6" name="Tijdelijke aanduiding voor dianummer 5" hidden="1">
            <a:extLst>
              <a:ext uri="{FF2B5EF4-FFF2-40B4-BE49-F238E27FC236}">
                <a16:creationId xmlns:a16="http://schemas.microsoft.com/office/drawing/2014/main" id="{B61F4F4E-9165-2EB6-DF09-173C3E630B11}"/>
              </a:ext>
            </a:extLst>
          </p:cNvPr>
          <p:cNvSpPr>
            <a:spLocks noGrp="1"/>
          </p:cNvSpPr>
          <p:nvPr>
            <p:ph type="sldNum" sz="quarter" idx="12"/>
          </p:nvPr>
        </p:nvSpPr>
        <p:spPr/>
        <p:txBody>
          <a:bodyPr/>
          <a:lstStyle>
            <a:lvl1pPr>
              <a:defRPr>
                <a:solidFill>
                  <a:schemeClr val="tx1"/>
                </a:solidFill>
              </a:defRPr>
            </a:lvl1pPr>
          </a:lstStyle>
          <a:p>
            <a:pPr>
              <a:spcAft>
                <a:spcPts val="600"/>
              </a:spcAft>
            </a:pPr>
            <a:fld id="{B7CEC10D-CD46-426F-915E-6C78530279CB}" type="slidenum">
              <a:rPr lang="en-US" smtClean="0"/>
              <a:pPr>
                <a:spcAft>
                  <a:spcPts val="600"/>
                </a:spcAft>
              </a:pPr>
              <a:t>54</a:t>
            </a:fld>
            <a:endParaRPr lang="en-US"/>
          </a:p>
        </p:txBody>
      </p:sp>
      <p:pic>
        <p:nvPicPr>
          <p:cNvPr id="3" name="heat_grid_filter_hires">
            <a:hlinkClick r:id="" action="ppaction://media"/>
            <a:extLst>
              <a:ext uri="{FF2B5EF4-FFF2-40B4-BE49-F238E27FC236}">
                <a16:creationId xmlns:a16="http://schemas.microsoft.com/office/drawing/2014/main" id="{2177A78F-F7CA-38F0-9FCA-812E67DB4D90}"/>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01731" y="1065679"/>
            <a:ext cx="7315200" cy="3886200"/>
          </a:xfrm>
          <a:prstGeom prst="rect">
            <a:avLst/>
          </a:prstGeom>
        </p:spPr>
      </p:pic>
    </p:spTree>
    <p:extLst>
      <p:ext uri="{BB962C8B-B14F-4D97-AF65-F5344CB8AC3E}">
        <p14:creationId xmlns:p14="http://schemas.microsoft.com/office/powerpoint/2010/main" val="2245880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2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8506FBB-64BD-F838-49BD-A845E0F20F9C}"/>
              </a:ext>
            </a:extLst>
          </p:cNvPr>
          <p:cNvSpPr>
            <a:spLocks noGrp="1"/>
          </p:cNvSpPr>
          <p:nvPr>
            <p:ph type="sldNum" sz="quarter" idx="12"/>
          </p:nvPr>
        </p:nvSpPr>
        <p:spPr/>
        <p:txBody>
          <a:bodyPr/>
          <a:lstStyle/>
          <a:p>
            <a:fld id="{B7CEC10D-CD46-426F-915E-6C78530279CB}" type="slidenum">
              <a:rPr lang="en-US" smtClean="0"/>
              <a:pPr/>
              <a:t>55</a:t>
            </a:fld>
            <a:endParaRPr lang="en-US"/>
          </a:p>
        </p:txBody>
      </p:sp>
      <p:sp>
        <p:nvSpPr>
          <p:cNvPr id="2" name="TextBox 1">
            <a:extLst>
              <a:ext uri="{FF2B5EF4-FFF2-40B4-BE49-F238E27FC236}">
                <a16:creationId xmlns:a16="http://schemas.microsoft.com/office/drawing/2014/main" id="{63C1467C-0547-C016-D48C-AEAC5A32C58B}"/>
              </a:ext>
            </a:extLst>
          </p:cNvPr>
          <p:cNvSpPr txBox="1"/>
          <p:nvPr/>
        </p:nvSpPr>
        <p:spPr>
          <a:xfrm>
            <a:off x="2945459" y="2386749"/>
            <a:ext cx="324949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ea typeface="Calibri"/>
                <a:cs typeface="Calibri"/>
              </a:rPr>
              <a:t>Thanks for your attention!</a:t>
            </a:r>
          </a:p>
        </p:txBody>
      </p:sp>
    </p:spTree>
    <p:extLst>
      <p:ext uri="{BB962C8B-B14F-4D97-AF65-F5344CB8AC3E}">
        <p14:creationId xmlns:p14="http://schemas.microsoft.com/office/powerpoint/2010/main" val="16272112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06BE9-C6EC-B2CF-46F2-3BA7B8B4E6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45E25C-52B0-4B43-4107-6F72D3D61B3D}"/>
              </a:ext>
            </a:extLst>
          </p:cNvPr>
          <p:cNvSpPr>
            <a:spLocks noGrp="1"/>
          </p:cNvSpPr>
          <p:nvPr>
            <p:ph type="title"/>
          </p:nvPr>
        </p:nvSpPr>
        <p:spPr/>
        <p:txBody>
          <a:bodyPr/>
          <a:lstStyle/>
          <a:p>
            <a:r>
              <a:rPr lang="en-GB" sz="2600" b="1">
                <a:latin typeface="Calibri"/>
              </a:rPr>
              <a:t>Extra: convergence of Jacobi iteration</a:t>
            </a:r>
            <a:endParaRPr sz="2600" b="1">
              <a:latin typeface="Calibri"/>
            </a:endParaRPr>
          </a:p>
        </p:txBody>
      </p:sp>
      <mc:AlternateContent xmlns:mc="http://schemas.openxmlformats.org/markup-compatibility/2006" xmlns:a14="http://schemas.microsoft.com/office/drawing/2010/main">
        <mc:Choice Requires="a14">
          <p:sp>
            <p:nvSpPr>
              <p:cNvPr id="3" name="Tijdelijke aanduiding voor inhoud 2">
                <a:extLst>
                  <a:ext uri="{FF2B5EF4-FFF2-40B4-BE49-F238E27FC236}">
                    <a16:creationId xmlns:a16="http://schemas.microsoft.com/office/drawing/2014/main" id="{3F3BA741-9D4B-190D-71F7-AC0A3D7968CA}"/>
                  </a:ext>
                </a:extLst>
              </p:cNvPr>
              <p:cNvSpPr>
                <a:spLocks noGrp="1"/>
              </p:cNvSpPr>
              <p:nvPr>
                <p:ph idx="1"/>
              </p:nvPr>
            </p:nvSpPr>
            <p:spPr/>
            <p:txBody>
              <a:bodyPr/>
              <a:lstStyle/>
              <a:p>
                <a:r>
                  <a:rPr lang="en-GB" b="0">
                    <a:latin typeface="Calibri" panose="020F0502020204030204" pitchFamily="34" charset="0"/>
                    <a:ea typeface="Calibri" panose="020F0502020204030204" pitchFamily="34" charset="0"/>
                    <a:cs typeface="Calibri" panose="020F0502020204030204" pitchFamily="34" charset="0"/>
                  </a:rPr>
                  <a:t>Jacobi updates are a fixed-point iteration with iteration matrix </a:t>
                </a:r>
                <a14:m>
                  <m:oMath xmlns:m="http://schemas.openxmlformats.org/officeDocument/2006/math">
                    <m:sSub>
                      <m:sSubPr>
                        <m:ctrlPr>
                          <a:rPr lang="en-GB" b="0" i="1" smtClean="0">
                            <a:latin typeface="Cambria Math" panose="02040503050406030204" pitchFamily="18" charset="0"/>
                            <a:ea typeface="Calibri" panose="020F0502020204030204" pitchFamily="34" charset="0"/>
                            <a:cs typeface="Calibri" panose="020F0502020204030204" pitchFamily="34" charset="0"/>
                          </a:rPr>
                        </m:ctrlPr>
                      </m:sSubPr>
                      <m:e>
                        <m:r>
                          <a:rPr lang="en-GB" b="0" i="1" smtClean="0">
                            <a:latin typeface="Cambria Math" panose="02040503050406030204" pitchFamily="18" charset="0"/>
                            <a:ea typeface="Calibri" panose="020F0502020204030204" pitchFamily="34" charset="0"/>
                            <a:cs typeface="Calibri" panose="020F0502020204030204" pitchFamily="34" charset="0"/>
                          </a:rPr>
                          <m:t>𝑀</m:t>
                        </m:r>
                      </m:e>
                      <m:sub>
                        <m:r>
                          <a:rPr lang="en-GB" b="0" i="1" smtClean="0">
                            <a:latin typeface="Cambria Math" panose="02040503050406030204" pitchFamily="18" charset="0"/>
                            <a:ea typeface="Calibri" panose="020F0502020204030204" pitchFamily="34" charset="0"/>
                            <a:cs typeface="Calibri" panose="020F0502020204030204" pitchFamily="34" charset="0"/>
                          </a:rPr>
                          <m:t>𝐽</m:t>
                        </m:r>
                      </m:sub>
                    </m:sSub>
                    <m:r>
                      <a:rPr lang="en-GB" b="0" i="1" smtClean="0">
                        <a:latin typeface="Cambria Math" panose="02040503050406030204" pitchFamily="18" charset="0"/>
                        <a:ea typeface="Calibri" panose="020F0502020204030204" pitchFamily="34" charset="0"/>
                        <a:cs typeface="Calibri" panose="020F0502020204030204" pitchFamily="34" charset="0"/>
                      </a:rPr>
                      <m:t>=</m:t>
                    </m:r>
                    <m:sSup>
                      <m:sSupPr>
                        <m:ctrlPr>
                          <a:rPr lang="en-GB" b="0" i="1" smtClean="0">
                            <a:latin typeface="Cambria Math" panose="02040503050406030204" pitchFamily="18" charset="0"/>
                            <a:ea typeface="Calibri" panose="020F0502020204030204" pitchFamily="34" charset="0"/>
                            <a:cs typeface="Calibri" panose="020F0502020204030204" pitchFamily="34" charset="0"/>
                          </a:rPr>
                        </m:ctrlPr>
                      </m:sSupPr>
                      <m:e>
                        <m:r>
                          <a:rPr lang="en-GB" b="0" i="1" smtClean="0">
                            <a:latin typeface="Cambria Math" panose="02040503050406030204" pitchFamily="18" charset="0"/>
                            <a:ea typeface="Calibri" panose="020F0502020204030204" pitchFamily="34" charset="0"/>
                            <a:cs typeface="Calibri" panose="020F0502020204030204" pitchFamily="34" charset="0"/>
                          </a:rPr>
                          <m:t>𝐷</m:t>
                        </m:r>
                      </m:e>
                      <m:sup>
                        <m:r>
                          <a:rPr lang="en-GB" b="0" i="1" smtClean="0">
                            <a:latin typeface="Cambria Math" panose="02040503050406030204" pitchFamily="18" charset="0"/>
                            <a:ea typeface="Calibri" panose="020F0502020204030204" pitchFamily="34" charset="0"/>
                            <a:cs typeface="Calibri" panose="020F0502020204030204" pitchFamily="34" charset="0"/>
                          </a:rPr>
                          <m:t>−1</m:t>
                        </m:r>
                      </m:sup>
                    </m:sSup>
                    <m:r>
                      <a:rPr lang="en-GB" b="0" i="1" smtClean="0">
                        <a:latin typeface="Cambria Math" panose="02040503050406030204" pitchFamily="18" charset="0"/>
                        <a:ea typeface="Calibri" panose="020F0502020204030204" pitchFamily="34" charset="0"/>
                        <a:cs typeface="Calibri" panose="020F0502020204030204" pitchFamily="34" charset="0"/>
                      </a:rPr>
                      <m:t>(</m:t>
                    </m:r>
                    <m:r>
                      <a:rPr lang="en-GB" b="0" i="1" smtClean="0">
                        <a:latin typeface="Cambria Math" panose="02040503050406030204" pitchFamily="18" charset="0"/>
                        <a:ea typeface="Calibri" panose="020F0502020204030204" pitchFamily="34" charset="0"/>
                        <a:cs typeface="Calibri" panose="020F0502020204030204" pitchFamily="34" charset="0"/>
                      </a:rPr>
                      <m:t>𝐿</m:t>
                    </m:r>
                    <m:r>
                      <a:rPr lang="en-GB" b="0" i="1" smtClean="0">
                        <a:latin typeface="Cambria Math" panose="02040503050406030204" pitchFamily="18" charset="0"/>
                        <a:ea typeface="Calibri" panose="020F0502020204030204" pitchFamily="34" charset="0"/>
                        <a:cs typeface="Calibri" panose="020F0502020204030204" pitchFamily="34" charset="0"/>
                      </a:rPr>
                      <m:t>+</m:t>
                    </m:r>
                    <m:r>
                      <a:rPr lang="en-GB" b="0" i="1" smtClean="0">
                        <a:latin typeface="Cambria Math" panose="02040503050406030204" pitchFamily="18" charset="0"/>
                        <a:ea typeface="Calibri" panose="020F0502020204030204" pitchFamily="34" charset="0"/>
                        <a:cs typeface="Calibri" panose="020F0502020204030204" pitchFamily="34" charset="0"/>
                      </a:rPr>
                      <m:t>𝑈</m:t>
                    </m:r>
                    <m:r>
                      <a:rPr lang="en-GB" b="0" i="1" smtClean="0">
                        <a:latin typeface="Cambria Math" panose="02040503050406030204" pitchFamily="18" charset="0"/>
                        <a:ea typeface="Calibri" panose="020F0502020204030204" pitchFamily="34" charset="0"/>
                        <a:cs typeface="Calibri" panose="020F0502020204030204" pitchFamily="34" charset="0"/>
                      </a:rPr>
                      <m:t>)</m:t>
                    </m:r>
                  </m:oMath>
                </a14:m>
                <a:r>
                  <a:rPr lang="en-GB" b="0">
                    <a:latin typeface="Calibri" panose="020F0502020204030204" pitchFamily="34" charset="0"/>
                    <a:ea typeface="Calibri" panose="020F0502020204030204" pitchFamily="34" charset="0"/>
                    <a:cs typeface="Calibri" panose="020F0502020204030204" pitchFamily="34" charset="0"/>
                  </a:rPr>
                  <a:t>.</a:t>
                </a:r>
              </a:p>
              <a:p>
                <a:r>
                  <a:rPr lang="en-GB" b="0">
                    <a:latin typeface="Calibri" panose="020F0502020204030204" pitchFamily="34" charset="0"/>
                    <a:ea typeface="Calibri" panose="020F0502020204030204" pitchFamily="34" charset="0"/>
                    <a:cs typeface="Calibri" panose="020F0502020204030204" pitchFamily="34" charset="0"/>
                  </a:rPr>
                  <a:t>It can be shown that it converges for every </a:t>
                </a:r>
                <a14:m>
                  <m:oMath xmlns:m="http://schemas.openxmlformats.org/officeDocument/2006/math">
                    <m:sSup>
                      <m:sSupPr>
                        <m:ctrlPr>
                          <a:rPr lang="en-GB" b="0" i="1" smtClean="0">
                            <a:latin typeface="Cambria Math" panose="02040503050406030204" pitchFamily="18" charset="0"/>
                            <a:ea typeface="Calibri" panose="020F0502020204030204" pitchFamily="34" charset="0"/>
                            <a:cs typeface="Calibri" panose="020F0502020204030204" pitchFamily="34" charset="0"/>
                          </a:rPr>
                        </m:ctrlPr>
                      </m:sSupPr>
                      <m:e>
                        <m:r>
                          <a:rPr lang="en-GB" b="0" i="1" smtClean="0">
                            <a:latin typeface="Cambria Math" panose="02040503050406030204" pitchFamily="18" charset="0"/>
                            <a:ea typeface="Calibri" panose="020F0502020204030204" pitchFamily="34" charset="0"/>
                            <a:cs typeface="Calibri" panose="020F0502020204030204" pitchFamily="34" charset="0"/>
                          </a:rPr>
                          <m:t>𝑥</m:t>
                        </m:r>
                      </m:e>
                      <m:sup>
                        <m:r>
                          <a:rPr lang="en-GB" b="0" i="1" smtClean="0">
                            <a:latin typeface="Cambria Math" panose="02040503050406030204" pitchFamily="18" charset="0"/>
                            <a:ea typeface="Calibri" panose="020F0502020204030204" pitchFamily="34" charset="0"/>
                            <a:cs typeface="Calibri" panose="020F0502020204030204" pitchFamily="34" charset="0"/>
                          </a:rPr>
                          <m:t>(0)</m:t>
                        </m:r>
                      </m:sup>
                    </m:sSup>
                  </m:oMath>
                </a14:m>
                <a:r>
                  <a:rPr lang="en-GB" b="0">
                    <a:latin typeface="Calibri" panose="020F0502020204030204" pitchFamily="34" charset="0"/>
                    <a:ea typeface="Calibri" panose="020F0502020204030204" pitchFamily="34" charset="0"/>
                    <a:cs typeface="Calibri" panose="020F0502020204030204" pitchFamily="34" charset="0"/>
                  </a:rPr>
                  <a:t> if and only if the spectral radius </a:t>
                </a:r>
                <a14:m>
                  <m:oMath xmlns:m="http://schemas.openxmlformats.org/officeDocument/2006/math">
                    <m:r>
                      <a:rPr lang="en-GB" b="0" i="1" smtClean="0">
                        <a:latin typeface="Cambria Math" panose="02040503050406030204" pitchFamily="18" charset="0"/>
                        <a:ea typeface="Calibri" panose="020F0502020204030204" pitchFamily="34" charset="0"/>
                        <a:cs typeface="Calibri" panose="020F0502020204030204" pitchFamily="34" charset="0"/>
                      </a:rPr>
                      <m:t>𝜌</m:t>
                    </m:r>
                    <m:d>
                      <m:dPr>
                        <m:ctrlPr>
                          <a:rPr lang="en-GB" b="0" i="1" smtClean="0">
                            <a:latin typeface="Cambria Math" panose="02040503050406030204" pitchFamily="18" charset="0"/>
                            <a:ea typeface="Calibri" panose="020F0502020204030204" pitchFamily="34" charset="0"/>
                            <a:cs typeface="Calibri" panose="020F0502020204030204" pitchFamily="34" charset="0"/>
                          </a:rPr>
                        </m:ctrlPr>
                      </m:dPr>
                      <m:e>
                        <m:sSub>
                          <m:sSubPr>
                            <m:ctrlPr>
                              <a:rPr lang="en-GB" b="0" i="1" smtClean="0">
                                <a:latin typeface="Cambria Math" panose="02040503050406030204" pitchFamily="18" charset="0"/>
                                <a:ea typeface="Calibri" panose="020F0502020204030204" pitchFamily="34" charset="0"/>
                                <a:cs typeface="Calibri" panose="020F0502020204030204" pitchFamily="34" charset="0"/>
                              </a:rPr>
                            </m:ctrlPr>
                          </m:sSubPr>
                          <m:e>
                            <m:r>
                              <a:rPr lang="en-GB" b="0" i="1" smtClean="0">
                                <a:latin typeface="Cambria Math" panose="02040503050406030204" pitchFamily="18" charset="0"/>
                                <a:ea typeface="Calibri" panose="020F0502020204030204" pitchFamily="34" charset="0"/>
                                <a:cs typeface="Calibri" panose="020F0502020204030204" pitchFamily="34" charset="0"/>
                              </a:rPr>
                              <m:t>𝑀</m:t>
                            </m:r>
                          </m:e>
                          <m:sub>
                            <m:r>
                              <a:rPr lang="en-GB" b="0" i="1" smtClean="0">
                                <a:latin typeface="Cambria Math" panose="02040503050406030204" pitchFamily="18" charset="0"/>
                                <a:ea typeface="Calibri" panose="020F0502020204030204" pitchFamily="34" charset="0"/>
                                <a:cs typeface="Calibri" panose="020F0502020204030204" pitchFamily="34" charset="0"/>
                              </a:rPr>
                              <m:t>𝐽</m:t>
                            </m:r>
                          </m:sub>
                        </m:sSub>
                      </m:e>
                    </m:d>
                    <m:r>
                      <a:rPr lang="en-GB" b="0" i="1" smtClean="0">
                        <a:latin typeface="Cambria Math" panose="02040503050406030204" pitchFamily="18" charset="0"/>
                        <a:ea typeface="Calibri" panose="020F0502020204030204" pitchFamily="34" charset="0"/>
                        <a:cs typeface="Calibri" panose="020F0502020204030204" pitchFamily="34" charset="0"/>
                      </a:rPr>
                      <m:t>&lt;1 .</m:t>
                    </m:r>
                  </m:oMath>
                </a14:m>
                <a:endParaRPr lang="en-GB" b="0">
                  <a:latin typeface="Calibri" panose="020F0502020204030204" pitchFamily="34" charset="0"/>
                  <a:ea typeface="Calibri" panose="020F0502020204030204" pitchFamily="34" charset="0"/>
                  <a:cs typeface="Calibri" panose="020F0502020204030204" pitchFamily="34" charset="0"/>
                </a:endParaRPr>
              </a:p>
              <a:p>
                <a:endParaRPr lang="en-GB" b="0">
                  <a:latin typeface="Calibri" panose="020F0502020204030204" pitchFamily="34" charset="0"/>
                  <a:ea typeface="Calibri" panose="020F0502020204030204" pitchFamily="34" charset="0"/>
                  <a:cs typeface="Calibri" panose="020F0502020204030204" pitchFamily="34" charset="0"/>
                </a:endParaRPr>
              </a:p>
              <a:p>
                <a:r>
                  <a:rPr lang="en-GB" b="0">
                    <a:latin typeface="Calibri" panose="020F0502020204030204" pitchFamily="34" charset="0"/>
                    <a:ea typeface="Calibri" panose="020F0502020204030204" pitchFamily="34" charset="0"/>
                    <a:cs typeface="Calibri" panose="020F0502020204030204" pitchFamily="34" charset="0"/>
                  </a:rPr>
                  <a:t>Take</a:t>
                </a:r>
                <a:r>
                  <a:rPr lang="en-GB">
                    <a:latin typeface="Calibri" panose="020F0502020204030204" pitchFamily="34" charset="0"/>
                    <a:ea typeface="Calibri" panose="020F0502020204030204" pitchFamily="34" charset="0"/>
                    <a:cs typeface="Calibri" panose="020F0502020204030204" pitchFamily="34" charset="0"/>
                  </a:rPr>
                  <a:t>, for example, a chain tiling of the die such that A is tridiagonal with values </a:t>
                </a:r>
                <a14:m>
                  <m:oMath xmlns:m="http://schemas.openxmlformats.org/officeDocument/2006/math">
                    <m:r>
                      <a:rPr lang="en-GB" b="0" i="1" smtClean="0">
                        <a:latin typeface="Cambria Math" panose="02040503050406030204" pitchFamily="18" charset="0"/>
                        <a:ea typeface="Calibri" panose="020F0502020204030204" pitchFamily="34" charset="0"/>
                        <a:cs typeface="Calibri" panose="020F0502020204030204" pitchFamily="34" charset="0"/>
                      </a:rPr>
                      <m:t>(−1,2,−1)</m:t>
                    </m:r>
                  </m:oMath>
                </a14:m>
                <a:r>
                  <a:rPr lang="en-GB" b="0">
                    <a:latin typeface="Calibri" panose="020F0502020204030204" pitchFamily="34" charset="0"/>
                    <a:ea typeface="Calibri" panose="020F0502020204030204" pitchFamily="34" charset="0"/>
                    <a:cs typeface="Calibri" panose="020F0502020204030204" pitchFamily="34" charset="0"/>
                  </a:rPr>
                  <a:t>.</a:t>
                </a:r>
              </a:p>
              <a:p>
                <a:r>
                  <a:rPr lang="en-GB" b="0">
                    <a:latin typeface="Calibri" panose="020F0502020204030204" pitchFamily="34" charset="0"/>
                    <a:ea typeface="Calibri" panose="020F0502020204030204" pitchFamily="34" charset="0"/>
                    <a:cs typeface="Calibri" panose="020F0502020204030204" pitchFamily="34" charset="0"/>
                  </a:rPr>
                  <a:t>Then</a:t>
                </a:r>
                <a:r>
                  <a:rPr lang="en-GB">
                    <a:latin typeface="Calibri" panose="020F0502020204030204" pitchFamily="34" charset="0"/>
                    <a:ea typeface="Calibri" panose="020F0502020204030204" pitchFamily="34" charset="0"/>
                    <a:cs typeface="Calibri" panose="020F0502020204030204" pitchFamily="34" charset="0"/>
                  </a:rPr>
                  <a:t>, the eigenvalues of </a:t>
                </a:r>
                <a14:m>
                  <m:oMath xmlns:m="http://schemas.openxmlformats.org/officeDocument/2006/math">
                    <m:sSub>
                      <m:sSubPr>
                        <m:ctrlPr>
                          <a:rPr lang="en-GB" b="0" i="1" smtClean="0">
                            <a:latin typeface="Cambria Math" panose="02040503050406030204" pitchFamily="18" charset="0"/>
                            <a:ea typeface="Calibri" panose="020F0502020204030204" pitchFamily="34" charset="0"/>
                            <a:cs typeface="Calibri" panose="020F0502020204030204" pitchFamily="34" charset="0"/>
                          </a:rPr>
                        </m:ctrlPr>
                      </m:sSubPr>
                      <m:e>
                        <m:r>
                          <a:rPr lang="en-GB" b="0" i="1" smtClean="0">
                            <a:latin typeface="Cambria Math" panose="02040503050406030204" pitchFamily="18" charset="0"/>
                            <a:ea typeface="Calibri" panose="020F0502020204030204" pitchFamily="34" charset="0"/>
                            <a:cs typeface="Calibri" panose="020F0502020204030204" pitchFamily="34" charset="0"/>
                          </a:rPr>
                          <m:t>𝑀</m:t>
                        </m:r>
                      </m:e>
                      <m:sub>
                        <m:r>
                          <a:rPr lang="en-GB" b="0" i="1" smtClean="0">
                            <a:latin typeface="Cambria Math" panose="02040503050406030204" pitchFamily="18" charset="0"/>
                            <a:ea typeface="Calibri" panose="020F0502020204030204" pitchFamily="34" charset="0"/>
                            <a:cs typeface="Calibri" panose="020F0502020204030204" pitchFamily="34" charset="0"/>
                          </a:rPr>
                          <m:t>𝐽</m:t>
                        </m:r>
                      </m:sub>
                    </m:sSub>
                  </m:oMath>
                </a14:m>
                <a:r>
                  <a:rPr lang="en-GB" b="0">
                    <a:latin typeface="Calibri" panose="020F0502020204030204" pitchFamily="34" charset="0"/>
                    <a:ea typeface="Calibri" panose="020F0502020204030204" pitchFamily="34" charset="0"/>
                    <a:cs typeface="Calibri" panose="020F0502020204030204" pitchFamily="34" charset="0"/>
                  </a:rPr>
                  <a:t> are </a:t>
                </a:r>
                <a14:m>
                  <m:oMath xmlns:m="http://schemas.openxmlformats.org/officeDocument/2006/math">
                    <m:sSub>
                      <m:sSubPr>
                        <m:ctrlPr>
                          <a:rPr lang="en-GB" b="0" i="1" smtClean="0">
                            <a:latin typeface="Cambria Math" panose="02040503050406030204" pitchFamily="18" charset="0"/>
                            <a:ea typeface="Calibri" panose="020F0502020204030204" pitchFamily="34" charset="0"/>
                            <a:cs typeface="Calibri" panose="020F0502020204030204" pitchFamily="34" charset="0"/>
                          </a:rPr>
                        </m:ctrlPr>
                      </m:sSubPr>
                      <m:e>
                        <m:r>
                          <a:rPr lang="en-GB" b="0" i="1" smtClean="0">
                            <a:latin typeface="Cambria Math" panose="02040503050406030204" pitchFamily="18" charset="0"/>
                            <a:ea typeface="Calibri" panose="020F0502020204030204" pitchFamily="34" charset="0"/>
                            <a:cs typeface="Calibri" panose="020F0502020204030204" pitchFamily="34" charset="0"/>
                          </a:rPr>
                          <m:t>𝜆</m:t>
                        </m:r>
                      </m:e>
                      <m:sub>
                        <m:r>
                          <a:rPr lang="en-GB" b="0" i="1" smtClean="0">
                            <a:latin typeface="Cambria Math" panose="02040503050406030204" pitchFamily="18" charset="0"/>
                            <a:ea typeface="Calibri" panose="020F0502020204030204" pitchFamily="34" charset="0"/>
                            <a:cs typeface="Calibri" panose="020F0502020204030204" pitchFamily="34" charset="0"/>
                          </a:rPr>
                          <m:t>𝑗</m:t>
                        </m:r>
                      </m:sub>
                    </m:sSub>
                    <m:r>
                      <a:rPr lang="en-GB" b="0" i="1" smtClean="0">
                        <a:latin typeface="Cambria Math" panose="02040503050406030204" pitchFamily="18" charset="0"/>
                        <a:ea typeface="Calibri" panose="020F0502020204030204" pitchFamily="34" charset="0"/>
                        <a:cs typeface="Calibri" panose="020F0502020204030204" pitchFamily="34" charset="0"/>
                      </a:rPr>
                      <m:t>=</m:t>
                    </m:r>
                    <m:func>
                      <m:funcPr>
                        <m:ctrlPr>
                          <a:rPr lang="en-GB" b="0" i="0" smtClean="0">
                            <a:latin typeface="Cambria Math" panose="02040503050406030204" pitchFamily="18" charset="0"/>
                            <a:ea typeface="Calibri" panose="020F0502020204030204" pitchFamily="34" charset="0"/>
                            <a:cs typeface="Calibri" panose="020F0502020204030204" pitchFamily="34" charset="0"/>
                          </a:rPr>
                        </m:ctrlPr>
                      </m:funcPr>
                      <m:fName>
                        <m:r>
                          <m:rPr>
                            <m:sty m:val="p"/>
                          </m:rPr>
                          <a:rPr lang="en-GB" b="0" i="0" smtClean="0">
                            <a:latin typeface="Cambria Math" panose="02040503050406030204" pitchFamily="18" charset="0"/>
                            <a:ea typeface="Calibri" panose="020F0502020204030204" pitchFamily="34" charset="0"/>
                            <a:cs typeface="Calibri" panose="020F0502020204030204" pitchFamily="34" charset="0"/>
                          </a:rPr>
                          <m:t>cos</m:t>
                        </m:r>
                      </m:fName>
                      <m:e>
                        <m:r>
                          <a:rPr lang="en-GB" b="0" i="1" smtClean="0">
                            <a:latin typeface="Cambria Math" panose="02040503050406030204" pitchFamily="18" charset="0"/>
                            <a:ea typeface="Calibri" panose="020F0502020204030204" pitchFamily="34" charset="0"/>
                            <a:cs typeface="Calibri" panose="020F0502020204030204" pitchFamily="34" charset="0"/>
                          </a:rPr>
                          <m:t>(</m:t>
                        </m:r>
                        <m:f>
                          <m:fPr>
                            <m:ctrlPr>
                              <a:rPr lang="en-GB" b="0" i="1" smtClean="0">
                                <a:latin typeface="Cambria Math" panose="02040503050406030204" pitchFamily="18" charset="0"/>
                                <a:ea typeface="Calibri" panose="020F0502020204030204" pitchFamily="34" charset="0"/>
                                <a:cs typeface="Calibri" panose="020F0502020204030204" pitchFamily="34" charset="0"/>
                              </a:rPr>
                            </m:ctrlPr>
                          </m:fPr>
                          <m:num>
                            <m:r>
                              <a:rPr lang="en-GB" b="0" i="1" smtClean="0">
                                <a:latin typeface="Cambria Math" panose="02040503050406030204" pitchFamily="18" charset="0"/>
                                <a:ea typeface="Calibri" panose="020F0502020204030204" pitchFamily="34" charset="0"/>
                                <a:cs typeface="Calibri" panose="020F0502020204030204" pitchFamily="34" charset="0"/>
                              </a:rPr>
                              <m:t>𝑗</m:t>
                            </m:r>
                            <m:r>
                              <a:rPr lang="en-GB" b="0" i="1" smtClean="0">
                                <a:latin typeface="Cambria Math" panose="02040503050406030204" pitchFamily="18" charset="0"/>
                                <a:ea typeface="Calibri" panose="020F0502020204030204" pitchFamily="34" charset="0"/>
                                <a:cs typeface="Calibri" panose="020F0502020204030204" pitchFamily="34" charset="0"/>
                              </a:rPr>
                              <m:t>𝜋</m:t>
                            </m:r>
                          </m:num>
                          <m:den>
                            <m:r>
                              <a:rPr lang="en-GB" b="0" i="1" smtClean="0">
                                <a:latin typeface="Cambria Math" panose="02040503050406030204" pitchFamily="18" charset="0"/>
                                <a:ea typeface="Calibri" panose="020F0502020204030204" pitchFamily="34" charset="0"/>
                                <a:cs typeface="Calibri" panose="020F0502020204030204" pitchFamily="34" charset="0"/>
                              </a:rPr>
                              <m:t>𝑛</m:t>
                            </m:r>
                            <m:r>
                              <a:rPr lang="en-GB" b="0" i="1" smtClean="0">
                                <a:latin typeface="Cambria Math" panose="02040503050406030204" pitchFamily="18" charset="0"/>
                                <a:ea typeface="Calibri" panose="020F0502020204030204" pitchFamily="34" charset="0"/>
                                <a:cs typeface="Calibri" panose="020F0502020204030204" pitchFamily="34" charset="0"/>
                              </a:rPr>
                              <m:t>+1</m:t>
                            </m:r>
                          </m:den>
                        </m:f>
                        <m:r>
                          <a:rPr lang="en-GB" b="0" i="1" smtClean="0">
                            <a:latin typeface="Cambria Math" panose="02040503050406030204" pitchFamily="18" charset="0"/>
                            <a:ea typeface="Calibri" panose="020F0502020204030204" pitchFamily="34" charset="0"/>
                            <a:cs typeface="Calibri" panose="020F0502020204030204" pitchFamily="34" charset="0"/>
                          </a:rPr>
                          <m:t>)</m:t>
                        </m:r>
                      </m:e>
                    </m:func>
                  </m:oMath>
                </a14:m>
                <a:r>
                  <a:rPr lang="en-GB" b="0">
                    <a:latin typeface="Calibri" panose="020F0502020204030204" pitchFamily="34" charset="0"/>
                    <a:ea typeface="Calibri" panose="020F0502020204030204" pitchFamily="34" charset="0"/>
                    <a:cs typeface="Calibri" panose="020F0502020204030204" pitchFamily="34" charset="0"/>
                  </a:rPr>
                  <a:t> for </a:t>
                </a:r>
                <a14:m>
                  <m:oMath xmlns:m="http://schemas.openxmlformats.org/officeDocument/2006/math">
                    <m:r>
                      <a:rPr lang="en-GB" b="0" i="1" smtClean="0">
                        <a:latin typeface="Cambria Math" panose="02040503050406030204" pitchFamily="18" charset="0"/>
                        <a:ea typeface="Calibri" panose="020F0502020204030204" pitchFamily="34" charset="0"/>
                        <a:cs typeface="Calibri" panose="020F0502020204030204" pitchFamily="34" charset="0"/>
                      </a:rPr>
                      <m:t>𝑗</m:t>
                    </m:r>
                    <m:r>
                      <a:rPr lang="en-GB" b="0" i="1" smtClean="0">
                        <a:latin typeface="Cambria Math" panose="02040503050406030204" pitchFamily="18" charset="0"/>
                        <a:ea typeface="Calibri" panose="020F0502020204030204" pitchFamily="34" charset="0"/>
                        <a:cs typeface="Calibri" panose="020F0502020204030204" pitchFamily="34" charset="0"/>
                      </a:rPr>
                      <m:t>=1,…, </m:t>
                    </m:r>
                    <m:r>
                      <a:rPr lang="en-GB" b="0" i="1" smtClean="0">
                        <a:latin typeface="Cambria Math" panose="02040503050406030204" pitchFamily="18" charset="0"/>
                        <a:ea typeface="Calibri" panose="020F0502020204030204" pitchFamily="34" charset="0"/>
                        <a:cs typeface="Calibri" panose="020F0502020204030204" pitchFamily="34" charset="0"/>
                      </a:rPr>
                      <m:t>𝑛</m:t>
                    </m:r>
                  </m:oMath>
                </a14:m>
                <a:r>
                  <a:rPr lang="en-GB" b="0">
                    <a:latin typeface="Calibri" panose="020F0502020204030204" pitchFamily="34" charset="0"/>
                    <a:ea typeface="Calibri" panose="020F0502020204030204" pitchFamily="34" charset="0"/>
                    <a:cs typeface="Calibri" panose="020F0502020204030204" pitchFamily="34" charset="0"/>
                  </a:rPr>
                  <a:t>.</a:t>
                </a:r>
              </a:p>
              <a:p>
                <a:r>
                  <a:rPr lang="en-GB">
                    <a:latin typeface="Calibri" panose="020F0502020204030204" pitchFamily="34" charset="0"/>
                    <a:ea typeface="Calibri" panose="020F0502020204030204" pitchFamily="34" charset="0"/>
                    <a:cs typeface="Calibri" panose="020F0502020204030204" pitchFamily="34" charset="0"/>
                  </a:rPr>
                  <a:t>This means the spectral radius is </a:t>
                </a:r>
                <a14:m>
                  <m:oMath xmlns:m="http://schemas.openxmlformats.org/officeDocument/2006/math">
                    <m:func>
                      <m:funcPr>
                        <m:ctrlPr>
                          <a:rPr lang="en-GB">
                            <a:latin typeface="Cambria Math" panose="02040503050406030204" pitchFamily="18" charset="0"/>
                            <a:ea typeface="Calibri" panose="020F0502020204030204" pitchFamily="34" charset="0"/>
                            <a:cs typeface="Calibri" panose="020F0502020204030204" pitchFamily="34" charset="0"/>
                          </a:rPr>
                        </m:ctrlPr>
                      </m:funcPr>
                      <m:fName>
                        <m:r>
                          <m:rPr>
                            <m:sty m:val="p"/>
                          </m:rPr>
                          <a:rPr lang="en-GB">
                            <a:latin typeface="Cambria Math" panose="02040503050406030204" pitchFamily="18" charset="0"/>
                            <a:ea typeface="Calibri" panose="020F0502020204030204" pitchFamily="34" charset="0"/>
                            <a:cs typeface="Calibri" panose="020F0502020204030204" pitchFamily="34" charset="0"/>
                          </a:rPr>
                          <m:t>cos</m:t>
                        </m:r>
                      </m:fName>
                      <m:e>
                        <m:r>
                          <a:rPr lang="en-GB" i="1">
                            <a:latin typeface="Cambria Math" panose="02040503050406030204" pitchFamily="18" charset="0"/>
                            <a:ea typeface="Calibri" panose="020F0502020204030204" pitchFamily="34" charset="0"/>
                            <a:cs typeface="Calibri" panose="020F0502020204030204" pitchFamily="34" charset="0"/>
                          </a:rPr>
                          <m:t>(</m:t>
                        </m:r>
                        <m:f>
                          <m:fPr>
                            <m:ctrlPr>
                              <a:rPr lang="en-GB" i="1">
                                <a:latin typeface="Cambria Math" panose="02040503050406030204" pitchFamily="18" charset="0"/>
                                <a:ea typeface="Calibri" panose="020F0502020204030204" pitchFamily="34" charset="0"/>
                                <a:cs typeface="Calibri" panose="020F0502020204030204" pitchFamily="34" charset="0"/>
                              </a:rPr>
                            </m:ctrlPr>
                          </m:fPr>
                          <m:num>
                            <m:r>
                              <a:rPr lang="en-GB" i="1">
                                <a:latin typeface="Cambria Math" panose="02040503050406030204" pitchFamily="18" charset="0"/>
                                <a:ea typeface="Calibri" panose="020F0502020204030204" pitchFamily="34" charset="0"/>
                                <a:cs typeface="Calibri" panose="020F0502020204030204" pitchFamily="34" charset="0"/>
                              </a:rPr>
                              <m:t>𝜋</m:t>
                            </m:r>
                          </m:num>
                          <m:den>
                            <m:r>
                              <a:rPr lang="en-GB" i="1">
                                <a:latin typeface="Cambria Math" panose="02040503050406030204" pitchFamily="18" charset="0"/>
                                <a:ea typeface="Calibri" panose="020F0502020204030204" pitchFamily="34" charset="0"/>
                                <a:cs typeface="Calibri" panose="020F0502020204030204" pitchFamily="34" charset="0"/>
                              </a:rPr>
                              <m:t>𝑛</m:t>
                            </m:r>
                            <m:r>
                              <a:rPr lang="en-GB" i="1">
                                <a:latin typeface="Cambria Math" panose="02040503050406030204" pitchFamily="18" charset="0"/>
                                <a:ea typeface="Calibri" panose="020F0502020204030204" pitchFamily="34" charset="0"/>
                                <a:cs typeface="Calibri" panose="020F0502020204030204" pitchFamily="34" charset="0"/>
                              </a:rPr>
                              <m:t>+1</m:t>
                            </m:r>
                          </m:den>
                        </m:f>
                        <m:r>
                          <a:rPr lang="en-GB" i="1">
                            <a:latin typeface="Cambria Math" panose="02040503050406030204" pitchFamily="18" charset="0"/>
                            <a:ea typeface="Calibri" panose="020F0502020204030204" pitchFamily="34" charset="0"/>
                            <a:cs typeface="Calibri" panose="020F0502020204030204" pitchFamily="34" charset="0"/>
                          </a:rPr>
                          <m:t>)</m:t>
                        </m:r>
                      </m:e>
                    </m:func>
                  </m:oMath>
                </a14:m>
                <a:r>
                  <a:rPr lang="en-GB" b="0">
                    <a:latin typeface="Calibri" panose="020F0502020204030204" pitchFamily="34" charset="0"/>
                    <a:ea typeface="Calibri" panose="020F0502020204030204" pitchFamily="34" charset="0"/>
                    <a:cs typeface="Calibri" panose="020F0502020204030204" pitchFamily="34" charset="0"/>
                  </a:rPr>
                  <a:t>, which is roughly </a:t>
                </a:r>
                <a14:m>
                  <m:oMath xmlns:m="http://schemas.openxmlformats.org/officeDocument/2006/math">
                    <m:r>
                      <a:rPr lang="en-GB" b="0" i="1" smtClean="0">
                        <a:latin typeface="Cambria Math" panose="02040503050406030204" pitchFamily="18" charset="0"/>
                        <a:ea typeface="Calibri" panose="020F0502020204030204" pitchFamily="34" charset="0"/>
                        <a:cs typeface="Calibri" panose="020F0502020204030204" pitchFamily="34" charset="0"/>
                      </a:rPr>
                      <m:t>1−</m:t>
                    </m:r>
                    <m:f>
                      <m:fPr>
                        <m:ctrlPr>
                          <a:rPr lang="en-GB" b="0" i="1" smtClean="0">
                            <a:latin typeface="Cambria Math" panose="02040503050406030204" pitchFamily="18" charset="0"/>
                            <a:ea typeface="Calibri" panose="020F0502020204030204" pitchFamily="34" charset="0"/>
                            <a:cs typeface="Calibri" panose="020F0502020204030204" pitchFamily="34" charset="0"/>
                          </a:rPr>
                        </m:ctrlPr>
                      </m:fPr>
                      <m:num>
                        <m:sSup>
                          <m:sSupPr>
                            <m:ctrlPr>
                              <a:rPr lang="en-GB" b="0" i="1" smtClean="0">
                                <a:latin typeface="Cambria Math" panose="02040503050406030204" pitchFamily="18" charset="0"/>
                                <a:ea typeface="Calibri" panose="020F0502020204030204" pitchFamily="34" charset="0"/>
                                <a:cs typeface="Calibri" panose="020F0502020204030204" pitchFamily="34" charset="0"/>
                              </a:rPr>
                            </m:ctrlPr>
                          </m:sSupPr>
                          <m:e>
                            <m:r>
                              <a:rPr lang="en-GB" b="0" i="1" smtClean="0">
                                <a:latin typeface="Cambria Math" panose="02040503050406030204" pitchFamily="18" charset="0"/>
                                <a:ea typeface="Calibri" panose="020F0502020204030204" pitchFamily="34" charset="0"/>
                                <a:cs typeface="Calibri" panose="020F0502020204030204" pitchFamily="34" charset="0"/>
                              </a:rPr>
                              <m:t>𝜋</m:t>
                            </m:r>
                          </m:e>
                          <m:sup>
                            <m:r>
                              <a:rPr lang="en-GB" b="0" i="1" smtClean="0">
                                <a:latin typeface="Cambria Math" panose="02040503050406030204" pitchFamily="18" charset="0"/>
                                <a:ea typeface="Calibri" panose="020F0502020204030204" pitchFamily="34" charset="0"/>
                                <a:cs typeface="Calibri" panose="020F0502020204030204" pitchFamily="34" charset="0"/>
                              </a:rPr>
                              <m:t>2</m:t>
                            </m:r>
                          </m:sup>
                        </m:sSup>
                      </m:num>
                      <m:den>
                        <m:r>
                          <a:rPr lang="en-GB" b="0" i="1" smtClean="0">
                            <a:latin typeface="Cambria Math" panose="02040503050406030204" pitchFamily="18" charset="0"/>
                            <a:ea typeface="Calibri" panose="020F0502020204030204" pitchFamily="34" charset="0"/>
                            <a:cs typeface="Calibri" panose="020F0502020204030204" pitchFamily="34" charset="0"/>
                          </a:rPr>
                          <m:t>2</m:t>
                        </m:r>
                        <m:sSup>
                          <m:sSupPr>
                            <m:ctrlPr>
                              <a:rPr lang="en-GB" b="0" i="1" smtClean="0">
                                <a:latin typeface="Cambria Math" panose="02040503050406030204" pitchFamily="18" charset="0"/>
                                <a:ea typeface="Calibri" panose="020F0502020204030204" pitchFamily="34" charset="0"/>
                                <a:cs typeface="Calibri" panose="020F0502020204030204" pitchFamily="34" charset="0"/>
                              </a:rPr>
                            </m:ctrlPr>
                          </m:sSupPr>
                          <m:e>
                            <m:d>
                              <m:dPr>
                                <m:ctrlPr>
                                  <a:rPr lang="en-GB" b="0" i="1" smtClean="0">
                                    <a:latin typeface="Cambria Math" panose="02040503050406030204" pitchFamily="18" charset="0"/>
                                    <a:ea typeface="Calibri" panose="020F0502020204030204" pitchFamily="34" charset="0"/>
                                    <a:cs typeface="Calibri" panose="020F0502020204030204" pitchFamily="34" charset="0"/>
                                  </a:rPr>
                                </m:ctrlPr>
                              </m:dPr>
                              <m:e>
                                <m:r>
                                  <a:rPr lang="en-GB" b="0" i="1" smtClean="0">
                                    <a:latin typeface="Cambria Math" panose="02040503050406030204" pitchFamily="18" charset="0"/>
                                    <a:ea typeface="Calibri" panose="020F0502020204030204" pitchFamily="34" charset="0"/>
                                    <a:cs typeface="Calibri" panose="020F0502020204030204" pitchFamily="34" charset="0"/>
                                  </a:rPr>
                                  <m:t>𝑛</m:t>
                                </m:r>
                                <m:r>
                                  <a:rPr lang="en-GB" b="0" i="1" smtClean="0">
                                    <a:latin typeface="Cambria Math" panose="02040503050406030204" pitchFamily="18" charset="0"/>
                                    <a:ea typeface="Calibri" panose="020F0502020204030204" pitchFamily="34" charset="0"/>
                                    <a:cs typeface="Calibri" panose="020F0502020204030204" pitchFamily="34" charset="0"/>
                                  </a:rPr>
                                  <m:t>+1</m:t>
                                </m:r>
                              </m:e>
                            </m:d>
                          </m:e>
                          <m:sup>
                            <m:r>
                              <a:rPr lang="en-GB" b="0" i="1" smtClean="0">
                                <a:latin typeface="Cambria Math" panose="02040503050406030204" pitchFamily="18" charset="0"/>
                                <a:ea typeface="Calibri" panose="020F0502020204030204" pitchFamily="34" charset="0"/>
                                <a:cs typeface="Calibri" panose="020F0502020204030204" pitchFamily="34" charset="0"/>
                              </a:rPr>
                              <m:t>2</m:t>
                            </m:r>
                          </m:sup>
                        </m:sSup>
                      </m:den>
                    </m:f>
                  </m:oMath>
                </a14:m>
                <a:r>
                  <a:rPr lang="en-GB" b="0">
                    <a:latin typeface="Calibri" panose="020F0502020204030204" pitchFamily="34" charset="0"/>
                    <a:ea typeface="Calibri" panose="020F0502020204030204" pitchFamily="34" charset="0"/>
                    <a:cs typeface="Calibri" panose="020F0502020204030204" pitchFamily="34" charset="0"/>
                  </a:rPr>
                  <a:t> and less than 1.</a:t>
                </a:r>
              </a:p>
            </p:txBody>
          </p:sp>
        </mc:Choice>
        <mc:Fallback xmlns="">
          <p:sp>
            <p:nvSpPr>
              <p:cNvPr id="3" name="Tijdelijke aanduiding voor inhoud 2">
                <a:extLst>
                  <a:ext uri="{FF2B5EF4-FFF2-40B4-BE49-F238E27FC236}">
                    <a16:creationId xmlns:a16="http://schemas.microsoft.com/office/drawing/2014/main" id="{3F3BA741-9D4B-190D-71F7-AC0A3D7968CA}"/>
                  </a:ext>
                </a:extLst>
              </p:cNvPr>
              <p:cNvSpPr>
                <a:spLocks noGrp="1" noRot="1" noChangeAspect="1" noMove="1" noResize="1" noEditPoints="1" noAdjustHandles="1" noChangeArrowheads="1" noChangeShapeType="1" noTextEdit="1"/>
              </p:cNvSpPr>
              <p:nvPr>
                <p:ph idx="1"/>
              </p:nvPr>
            </p:nvSpPr>
            <p:spPr>
              <a:blipFill>
                <a:blip r:embed="rId3"/>
                <a:stretch>
                  <a:fillRect l="-1538" t="-1842"/>
                </a:stretch>
              </a:blipFill>
            </p:spPr>
            <p:txBody>
              <a:bodyPr/>
              <a:lstStyle/>
              <a:p>
                <a:r>
                  <a:rPr lang="en-US">
                    <a:noFill/>
                  </a:rPr>
                  <a:t> </a:t>
                </a:r>
              </a:p>
            </p:txBody>
          </p:sp>
        </mc:Fallback>
      </mc:AlternateContent>
      <p:sp>
        <p:nvSpPr>
          <p:cNvPr id="6" name="Tijdelijke aanduiding voor dianummer 5">
            <a:extLst>
              <a:ext uri="{FF2B5EF4-FFF2-40B4-BE49-F238E27FC236}">
                <a16:creationId xmlns:a16="http://schemas.microsoft.com/office/drawing/2014/main" id="{20CD80CB-A338-F68D-6C4B-750CB7BC9386}"/>
              </a:ext>
            </a:extLst>
          </p:cNvPr>
          <p:cNvSpPr>
            <a:spLocks noGrp="1"/>
          </p:cNvSpPr>
          <p:nvPr>
            <p:ph type="sldNum" sz="quarter" idx="12"/>
          </p:nvPr>
        </p:nvSpPr>
        <p:spPr/>
        <p:txBody>
          <a:bodyPr/>
          <a:lstStyle>
            <a:lvl1pPr>
              <a:defRPr>
                <a:solidFill>
                  <a:schemeClr val="tx1"/>
                </a:solidFill>
              </a:defRPr>
            </a:lvl1pPr>
          </a:lstStyle>
          <a:p>
            <a:fld id="{B7CEC10D-CD46-426F-915E-6C78530279CB}" type="slidenum">
              <a:rPr lang="en-US" smtClean="0"/>
              <a:pPr/>
              <a:t>56</a:t>
            </a:fld>
            <a:endParaRPr lang="en-US"/>
          </a:p>
        </p:txBody>
      </p:sp>
    </p:spTree>
    <p:extLst>
      <p:ext uri="{BB962C8B-B14F-4D97-AF65-F5344CB8AC3E}">
        <p14:creationId xmlns:p14="http://schemas.microsoft.com/office/powerpoint/2010/main" val="37592787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13B7027D-8768-A01A-F476-3B03A2E1910C}"/>
              </a:ext>
            </a:extLst>
          </p:cNvPr>
          <p:cNvSpPr>
            <a:spLocks noGrp="1"/>
          </p:cNvSpPr>
          <p:nvPr>
            <p:ph type="title"/>
          </p:nvPr>
        </p:nvSpPr>
        <p:spPr/>
        <p:txBody>
          <a:bodyPr/>
          <a:lstStyle/>
          <a:p>
            <a:r>
              <a:rPr lang="en-GB"/>
              <a:t>Extra: error rates</a:t>
            </a:r>
            <a:endParaRPr lang="en-US"/>
          </a:p>
        </p:txBody>
      </p:sp>
      <mc:AlternateContent xmlns:mc="http://schemas.openxmlformats.org/markup-compatibility/2006" xmlns:a14="http://schemas.microsoft.com/office/drawing/2010/main">
        <mc:Choice Requires="a14">
          <p:sp>
            <p:nvSpPr>
              <p:cNvPr id="7" name="Tijdelijke aanduiding voor inhoud 6">
                <a:extLst>
                  <a:ext uri="{FF2B5EF4-FFF2-40B4-BE49-F238E27FC236}">
                    <a16:creationId xmlns:a16="http://schemas.microsoft.com/office/drawing/2014/main" id="{86AE1466-2DCD-72FB-65A5-F631F686C4F7}"/>
                  </a:ext>
                </a:extLst>
              </p:cNvPr>
              <p:cNvSpPr>
                <a:spLocks noGrp="1"/>
              </p:cNvSpPr>
              <p:nvPr>
                <p:ph idx="1"/>
              </p:nvPr>
            </p:nvSpPr>
            <p:spPr/>
            <p:txBody>
              <a:bodyPr/>
              <a:lstStyle/>
              <a:p>
                <a:pPr/>
                <a:r>
                  <a:rPr lang="en-GB"/>
                  <a:t>For </a:t>
                </a:r>
                <a14:m>
                  <m:oMath xmlns:m="http://schemas.openxmlformats.org/officeDocument/2006/math">
                    <m:r>
                      <a:rPr lang="en-GB" i="1">
                        <a:latin typeface="Cambria Math" panose="02040503050406030204" pitchFamily="18" charset="0"/>
                      </a:rPr>
                      <m:t>𝜅</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𝜆</m:t>
                        </m:r>
                      </m:e>
                      <m:sub>
                        <m:r>
                          <m:rPr>
                            <m:sty m:val="p"/>
                          </m:rPr>
                          <a:rPr lang="en-GB" i="1">
                            <a:latin typeface="Cambria Math" panose="02040503050406030204" pitchFamily="18" charset="0"/>
                          </a:rPr>
                          <m:t>max</m:t>
                        </m:r>
                        <m:r>
                          <a:rPr lang="en-GB" i="1">
                            <a:latin typeface="Cambria Math" panose="02040503050406030204" pitchFamily="18" charset="0"/>
                          </a:rPr>
                          <m:t> </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𝜆</m:t>
                        </m:r>
                      </m:e>
                      <m:sub>
                        <m:r>
                          <m:rPr>
                            <m:sty m:val="p"/>
                          </m:rPr>
                          <a:rPr lang="en-GB" i="1">
                            <a:latin typeface="Cambria Math" panose="02040503050406030204" pitchFamily="18" charset="0"/>
                          </a:rPr>
                          <m:t>min</m:t>
                        </m:r>
                        <m:r>
                          <a:rPr lang="en-GB" i="1">
                            <a:latin typeface="Cambria Math" panose="02040503050406030204" pitchFamily="18" charset="0"/>
                          </a:rPr>
                          <m:t> </m:t>
                        </m:r>
                      </m:sub>
                    </m:sSub>
                  </m:oMath>
                </a14:m>
                <a:r>
                  <a:rPr lang="en-GB"/>
                  <a:t>, the error rate of the conjugate gradient method is</a:t>
                </a:r>
                <a:br>
                  <a:rPr lang="en-GB"/>
                </a:br>
                <a14:m>
                  <m:oMathPara xmlns:m="http://schemas.openxmlformats.org/officeDocument/2006/math">
                    <m:oMath>
                      <m:r>
                        <a:rPr lang="en-GB" i="1">
                          <a:latin typeface="Cambria Math" panose="02040503050406030204" pitchFamily="18" charset="0"/>
                          <a:ea typeface="Cambria Math" panose="02040503050406030204" pitchFamily="18" charset="0"/>
                        </a:rPr>
                        <m:t>∥</m:t>
                      </m:r>
                      <m:sSup>
                        <m:sSupPr>
                          <m:ctrlPr>
                            <a:rPr lang="en-GB" i="1">
                              <a:latin typeface="Cambria Math" panose="02040503050406030204" pitchFamily="18" charset="0"/>
                              <a:ea typeface="Cambria Math" panose="02040503050406030204" pitchFamily="18" charset="0"/>
                            </a:rPr>
                          </m:ctrlPr>
                        </m:sSupPr>
                        <m:e>
                          <m:r>
                            <a:rPr lang="en-GB" i="1">
                              <a:latin typeface="Cambria Math" panose="02040503050406030204" pitchFamily="18" charset="0"/>
                              <a:ea typeface="Cambria Math" panose="02040503050406030204" pitchFamily="18" charset="0"/>
                            </a:rPr>
                            <m:t>𝑥</m:t>
                          </m:r>
                        </m:e>
                        <m:sup>
                          <m:d>
                            <m:dPr>
                              <m:ctrlPr>
                                <a:rPr lang="en-GB" i="1">
                                  <a:latin typeface="Cambria Math" panose="02040503050406030204" pitchFamily="18" charset="0"/>
                                  <a:ea typeface="Cambria Math" panose="02040503050406030204" pitchFamily="18" charset="0"/>
                                </a:rPr>
                              </m:ctrlPr>
                            </m:dPr>
                            <m:e>
                              <m:r>
                                <a:rPr lang="en-GB" i="1">
                                  <a:latin typeface="Cambria Math" panose="02040503050406030204" pitchFamily="18" charset="0"/>
                                  <a:ea typeface="Cambria Math" panose="02040503050406030204" pitchFamily="18" charset="0"/>
                                </a:rPr>
                                <m:t>𝑡</m:t>
                              </m:r>
                            </m:e>
                          </m:d>
                        </m:sup>
                      </m:sSup>
                      <m:r>
                        <a:rPr lang="en-GB" i="1">
                          <a:latin typeface="Cambria Math" panose="02040503050406030204" pitchFamily="18" charset="0"/>
                          <a:ea typeface="Cambria Math" panose="02040503050406030204" pitchFamily="18" charset="0"/>
                        </a:rPr>
                        <m:t>−</m:t>
                      </m:r>
                      <m:sSup>
                        <m:sSupPr>
                          <m:ctrlPr>
                            <a:rPr lang="en-GB" i="1">
                              <a:latin typeface="Cambria Math" panose="02040503050406030204" pitchFamily="18" charset="0"/>
                              <a:ea typeface="Cambria Math" panose="02040503050406030204" pitchFamily="18" charset="0"/>
                            </a:rPr>
                          </m:ctrlPr>
                        </m:sSupPr>
                        <m:e>
                          <m:r>
                            <a:rPr lang="en-GB" i="1">
                              <a:latin typeface="Cambria Math" panose="02040503050406030204" pitchFamily="18" charset="0"/>
                              <a:ea typeface="Cambria Math" panose="02040503050406030204" pitchFamily="18" charset="0"/>
                            </a:rPr>
                            <m:t>𝑥</m:t>
                          </m:r>
                        </m:e>
                        <m:sup>
                          <m:r>
                            <a:rPr lang="en-GB" i="1">
                              <a:latin typeface="Cambria Math" panose="02040503050406030204" pitchFamily="18" charset="0"/>
                              <a:ea typeface="Cambria Math" panose="02040503050406030204" pitchFamily="18" charset="0"/>
                            </a:rPr>
                            <m:t>∗</m:t>
                          </m:r>
                        </m:sup>
                      </m:sSup>
                      <m:sSub>
                        <m:sSubPr>
                          <m:ctrlPr>
                            <a:rPr lang="en-GB" i="1">
                              <a:latin typeface="Cambria Math" panose="02040503050406030204" pitchFamily="18" charset="0"/>
                              <a:ea typeface="Cambria Math" panose="02040503050406030204" pitchFamily="18" charset="0"/>
                            </a:rPr>
                          </m:ctrlPr>
                        </m:sSubPr>
                        <m:e>
                          <m:r>
                            <a:rPr lang="en-GB" i="1">
                              <a:latin typeface="Cambria Math" panose="02040503050406030204" pitchFamily="18" charset="0"/>
                              <a:ea typeface="Cambria Math" panose="02040503050406030204" pitchFamily="18" charset="0"/>
                            </a:rPr>
                            <m:t>∥</m:t>
                          </m:r>
                        </m:e>
                        <m:sub>
                          <m:r>
                            <a:rPr lang="en-GB" i="1">
                              <a:latin typeface="Cambria Math" panose="02040503050406030204" pitchFamily="18" charset="0"/>
                              <a:ea typeface="Cambria Math" panose="02040503050406030204" pitchFamily="18" charset="0"/>
                            </a:rPr>
                            <m:t>𝐴</m:t>
                          </m:r>
                        </m:sub>
                      </m:sSub>
                      <m:r>
                        <a:rPr lang="en-GB" i="1">
                          <a:latin typeface="Cambria Math" panose="02040503050406030204" pitchFamily="18" charset="0"/>
                          <a:ea typeface="Cambria Math" panose="02040503050406030204" pitchFamily="18" charset="0"/>
                        </a:rPr>
                        <m:t> ≤2 </m:t>
                      </m:r>
                      <m:sSup>
                        <m:sSupPr>
                          <m:ctrlPr>
                            <a:rPr lang="en-GB" i="1">
                              <a:latin typeface="Cambria Math" panose="02040503050406030204" pitchFamily="18" charset="0"/>
                              <a:ea typeface="Cambria Math" panose="02040503050406030204" pitchFamily="18" charset="0"/>
                            </a:rPr>
                          </m:ctrlPr>
                        </m:sSupPr>
                        <m:e>
                          <m:d>
                            <m:dPr>
                              <m:ctrlPr>
                                <a:rPr lang="en-GB" i="1">
                                  <a:latin typeface="Cambria Math" panose="02040503050406030204" pitchFamily="18" charset="0"/>
                                  <a:ea typeface="Cambria Math" panose="02040503050406030204" pitchFamily="18" charset="0"/>
                                </a:rPr>
                              </m:ctrlPr>
                            </m:dPr>
                            <m:e>
                              <m:f>
                                <m:fPr>
                                  <m:ctrlPr>
                                    <a:rPr lang="en-GB" i="1">
                                      <a:latin typeface="Cambria Math" panose="02040503050406030204" pitchFamily="18" charset="0"/>
                                      <a:ea typeface="Cambria Math" panose="02040503050406030204" pitchFamily="18" charset="0"/>
                                    </a:rPr>
                                  </m:ctrlPr>
                                </m:fPr>
                                <m:num>
                                  <m:rad>
                                    <m:radPr>
                                      <m:degHide m:val="on"/>
                                      <m:ctrlPr>
                                        <a:rPr lang="en-GB" i="1">
                                          <a:latin typeface="Cambria Math" panose="02040503050406030204" pitchFamily="18" charset="0"/>
                                          <a:ea typeface="Cambria Math" panose="02040503050406030204" pitchFamily="18" charset="0"/>
                                        </a:rPr>
                                      </m:ctrlPr>
                                    </m:radPr>
                                    <m:deg/>
                                    <m:e>
                                      <m:r>
                                        <a:rPr lang="en-GB" i="1">
                                          <a:latin typeface="Cambria Math" panose="02040503050406030204" pitchFamily="18" charset="0"/>
                                          <a:ea typeface="Cambria Math" panose="02040503050406030204" pitchFamily="18" charset="0"/>
                                        </a:rPr>
                                        <m:t>𝜅</m:t>
                                      </m:r>
                                    </m:e>
                                  </m:rad>
                                  <m:r>
                                    <a:rPr lang="en-GB" i="1">
                                      <a:latin typeface="Cambria Math" panose="02040503050406030204" pitchFamily="18" charset="0"/>
                                      <a:ea typeface="Cambria Math" panose="02040503050406030204" pitchFamily="18" charset="0"/>
                                    </a:rPr>
                                    <m:t>−1</m:t>
                                  </m:r>
                                </m:num>
                                <m:den>
                                  <m:rad>
                                    <m:radPr>
                                      <m:degHide m:val="on"/>
                                      <m:ctrlPr>
                                        <a:rPr lang="en-GB" i="1">
                                          <a:latin typeface="Cambria Math" panose="02040503050406030204" pitchFamily="18" charset="0"/>
                                          <a:ea typeface="Cambria Math" panose="02040503050406030204" pitchFamily="18" charset="0"/>
                                        </a:rPr>
                                      </m:ctrlPr>
                                    </m:radPr>
                                    <m:deg/>
                                    <m:e>
                                      <m:r>
                                        <a:rPr lang="en-GB" i="1">
                                          <a:latin typeface="Cambria Math" panose="02040503050406030204" pitchFamily="18" charset="0"/>
                                          <a:ea typeface="Cambria Math" panose="02040503050406030204" pitchFamily="18" charset="0"/>
                                        </a:rPr>
                                        <m:t>𝜅</m:t>
                                      </m:r>
                                    </m:e>
                                  </m:rad>
                                  <m:r>
                                    <a:rPr lang="en-GB" i="1">
                                      <a:latin typeface="Cambria Math" panose="02040503050406030204" pitchFamily="18" charset="0"/>
                                      <a:ea typeface="Cambria Math" panose="02040503050406030204" pitchFamily="18" charset="0"/>
                                    </a:rPr>
                                    <m:t>+1</m:t>
                                  </m:r>
                                </m:den>
                              </m:f>
                            </m:e>
                          </m:d>
                        </m:e>
                        <m:sup>
                          <m:r>
                            <a:rPr lang="en-GB" i="1">
                              <a:latin typeface="Cambria Math" panose="02040503050406030204" pitchFamily="18" charset="0"/>
                              <a:ea typeface="Cambria Math" panose="02040503050406030204" pitchFamily="18" charset="0"/>
                            </a:rPr>
                            <m:t>𝑡</m:t>
                          </m:r>
                        </m:sup>
                      </m:sSup>
                      <m:r>
                        <a:rPr lang="en-GB" i="1">
                          <a:latin typeface="Cambria Math" panose="02040503050406030204" pitchFamily="18" charset="0"/>
                          <a:ea typeface="Cambria Math" panose="02040503050406030204" pitchFamily="18" charset="0"/>
                        </a:rPr>
                        <m:t>∥</m:t>
                      </m:r>
                      <m:sSup>
                        <m:sSupPr>
                          <m:ctrlPr>
                            <a:rPr lang="en-GB" i="1">
                              <a:latin typeface="Cambria Math" panose="02040503050406030204" pitchFamily="18" charset="0"/>
                              <a:ea typeface="Cambria Math" panose="02040503050406030204" pitchFamily="18" charset="0"/>
                            </a:rPr>
                          </m:ctrlPr>
                        </m:sSupPr>
                        <m:e>
                          <m:r>
                            <a:rPr lang="en-GB" i="1">
                              <a:latin typeface="Cambria Math" panose="02040503050406030204" pitchFamily="18" charset="0"/>
                              <a:ea typeface="Cambria Math" panose="02040503050406030204" pitchFamily="18" charset="0"/>
                            </a:rPr>
                            <m:t>𝑥</m:t>
                          </m:r>
                        </m:e>
                        <m:sup>
                          <m:r>
                            <a:rPr lang="en-GB" i="1">
                              <a:latin typeface="Cambria Math" panose="02040503050406030204" pitchFamily="18" charset="0"/>
                              <a:ea typeface="Cambria Math" panose="02040503050406030204" pitchFamily="18" charset="0"/>
                            </a:rPr>
                            <m:t>0</m:t>
                          </m:r>
                        </m:sup>
                      </m:sSup>
                      <m:r>
                        <a:rPr lang="en-GB" i="1">
                          <a:latin typeface="Cambria Math" panose="02040503050406030204" pitchFamily="18" charset="0"/>
                          <a:ea typeface="Cambria Math" panose="02040503050406030204" pitchFamily="18" charset="0"/>
                        </a:rPr>
                        <m:t>−</m:t>
                      </m:r>
                      <m:sSup>
                        <m:sSupPr>
                          <m:ctrlPr>
                            <a:rPr lang="en-GB" i="1">
                              <a:latin typeface="Cambria Math" panose="02040503050406030204" pitchFamily="18" charset="0"/>
                              <a:ea typeface="Cambria Math" panose="02040503050406030204" pitchFamily="18" charset="0"/>
                            </a:rPr>
                          </m:ctrlPr>
                        </m:sSupPr>
                        <m:e>
                          <m:r>
                            <a:rPr lang="en-GB" i="1">
                              <a:latin typeface="Cambria Math" panose="02040503050406030204" pitchFamily="18" charset="0"/>
                              <a:ea typeface="Cambria Math" panose="02040503050406030204" pitchFamily="18" charset="0"/>
                            </a:rPr>
                            <m:t>𝑥</m:t>
                          </m:r>
                        </m:e>
                        <m:sup>
                          <m:r>
                            <a:rPr lang="en-GB" i="1">
                              <a:latin typeface="Cambria Math" panose="02040503050406030204" pitchFamily="18" charset="0"/>
                              <a:ea typeface="Cambria Math" panose="02040503050406030204" pitchFamily="18" charset="0"/>
                            </a:rPr>
                            <m:t>∗</m:t>
                          </m:r>
                        </m:sup>
                      </m:sSup>
                      <m:sSub>
                        <m:sSubPr>
                          <m:ctrlPr>
                            <a:rPr lang="en-GB" i="1">
                              <a:latin typeface="Cambria Math" panose="02040503050406030204" pitchFamily="18" charset="0"/>
                              <a:ea typeface="Cambria Math" panose="02040503050406030204" pitchFamily="18" charset="0"/>
                            </a:rPr>
                          </m:ctrlPr>
                        </m:sSubPr>
                        <m:e>
                          <m:r>
                            <a:rPr lang="en-GB" i="1">
                              <a:latin typeface="Cambria Math" panose="02040503050406030204" pitchFamily="18" charset="0"/>
                              <a:ea typeface="Cambria Math" panose="02040503050406030204" pitchFamily="18" charset="0"/>
                            </a:rPr>
                            <m:t>∥</m:t>
                          </m:r>
                        </m:e>
                        <m:sub>
                          <m:r>
                            <a:rPr lang="en-GB" i="1">
                              <a:latin typeface="Cambria Math" panose="02040503050406030204" pitchFamily="18" charset="0"/>
                              <a:ea typeface="Cambria Math" panose="02040503050406030204" pitchFamily="18" charset="0"/>
                            </a:rPr>
                            <m:t>𝐴</m:t>
                          </m:r>
                        </m:sub>
                      </m:sSub>
                    </m:oMath>
                  </m:oMathPara>
                </a14:m>
                <a:endParaRPr lang="en-US"/>
              </a:p>
              <a:p>
                <a:endParaRPr lang="en-US"/>
              </a:p>
            </p:txBody>
          </p:sp>
        </mc:Choice>
        <mc:Fallback xmlns="">
          <p:sp>
            <p:nvSpPr>
              <p:cNvPr id="7" name="Tijdelijke aanduiding voor inhoud 6">
                <a:extLst>
                  <a:ext uri="{FF2B5EF4-FFF2-40B4-BE49-F238E27FC236}">
                    <a16:creationId xmlns:a16="http://schemas.microsoft.com/office/drawing/2014/main" id="{86AE1466-2DCD-72FB-65A5-F631F686C4F7}"/>
                  </a:ext>
                </a:extLst>
              </p:cNvPr>
              <p:cNvSpPr>
                <a:spLocks noGrp="1" noRot="1" noChangeAspect="1" noMove="1" noResize="1" noEditPoints="1" noAdjustHandles="1" noChangeArrowheads="1" noChangeShapeType="1" noTextEdit="1"/>
              </p:cNvSpPr>
              <p:nvPr>
                <p:ph idx="1"/>
              </p:nvPr>
            </p:nvSpPr>
            <p:spPr>
              <a:blipFill>
                <a:blip r:embed="rId2"/>
                <a:stretch>
                  <a:fillRect l="-1538" t="-2026"/>
                </a:stretch>
              </a:blipFill>
            </p:spPr>
            <p:txBody>
              <a:bodyPr/>
              <a:lstStyle/>
              <a:p>
                <a:r>
                  <a:rPr lang="en-US">
                    <a:noFill/>
                  </a:rPr>
                  <a:t> </a:t>
                </a:r>
              </a:p>
            </p:txBody>
          </p:sp>
        </mc:Fallback>
      </mc:AlternateContent>
      <p:sp>
        <p:nvSpPr>
          <p:cNvPr id="5" name="Tijdelijke aanduiding voor dianummer 4">
            <a:extLst>
              <a:ext uri="{FF2B5EF4-FFF2-40B4-BE49-F238E27FC236}">
                <a16:creationId xmlns:a16="http://schemas.microsoft.com/office/drawing/2014/main" id="{9A9C967A-7746-3719-EA5D-55D8EED96D6C}"/>
              </a:ext>
            </a:extLst>
          </p:cNvPr>
          <p:cNvSpPr>
            <a:spLocks noGrp="1"/>
          </p:cNvSpPr>
          <p:nvPr>
            <p:ph type="sldNum" sz="quarter" idx="12"/>
          </p:nvPr>
        </p:nvSpPr>
        <p:spPr/>
        <p:txBody>
          <a:bodyPr/>
          <a:lstStyle/>
          <a:p>
            <a:fld id="{B7CEC10D-CD46-426F-915E-6C78530279CB}" type="slidenum">
              <a:rPr lang="en-US" smtClean="0"/>
              <a:pPr/>
              <a:t>57</a:t>
            </a:fld>
            <a:endParaRPr lang="en-US"/>
          </a:p>
        </p:txBody>
      </p:sp>
      <p:pic>
        <p:nvPicPr>
          <p:cNvPr id="9" name="Picture 8" descr="rates.png">
            <a:extLst>
              <a:ext uri="{FF2B5EF4-FFF2-40B4-BE49-F238E27FC236}">
                <a16:creationId xmlns:a16="http://schemas.microsoft.com/office/drawing/2014/main" id="{EF9B49EB-542B-475E-0563-7319B3F2812C}"/>
              </a:ext>
            </a:extLst>
          </p:cNvPr>
          <p:cNvPicPr>
            <a:picLocks noChangeAspect="1"/>
          </p:cNvPicPr>
          <p:nvPr/>
        </p:nvPicPr>
        <p:blipFill>
          <a:blip r:embed="rId3"/>
          <a:stretch>
            <a:fillRect/>
          </a:stretch>
        </p:blipFill>
        <p:spPr>
          <a:xfrm>
            <a:off x="1935457" y="2427336"/>
            <a:ext cx="5174670" cy="2464401"/>
          </a:xfrm>
          <a:prstGeom prst="rect">
            <a:avLst/>
          </a:prstGeom>
        </p:spPr>
      </p:pic>
    </p:spTree>
    <p:extLst>
      <p:ext uri="{BB962C8B-B14F-4D97-AF65-F5344CB8AC3E}">
        <p14:creationId xmlns:p14="http://schemas.microsoft.com/office/powerpoint/2010/main" val="32592239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8049FB18-CE98-34FB-185B-2909CEC37701}"/>
              </a:ext>
            </a:extLst>
          </p:cNvPr>
          <p:cNvSpPr>
            <a:spLocks noGrp="1"/>
          </p:cNvSpPr>
          <p:nvPr>
            <p:ph type="title"/>
          </p:nvPr>
        </p:nvSpPr>
        <p:spPr/>
        <p:txBody>
          <a:bodyPr/>
          <a:lstStyle/>
          <a:p>
            <a:r>
              <a:rPr lang="en-GB"/>
              <a:t>Extra: CG is posterior mean of </a:t>
            </a:r>
            <a:r>
              <a:rPr lang="en-GB" err="1"/>
              <a:t>BayesCG</a:t>
            </a:r>
            <a:endParaRPr lang="en-US"/>
          </a:p>
        </p:txBody>
      </p:sp>
      <mc:AlternateContent xmlns:mc="http://schemas.openxmlformats.org/markup-compatibility/2006" xmlns:a14="http://schemas.microsoft.com/office/drawing/2010/main">
        <mc:Choice Requires="a14">
          <p:sp>
            <p:nvSpPr>
              <p:cNvPr id="7" name="Tijdelijke aanduiding voor inhoud 6">
                <a:extLst>
                  <a:ext uri="{FF2B5EF4-FFF2-40B4-BE49-F238E27FC236}">
                    <a16:creationId xmlns:a16="http://schemas.microsoft.com/office/drawing/2014/main" id="{AD6F87A2-04FA-DF70-0B82-DB0697A7B22F}"/>
                  </a:ext>
                </a:extLst>
              </p:cNvPr>
              <p:cNvSpPr>
                <a:spLocks noGrp="1"/>
              </p:cNvSpPr>
              <p:nvPr>
                <p:ph idx="1"/>
              </p:nvPr>
            </p:nvSpPr>
            <p:spPr/>
            <p:txBody>
              <a:bodyPr/>
              <a:lstStyle/>
              <a:p>
                <a:r>
                  <a:rPr lang="en-GB"/>
                  <a:t>If you choose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𝑥</m:t>
                        </m:r>
                      </m:e>
                      <m:sup>
                        <m:r>
                          <a:rPr lang="en-GB" i="1">
                            <a:latin typeface="Cambria Math" panose="02040503050406030204" pitchFamily="18" charset="0"/>
                          </a:rPr>
                          <m:t>(0)</m:t>
                        </m:r>
                      </m:sup>
                    </m:sSup>
                    <m:r>
                      <a:rPr lang="en-GB" i="1">
                        <a:latin typeface="Cambria Math" panose="02040503050406030204" pitchFamily="18" charset="0"/>
                      </a:rPr>
                      <m:t>=0</m:t>
                    </m:r>
                  </m:oMath>
                </a14:m>
                <a:r>
                  <a:rPr lang="en-US"/>
                  <a:t> and </a:t>
                </a:r>
                <a14:m>
                  <m:oMath xmlns:m="http://schemas.openxmlformats.org/officeDocument/2006/math">
                    <m:sSup>
                      <m:sSupPr>
                        <m:ctrlPr>
                          <a:rPr lang="en-GB">
                            <a:latin typeface="Cambria Math" panose="02040503050406030204" pitchFamily="18" charset="0"/>
                          </a:rPr>
                        </m:ctrlPr>
                      </m:sSupPr>
                      <m:e>
                        <m:r>
                          <m:rPr>
                            <m:sty m:val="p"/>
                          </m:rPr>
                          <a:rPr lang="en-GB">
                            <a:latin typeface="Cambria Math" panose="02040503050406030204" pitchFamily="18" charset="0"/>
                          </a:rPr>
                          <m:t>Σ</m:t>
                        </m:r>
                      </m:e>
                      <m:sup>
                        <m:r>
                          <a:rPr lang="en-GB" i="1">
                            <a:latin typeface="Cambria Math" panose="02040503050406030204" pitchFamily="18" charset="0"/>
                          </a:rPr>
                          <m:t>(0)</m:t>
                        </m:r>
                      </m:sup>
                    </m:sSup>
                    <m:r>
                      <a:rPr lang="en-GB" i="1">
                        <a:latin typeface="Cambria Math" panose="02040503050406030204" pitchFamily="18" charset="0"/>
                      </a:rPr>
                      <m:t>=</m:t>
                    </m:r>
                    <m:sSup>
                      <m:sSupPr>
                        <m:ctrlPr>
                          <a:rPr lang="en-GB" i="1">
                            <a:latin typeface="Cambria Math" panose="02040503050406030204" pitchFamily="18" charset="0"/>
                          </a:rPr>
                        </m:ctrlPr>
                      </m:sSupPr>
                      <m:e>
                        <m:r>
                          <a:rPr lang="en-GB" i="1">
                            <a:latin typeface="Cambria Math" panose="02040503050406030204" pitchFamily="18" charset="0"/>
                          </a:rPr>
                          <m:t>𝐴</m:t>
                        </m:r>
                      </m:e>
                      <m:sup>
                        <m:r>
                          <a:rPr lang="en-GB" i="1">
                            <a:latin typeface="Cambria Math" panose="02040503050406030204" pitchFamily="18" charset="0"/>
                          </a:rPr>
                          <m:t>−1</m:t>
                        </m:r>
                      </m:sup>
                    </m:sSup>
                  </m:oMath>
                </a14:m>
                <a:r>
                  <a:rPr lang="en-US"/>
                  <a:t>, then the posterior mean is exactly the result of CG:</a:t>
                </a:r>
                <a:endParaRPr lang="en-US" i="1">
                  <a:latin typeface="Cambria Math" panose="02040503050406030204" pitchFamily="18" charset="0"/>
                </a:endParaRPr>
              </a:p>
              <a:p>
                <a:pPr/>
                <a14:m>
                  <m:oMathPara xmlns:m="http://schemas.openxmlformats.org/officeDocument/2006/math">
                    <m:oMath>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r>
                            <a:rPr lang="en-US" i="1">
                              <a:latin typeface="Cambria Math" panose="02040503050406030204" pitchFamily="18" charset="0"/>
                            </a:rPr>
                            <m:t>𝑚</m:t>
                          </m:r>
                          <m:r>
                            <a:rPr lang="en-US" i="1">
                              <a:latin typeface="Cambria Math" panose="02040503050406030204" pitchFamily="18" charset="0"/>
                            </a:rPr>
                            <m:t>)</m:t>
                          </m:r>
                        </m:sup>
                      </m:sSup>
                      <m:r>
                        <m:rPr>
                          <m:aln/>
                        </m:rP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d>
                            <m:dPr>
                              <m:ctrlPr>
                                <a:rPr lang="en-US" i="1">
                                  <a:latin typeface="Cambria Math" panose="02040503050406030204" pitchFamily="18" charset="0"/>
                                </a:rPr>
                              </m:ctrlPr>
                            </m:dPr>
                            <m:e>
                              <m:r>
                                <a:rPr lang="en-US" i="1">
                                  <a:latin typeface="Cambria Math" panose="02040503050406030204" pitchFamily="18" charset="0"/>
                                </a:rPr>
                                <m:t>0</m:t>
                              </m:r>
                            </m:e>
                          </m:d>
                        </m:sup>
                      </m:sSup>
                      <m:r>
                        <a:rPr lang="en-US" i="1">
                          <a:latin typeface="Cambria Math" panose="02040503050406030204" pitchFamily="18" charset="0"/>
                        </a:rPr>
                        <m:t>+</m:t>
                      </m:r>
                      <m:sSup>
                        <m:sSupPr>
                          <m:ctrlPr>
                            <a:rPr lang="en-US">
                              <a:latin typeface="Cambria Math" panose="02040503050406030204" pitchFamily="18" charset="0"/>
                            </a:rPr>
                          </m:ctrlPr>
                        </m:sSupPr>
                        <m:e>
                          <m:r>
                            <m:rPr>
                              <m:sty m:val="p"/>
                            </m:rPr>
                            <a:rPr lang="en-US">
                              <a:latin typeface="Cambria Math" panose="02040503050406030204" pitchFamily="18" charset="0"/>
                            </a:rPr>
                            <m:t>Σ</m:t>
                          </m:r>
                        </m:e>
                        <m:sup>
                          <m:d>
                            <m:dPr>
                              <m:ctrlPr>
                                <a:rPr lang="en-US" i="1">
                                  <a:latin typeface="Cambria Math" panose="02040503050406030204" pitchFamily="18" charset="0"/>
                                </a:rPr>
                              </m:ctrlPr>
                            </m:dPr>
                            <m:e>
                              <m:r>
                                <a:rPr lang="en-US" i="1">
                                  <a:latin typeface="Cambria Math" panose="02040503050406030204" pitchFamily="18" charset="0"/>
                                </a:rPr>
                                <m:t>0</m:t>
                              </m:r>
                            </m:e>
                          </m:d>
                        </m:sup>
                      </m:sSup>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i="1">
                              <a:latin typeface="Cambria Math" panose="02040503050406030204" pitchFamily="18" charset="0"/>
                            </a:rPr>
                            <m:t>𝑇</m:t>
                          </m:r>
                        </m:sup>
                      </m:sSup>
                      <m:r>
                        <a:rPr lang="en-US" i="1">
                          <a:latin typeface="Cambria Math" panose="02040503050406030204" pitchFamily="18" charset="0"/>
                        </a:rPr>
                        <m:t>𝑆</m:t>
                      </m:r>
                      <m:r>
                        <a:rPr lang="en-US" i="1">
                          <a:latin typeface="Cambria Math" panose="02040503050406030204" pitchFamily="18" charset="0"/>
                        </a:rPr>
                        <m:t> </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𝑇</m:t>
                                  </m:r>
                                </m:sup>
                              </m:sSup>
                              <m:r>
                                <a:rPr lang="en-US" i="1">
                                  <a:latin typeface="Cambria Math" panose="02040503050406030204" pitchFamily="18" charset="0"/>
                                </a:rPr>
                                <m:t>𝐴</m:t>
                              </m:r>
                              <m:sSup>
                                <m:sSupPr>
                                  <m:ctrlPr>
                                    <a:rPr lang="en-US">
                                      <a:latin typeface="Cambria Math" panose="02040503050406030204" pitchFamily="18" charset="0"/>
                                    </a:rPr>
                                  </m:ctrlPr>
                                </m:sSupPr>
                                <m:e>
                                  <m:r>
                                    <m:rPr>
                                      <m:sty m:val="p"/>
                                    </m:rPr>
                                    <a:rPr lang="en-US">
                                      <a:latin typeface="Cambria Math" panose="02040503050406030204" pitchFamily="18" charset="0"/>
                                    </a:rPr>
                                    <m:t>Σ</m:t>
                                  </m:r>
                                </m:e>
                                <m:sup>
                                  <m:r>
                                    <a:rPr lang="en-US" i="1">
                                      <a:latin typeface="Cambria Math" panose="02040503050406030204" pitchFamily="18" charset="0"/>
                                    </a:rPr>
                                    <m:t>0</m:t>
                                  </m:r>
                                </m:sup>
                              </m:sSup>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i="1">
                                      <a:latin typeface="Cambria Math" panose="02040503050406030204" pitchFamily="18" charset="0"/>
                                    </a:rPr>
                                    <m:t>𝑇</m:t>
                                  </m:r>
                                </m:sup>
                              </m:sSup>
                              <m:r>
                                <a:rPr lang="en-US" i="1">
                                  <a:latin typeface="Cambria Math" panose="02040503050406030204" pitchFamily="18" charset="0"/>
                                </a:rPr>
                                <m:t>𝑆</m:t>
                              </m:r>
                            </m:e>
                          </m:d>
                        </m:e>
                        <m:sup>
                          <m:r>
                            <a:rPr lang="en-US" i="1">
                              <a:latin typeface="Cambria Math" panose="02040503050406030204" pitchFamily="18" charset="0"/>
                            </a:rPr>
                            <m:t>−1</m:t>
                          </m:r>
                        </m:sup>
                      </m:sSup>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𝑇</m:t>
                          </m:r>
                        </m:sup>
                      </m:sSup>
                      <m:d>
                        <m:dPr>
                          <m:ctrlPr>
                            <a:rPr lang="en-US" i="1">
                              <a:latin typeface="Cambria Math" panose="02040503050406030204" pitchFamily="18" charset="0"/>
                            </a:rPr>
                          </m:ctrlPr>
                        </m:dPr>
                        <m:e>
                          <m:r>
                            <a:rPr lang="en-US" i="1">
                              <a:latin typeface="Cambria Math" panose="02040503050406030204" pitchFamily="18" charset="0"/>
                            </a:rPr>
                            <m:t>𝑏</m:t>
                          </m:r>
                          <m:r>
                            <a:rPr lang="en-US" i="1">
                              <a:latin typeface="Cambria Math" panose="02040503050406030204" pitchFamily="18" charset="0"/>
                            </a:rPr>
                            <m:t>−</m:t>
                          </m:r>
                          <m:r>
                            <a:rPr lang="en-US" i="1">
                              <a:latin typeface="Cambria Math" panose="02040503050406030204" pitchFamily="18" charset="0"/>
                            </a:rPr>
                            <m:t>𝐴</m:t>
                          </m:r>
                          <m:sSup>
                            <m:sSupPr>
                              <m:ctrlPr>
                                <a:rPr lang="en-US" i="1">
                                  <a:latin typeface="Cambria Math" panose="02040503050406030204" pitchFamily="18" charset="0"/>
                                </a:rPr>
                              </m:ctrlPr>
                            </m:sSupPr>
                            <m:e>
                              <m:r>
                                <a:rPr lang="en-US" i="1">
                                  <a:latin typeface="Cambria Math" panose="02040503050406030204" pitchFamily="18" charset="0"/>
                                </a:rPr>
                                <m:t>𝑥</m:t>
                              </m:r>
                            </m:e>
                            <m:sup>
                              <m:d>
                                <m:dPr>
                                  <m:ctrlPr>
                                    <a:rPr lang="en-US" i="1">
                                      <a:latin typeface="Cambria Math" panose="02040503050406030204" pitchFamily="18" charset="0"/>
                                    </a:rPr>
                                  </m:ctrlPr>
                                </m:dPr>
                                <m:e>
                                  <m:r>
                                    <a:rPr lang="en-US" i="1">
                                      <a:latin typeface="Cambria Math" panose="02040503050406030204" pitchFamily="18" charset="0"/>
                                    </a:rPr>
                                    <m:t>0</m:t>
                                  </m:r>
                                </m:e>
                              </m:d>
                            </m:sup>
                          </m:sSup>
                        </m:e>
                      </m:d>
                    </m:oMath>
                    <m:oMath>
                      <m:r>
                        <m:rPr>
                          <m:aln/>
                        </m:rPr>
                        <a:rPr lang="en-US" i="1">
                          <a:latin typeface="Cambria Math" panose="02040503050406030204" pitchFamily="18" charset="0"/>
                        </a:rPr>
                        <m:t>=</m:t>
                      </m:r>
                      <m:r>
                        <a:rPr lang="en-US" i="1">
                          <a:latin typeface="Cambria Math" panose="02040503050406030204" pitchFamily="18" charset="0"/>
                        </a:rPr>
                        <m:t>0+</m:t>
                      </m:r>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i="1">
                              <a:latin typeface="Cambria Math" panose="02040503050406030204" pitchFamily="18" charset="0"/>
                            </a:rPr>
                            <m:t>−1</m:t>
                          </m:r>
                        </m:sup>
                      </m:sSup>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i="1">
                              <a:latin typeface="Cambria Math" panose="02040503050406030204" pitchFamily="18" charset="0"/>
                            </a:rPr>
                            <m:t>𝑇</m:t>
                          </m:r>
                        </m:sup>
                      </m:sSup>
                      <m:r>
                        <a:rPr lang="en-US" i="1">
                          <a:latin typeface="Cambria Math" panose="02040503050406030204" pitchFamily="18" charset="0"/>
                        </a:rPr>
                        <m:t>𝑆</m:t>
                      </m:r>
                      <m:r>
                        <a:rPr lang="en-US" i="1">
                          <a:latin typeface="Cambria Math" panose="02040503050406030204" pitchFamily="18" charset="0"/>
                        </a:rPr>
                        <m:t> </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𝑇</m:t>
                                  </m:r>
                                </m:sup>
                              </m:sSup>
                              <m:r>
                                <a:rPr lang="en-US" i="1">
                                  <a:latin typeface="Cambria Math" panose="02040503050406030204" pitchFamily="18" charset="0"/>
                                </a:rPr>
                                <m:t>𝐴</m:t>
                              </m:r>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i="1">
                                      <a:latin typeface="Cambria Math" panose="02040503050406030204" pitchFamily="18" charset="0"/>
                                    </a:rPr>
                                    <m:t>−1</m:t>
                                  </m:r>
                                </m:sup>
                              </m:sSup>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i="1">
                                      <a:latin typeface="Cambria Math" panose="02040503050406030204" pitchFamily="18" charset="0"/>
                                    </a:rPr>
                                    <m:t>𝑇</m:t>
                                  </m:r>
                                </m:sup>
                              </m:sSup>
                              <m:r>
                                <a:rPr lang="en-US" i="1">
                                  <a:latin typeface="Cambria Math" panose="02040503050406030204" pitchFamily="18" charset="0"/>
                                </a:rPr>
                                <m:t>𝑆</m:t>
                              </m:r>
                            </m:e>
                          </m:d>
                        </m:e>
                        <m:sup>
                          <m:r>
                            <a:rPr lang="en-US" i="1">
                              <a:latin typeface="Cambria Math" panose="02040503050406030204" pitchFamily="18" charset="0"/>
                            </a:rPr>
                            <m:t>−1</m:t>
                          </m:r>
                        </m:sup>
                      </m:sSup>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𝑇</m:t>
                          </m:r>
                        </m:sup>
                      </m:sSup>
                      <m:d>
                        <m:dPr>
                          <m:ctrlPr>
                            <a:rPr lang="en-US" i="1">
                              <a:latin typeface="Cambria Math" panose="02040503050406030204" pitchFamily="18" charset="0"/>
                            </a:rPr>
                          </m:ctrlPr>
                        </m:dPr>
                        <m:e>
                          <m:r>
                            <a:rPr lang="en-US" i="1">
                              <a:latin typeface="Cambria Math" panose="02040503050406030204" pitchFamily="18" charset="0"/>
                            </a:rPr>
                            <m:t>𝑏</m:t>
                          </m:r>
                          <m:r>
                            <a:rPr lang="en-US" i="1">
                              <a:latin typeface="Cambria Math" panose="02040503050406030204" pitchFamily="18" charset="0"/>
                            </a:rPr>
                            <m:t>−</m:t>
                          </m:r>
                          <m:r>
                            <a:rPr lang="en-US" i="1">
                              <a:latin typeface="Cambria Math" panose="02040503050406030204" pitchFamily="18" charset="0"/>
                            </a:rPr>
                            <m:t>𝐴</m:t>
                          </m:r>
                          <m:r>
                            <a:rPr lang="en-US" i="1">
                              <a:latin typeface="Cambria Math" panose="02040503050406030204" pitchFamily="18" charset="0"/>
                            </a:rPr>
                            <m:t>0</m:t>
                          </m:r>
                        </m:e>
                      </m:d>
                    </m:oMath>
                    <m:oMath>
                      <m:r>
                        <m:rPr>
                          <m:aln/>
                        </m:rPr>
                        <a:rPr lang="en-US" i="1">
                          <a:latin typeface="Cambria Math" panose="02040503050406030204" pitchFamily="18" charset="0"/>
                        </a:rPr>
                        <m:t>=</m:t>
                      </m:r>
                      <m:r>
                        <a:rPr lang="en-US" i="1">
                          <a:latin typeface="Cambria Math" panose="02040503050406030204" pitchFamily="18" charset="0"/>
                        </a:rPr>
                        <m:t>𝑆</m:t>
                      </m:r>
                      <m:r>
                        <a:rPr lang="en-US" i="1">
                          <a:latin typeface="Cambria Math" panose="02040503050406030204" pitchFamily="18" charset="0"/>
                        </a:rPr>
                        <m:t> </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𝑇</m:t>
                                  </m:r>
                                </m:sup>
                              </m:sSup>
                              <m:sSup>
                                <m:sSupPr>
                                  <m:ctrlPr>
                                    <a:rPr lang="en-US" i="1">
                                      <a:latin typeface="Cambria Math" panose="02040503050406030204" pitchFamily="18" charset="0"/>
                                    </a:rPr>
                                  </m:ctrlPr>
                                </m:sSupPr>
                                <m:e>
                                  <m:r>
                                    <a:rPr lang="en-US" i="1">
                                      <a:latin typeface="Cambria Math" panose="02040503050406030204" pitchFamily="18" charset="0"/>
                                    </a:rPr>
                                    <m:t>𝐴</m:t>
                                  </m:r>
                                </m:e>
                                <m:sup>
                                  <m:r>
                                    <a:rPr lang="en-US" i="1">
                                      <a:latin typeface="Cambria Math" panose="02040503050406030204" pitchFamily="18" charset="0"/>
                                    </a:rPr>
                                    <m:t>𝑇</m:t>
                                  </m:r>
                                </m:sup>
                              </m:sSup>
                              <m:r>
                                <a:rPr lang="en-US" i="1">
                                  <a:latin typeface="Cambria Math" panose="02040503050406030204" pitchFamily="18" charset="0"/>
                                </a:rPr>
                                <m:t>𝑆</m:t>
                              </m:r>
                            </m:e>
                          </m:d>
                        </m:e>
                        <m:sup>
                          <m:r>
                            <a:rPr lang="en-US" i="1">
                              <a:latin typeface="Cambria Math" panose="02040503050406030204" pitchFamily="18" charset="0"/>
                            </a:rPr>
                            <m:t>−1</m:t>
                          </m:r>
                        </m:sup>
                      </m:sSup>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𝑇</m:t>
                          </m:r>
                        </m:sup>
                      </m:sSup>
                      <m:r>
                        <a:rPr lang="en-US" i="1">
                          <a:latin typeface="Cambria Math" panose="02040503050406030204" pitchFamily="18" charset="0"/>
                        </a:rPr>
                        <m:t>𝑏</m:t>
                      </m:r>
                    </m:oMath>
                  </m:oMathPara>
                </a14:m>
                <a:endParaRPr lang="en-US"/>
              </a:p>
              <a:p>
                <a:endParaRPr lang="en-US"/>
              </a:p>
            </p:txBody>
          </p:sp>
        </mc:Choice>
        <mc:Fallback xmlns="">
          <p:sp>
            <p:nvSpPr>
              <p:cNvPr id="7" name="Tijdelijke aanduiding voor inhoud 6">
                <a:extLst>
                  <a:ext uri="{FF2B5EF4-FFF2-40B4-BE49-F238E27FC236}">
                    <a16:creationId xmlns:a16="http://schemas.microsoft.com/office/drawing/2014/main" id="{AD6F87A2-04FA-DF70-0B82-DB0697A7B22F}"/>
                  </a:ext>
                </a:extLst>
              </p:cNvPr>
              <p:cNvSpPr>
                <a:spLocks noGrp="1" noRot="1" noChangeAspect="1" noMove="1" noResize="1" noEditPoints="1" noAdjustHandles="1" noChangeArrowheads="1" noChangeShapeType="1" noTextEdit="1"/>
              </p:cNvSpPr>
              <p:nvPr>
                <p:ph idx="1"/>
              </p:nvPr>
            </p:nvSpPr>
            <p:spPr>
              <a:blipFill>
                <a:blip r:embed="rId2"/>
                <a:stretch>
                  <a:fillRect l="-1538" t="-1657"/>
                </a:stretch>
              </a:blipFill>
            </p:spPr>
            <p:txBody>
              <a:bodyPr/>
              <a:lstStyle/>
              <a:p>
                <a:r>
                  <a:rPr lang="en-US">
                    <a:noFill/>
                  </a:rPr>
                  <a:t> </a:t>
                </a:r>
              </a:p>
            </p:txBody>
          </p:sp>
        </mc:Fallback>
      </mc:AlternateContent>
      <p:sp>
        <p:nvSpPr>
          <p:cNvPr id="4" name="Tijdelijke aanduiding voor voettekst 3">
            <a:extLst>
              <a:ext uri="{FF2B5EF4-FFF2-40B4-BE49-F238E27FC236}">
                <a16:creationId xmlns:a16="http://schemas.microsoft.com/office/drawing/2014/main" id="{3ABB2275-75C0-F68E-040B-CF3845CF7047}"/>
              </a:ext>
            </a:extLst>
          </p:cNvPr>
          <p:cNvSpPr>
            <a:spLocks noGrp="1"/>
          </p:cNvSpPr>
          <p:nvPr>
            <p:ph type="ftr" sz="quarter" idx="11"/>
          </p:nvPr>
        </p:nvSpPr>
        <p:spPr/>
        <p:txBody>
          <a:bodyPr/>
          <a:lstStyle/>
          <a:p>
            <a:r>
              <a:rPr lang="en-US"/>
              <a:t>Title of the presentation – by tab Insert -&gt; Header text and Footer text</a:t>
            </a:r>
            <a:endParaRPr lang="en-US">
              <a:solidFill>
                <a:schemeClr val="tx1"/>
              </a:solidFill>
            </a:endParaRPr>
          </a:p>
        </p:txBody>
      </p:sp>
      <p:sp>
        <p:nvSpPr>
          <p:cNvPr id="5" name="Tijdelijke aanduiding voor dianummer 4">
            <a:extLst>
              <a:ext uri="{FF2B5EF4-FFF2-40B4-BE49-F238E27FC236}">
                <a16:creationId xmlns:a16="http://schemas.microsoft.com/office/drawing/2014/main" id="{64F94421-2C24-8026-09A1-59ACA3DFFCD3}"/>
              </a:ext>
            </a:extLst>
          </p:cNvPr>
          <p:cNvSpPr>
            <a:spLocks noGrp="1"/>
          </p:cNvSpPr>
          <p:nvPr>
            <p:ph type="sldNum" sz="quarter" idx="12"/>
          </p:nvPr>
        </p:nvSpPr>
        <p:spPr/>
        <p:txBody>
          <a:bodyPr/>
          <a:lstStyle/>
          <a:p>
            <a:fld id="{B7CEC10D-CD46-426F-915E-6C78530279CB}" type="slidenum">
              <a:rPr lang="en-US" smtClean="0"/>
              <a:pPr/>
              <a:t>58</a:t>
            </a:fld>
            <a:endParaRPr lang="en-US"/>
          </a:p>
        </p:txBody>
      </p:sp>
    </p:spTree>
    <p:extLst>
      <p:ext uri="{BB962C8B-B14F-4D97-AF65-F5344CB8AC3E}">
        <p14:creationId xmlns:p14="http://schemas.microsoft.com/office/powerpoint/2010/main" val="23882526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TUe">
  <a:themeElements>
    <a:clrScheme name="TUe_kleuren">
      <a:dk1>
        <a:sysClr val="windowText" lastClr="000000"/>
      </a:dk1>
      <a:lt1>
        <a:sysClr val="window" lastClr="FFFFFF"/>
      </a:lt1>
      <a:dk2>
        <a:srgbClr val="C81919"/>
      </a:dk2>
      <a:lt2>
        <a:srgbClr val="101073"/>
      </a:lt2>
      <a:accent1>
        <a:srgbClr val="C81919"/>
      </a:accent1>
      <a:accent2>
        <a:srgbClr val="101073"/>
      </a:accent2>
      <a:accent3>
        <a:srgbClr val="0066CC"/>
      </a:accent3>
      <a:accent4>
        <a:srgbClr val="00A2DE"/>
      </a:accent4>
      <a:accent5>
        <a:srgbClr val="84D200"/>
      </a:accent5>
      <a:accent6>
        <a:srgbClr val="CEDF00"/>
      </a:accent6>
      <a:hlink>
        <a:srgbClr val="0563C1"/>
      </a:hlink>
      <a:folHlink>
        <a:srgbClr val="954F72"/>
      </a:folHlink>
    </a:clrScheme>
    <a:fontScheme name="TUe_Calibri">
      <a:majorFont>
        <a:latin typeface="Calibri"/>
        <a:ea typeface=""/>
        <a:cs typeface=""/>
      </a:majorFont>
      <a:minorFont>
        <a:latin typeface="Calibri"/>
        <a:ea typeface=""/>
        <a:cs typeface=""/>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Ue_presentatie16x9.potx" id="{1B6475F5-D373-4660-89EB-4F03E47D006D}" vid="{2086CB6F-6B0A-48B6-8FD8-51377F4AECBD}"/>
    </a:ext>
  </a:extLst>
</a:theme>
</file>

<file path=ppt/theme/theme2.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TUe_presentatie16x9</Template>
  <TotalTime>26</TotalTime>
  <Words>11296</Words>
  <Application>Microsoft Office PowerPoint</Application>
  <PresentationFormat>On-screen Show (16:9)</PresentationFormat>
  <Paragraphs>888</Paragraphs>
  <Slides>58</Slides>
  <Notes>50</Notes>
  <HiddenSlides>1</HiddenSlides>
  <MMClips>6</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58</vt:i4>
      </vt:variant>
    </vt:vector>
  </HeadingPairs>
  <TitlesOfParts>
    <vt:vector size="62" baseType="lpstr">
      <vt:lpstr>Arial</vt:lpstr>
      <vt:lpstr>Calibri</vt:lpstr>
      <vt:lpstr>Cambria Math</vt:lpstr>
      <vt:lpstr>TUe</vt:lpstr>
      <vt:lpstr>Probabilistic numerics at scale by distributed inference</vt:lpstr>
      <vt:lpstr>https://github.com/biaslab/ProbNum2026-Tutorial</vt:lpstr>
      <vt:lpstr>Outline</vt:lpstr>
      <vt:lpstr>1. Problem specification</vt:lpstr>
      <vt:lpstr>Keeping chips cool</vt:lpstr>
      <vt:lpstr>Heat transfer on a silicon die</vt:lpstr>
      <vt:lpstr>System of linear equations</vt:lpstr>
      <vt:lpstr>2. Classical numerical approaches</vt:lpstr>
      <vt:lpstr>Jacobi method</vt:lpstr>
      <vt:lpstr>Jacobi method</vt:lpstr>
      <vt:lpstr>Gauss-Seidel method</vt:lpstr>
      <vt:lpstr>Conjugate gradient method</vt:lpstr>
      <vt:lpstr>Conjugate gradient method</vt:lpstr>
      <vt:lpstr>Experiment</vt:lpstr>
      <vt:lpstr>3. Probabilistic numerical approach</vt:lpstr>
      <vt:lpstr>BayesCG</vt:lpstr>
      <vt:lpstr>BayesCG</vt:lpstr>
      <vt:lpstr>4. Message passing approach to Ax=b</vt:lpstr>
      <vt:lpstr>4. Message passing approach to Ax=b</vt:lpstr>
      <vt:lpstr>Message-passing approach: Setup </vt:lpstr>
      <vt:lpstr>Message-passing approach: Setup </vt:lpstr>
      <vt:lpstr>Message-passing approach: Setup </vt:lpstr>
      <vt:lpstr>Message-passing approach: Setup </vt:lpstr>
      <vt:lpstr>4. Message passing approach to Ax=b</vt:lpstr>
      <vt:lpstr>Message-passing approach: Forney-style Factor-graphs</vt:lpstr>
      <vt:lpstr>Message-passing approach: Forney-style Factor-graphs</vt:lpstr>
      <vt:lpstr>Message-passing approach: Forney-style Factor-graphs</vt:lpstr>
      <vt:lpstr>Message-passing approach: Forney-style Factor-graphs</vt:lpstr>
      <vt:lpstr>Message-passing approach: Forney-style Factor-graphs</vt:lpstr>
      <vt:lpstr>Message-passing approach: Forney-style Factor-graphs</vt:lpstr>
      <vt:lpstr>4. Message passing approach to Ax=b</vt:lpstr>
      <vt:lpstr>Message-passing approach: Belief-propagation </vt:lpstr>
      <vt:lpstr>Message-passing approach: Belief-propagation </vt:lpstr>
      <vt:lpstr>Message-passing approach: Belief-propagation </vt:lpstr>
      <vt:lpstr>Message-passing approach: Belief-propagation </vt:lpstr>
      <vt:lpstr>4. Message passing approach to Ax=b</vt:lpstr>
      <vt:lpstr>Message-passing approach: Solving Ax=b </vt:lpstr>
      <vt:lpstr>Message-passing approach: Solving Ax=b </vt:lpstr>
      <vt:lpstr>5. Stacking modular components</vt:lpstr>
      <vt:lpstr>5. Stacking modular components</vt:lpstr>
      <vt:lpstr>GaBP is a generalization of Jacobi </vt:lpstr>
      <vt:lpstr>GaBP iterations</vt:lpstr>
      <vt:lpstr>You can play with schedules!</vt:lpstr>
      <vt:lpstr>Is our generalization useful?</vt:lpstr>
      <vt:lpstr>GaBP is distributed algorithm</vt:lpstr>
      <vt:lpstr>CG needs global synchronization steps</vt:lpstr>
      <vt:lpstr>What algorithm wins and for what topology</vt:lpstr>
      <vt:lpstr>5. Stacking modular components</vt:lpstr>
      <vt:lpstr>Adding some Fans</vt:lpstr>
      <vt:lpstr>Translating from the FFG into Code</vt:lpstr>
      <vt:lpstr>A linear state space model is a probabilistic block</vt:lpstr>
      <vt:lpstr>A linear state space in code</vt:lpstr>
      <vt:lpstr>Compositional payoff</vt:lpstr>
      <vt:lpstr>Let's do some Infer!</vt:lpstr>
      <vt:lpstr>PowerPoint Presentation</vt:lpstr>
      <vt:lpstr>Extra: convergence of Jacobi iteration</vt:lpstr>
      <vt:lpstr>Extra: error rates</vt:lpstr>
      <vt:lpstr>Extra: CG is posterior mean of BayesCG</vt:lpstr>
    </vt:vector>
  </TitlesOfParts>
  <Company>TU/e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Klinkhamer - Nooijens, C.C.</dc:creator>
  <cp:lastModifiedBy>Ledbetter, Alex</cp:lastModifiedBy>
  <cp:revision>1</cp:revision>
  <dcterms:created xsi:type="dcterms:W3CDTF">2018-11-21T12:48:52Z</dcterms:created>
  <dcterms:modified xsi:type="dcterms:W3CDTF">2026-09-10T05:41:21Z</dcterms:modified>
</cp:coreProperties>
</file>